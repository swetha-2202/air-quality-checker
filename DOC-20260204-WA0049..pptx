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viewProps" Target="viewProp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presProps" Target="presProps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tableStyles" Target="tableStyles.xml" /><Relationship Id="rId10" Type="http://schemas.openxmlformats.org/officeDocument/2006/relationships/slide" Target="slides/slide9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jpg" /><Relationship Id="rId1" Type="http://schemas.openxmlformats.org/officeDocument/2006/relationships/slideMaster" Target="../slideMasters/slideMaster1.xml" /><Relationship Id="rId5" Type="http://schemas.openxmlformats.org/officeDocument/2006/relationships/image" Target="../media/image4.jpg" /><Relationship Id="rId4" Type="http://schemas.openxmlformats.org/officeDocument/2006/relationships/image" Target="../media/image3.jpg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 /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image" Target="../media/image6.jpg" /><Relationship Id="rId1" Type="http://schemas.openxmlformats.org/officeDocument/2006/relationships/slideMaster" Target="../slideMasters/slideMaster1.xml" /><Relationship Id="rId4" Type="http://schemas.openxmlformats.org/officeDocument/2006/relationships/image" Target="../media/image8.png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9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9" y="0"/>
                </a:lnTo>
                <a:lnTo>
                  <a:pt x="18287999" y="102869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7900" y="499500"/>
            <a:ext cx="16991848" cy="9168124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58650" y="647450"/>
            <a:ext cx="7151149" cy="1965847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87674" y="5091149"/>
            <a:ext cx="4785125" cy="4294924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158200" y="5008424"/>
            <a:ext cx="4915049" cy="447958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7475" y="2900919"/>
            <a:ext cx="11969750" cy="10007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650" b="0" i="0">
                <a:solidFill>
                  <a:srgbClr val="FF313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650" b="0" i="0">
                <a:solidFill>
                  <a:srgbClr val="FF313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1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650" b="0" i="0">
                <a:solidFill>
                  <a:srgbClr val="FF313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337071" y="2241468"/>
            <a:ext cx="7362825" cy="69945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219374" y="2418625"/>
            <a:ext cx="7364730" cy="67602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2/4/2026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9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9" y="0"/>
                </a:lnTo>
                <a:lnTo>
                  <a:pt x="18287999" y="10286999"/>
                </a:lnTo>
                <a:close/>
              </a:path>
            </a:pathLst>
          </a:custGeom>
          <a:solidFill>
            <a:srgbClr val="1C090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3380540" y="1416046"/>
            <a:ext cx="11527155" cy="0"/>
          </a:xfrm>
          <a:custGeom>
            <a:avLst/>
            <a:gdLst/>
            <a:ahLst/>
            <a:cxnLst/>
            <a:rect l="l" t="t" r="r" b="b"/>
            <a:pathLst>
              <a:path w="11527154">
                <a:moveTo>
                  <a:pt x="0" y="0"/>
                </a:moveTo>
                <a:lnTo>
                  <a:pt x="11526916" y="0"/>
                </a:lnTo>
              </a:path>
            </a:pathLst>
          </a:custGeom>
          <a:ln w="3809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bg 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416750"/>
            <a:ext cx="18287999" cy="887025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650" b="0" i="0">
                <a:solidFill>
                  <a:srgbClr val="FF313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2/4/2026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92829" y="0"/>
            <a:ext cx="12502340" cy="4669467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988193" y="2366642"/>
            <a:ext cx="3740682" cy="2776857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4924198" y="5759523"/>
            <a:ext cx="4914265" cy="67945"/>
          </a:xfrm>
          <a:custGeom>
            <a:avLst/>
            <a:gdLst/>
            <a:ahLst/>
            <a:cxnLst/>
            <a:rect l="l" t="t" r="r" b="b"/>
            <a:pathLst>
              <a:path w="4914265" h="67945">
                <a:moveTo>
                  <a:pt x="4914070" y="67471"/>
                </a:moveTo>
                <a:lnTo>
                  <a:pt x="0" y="67471"/>
                </a:lnTo>
                <a:lnTo>
                  <a:pt x="0" y="0"/>
                </a:lnTo>
                <a:lnTo>
                  <a:pt x="4914070" y="0"/>
                </a:lnTo>
                <a:lnTo>
                  <a:pt x="4914070" y="67471"/>
                </a:lnTo>
                <a:close/>
              </a:path>
            </a:pathLst>
          </a:custGeom>
          <a:solidFill>
            <a:srgbClr val="3BC7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1517250" y="7403223"/>
            <a:ext cx="8211820" cy="67945"/>
          </a:xfrm>
          <a:custGeom>
            <a:avLst/>
            <a:gdLst/>
            <a:ahLst/>
            <a:cxnLst/>
            <a:rect l="l" t="t" r="r" b="b"/>
            <a:pathLst>
              <a:path w="8211820" h="67945">
                <a:moveTo>
                  <a:pt x="8211705" y="67471"/>
                </a:moveTo>
                <a:lnTo>
                  <a:pt x="0" y="67471"/>
                </a:lnTo>
                <a:lnTo>
                  <a:pt x="0" y="0"/>
                </a:lnTo>
                <a:lnTo>
                  <a:pt x="8211705" y="0"/>
                </a:lnTo>
                <a:lnTo>
                  <a:pt x="8211705" y="67471"/>
                </a:lnTo>
                <a:close/>
              </a:path>
            </a:pathLst>
          </a:custGeom>
          <a:solidFill>
            <a:srgbClr val="1BC8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2/4/2026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theme" Target="../theme/theme1.xml" /><Relationship Id="rId5" Type="http://schemas.openxmlformats.org/officeDocument/2006/relationships/slideLayout" Target="../slideLayouts/slideLayout5.xml" /><Relationship Id="rId4" Type="http://schemas.openxmlformats.org/officeDocument/2006/relationships/slideLayout" Target="../slideLayouts/slideLayout4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9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9" y="0"/>
                </a:lnTo>
                <a:lnTo>
                  <a:pt x="18287999" y="10286999"/>
                </a:lnTo>
                <a:close/>
              </a:path>
            </a:pathLst>
          </a:custGeom>
          <a:solidFill>
            <a:srgbClr val="1C090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540075" y="5360"/>
            <a:ext cx="11054898" cy="1772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650" b="0" i="0">
                <a:solidFill>
                  <a:srgbClr val="FF313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994120" y="2493779"/>
            <a:ext cx="12702540" cy="61671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 /><Relationship Id="rId2" Type="http://schemas.openxmlformats.org/officeDocument/2006/relationships/image" Target="../media/image9.png" /><Relationship Id="rId1" Type="http://schemas.openxmlformats.org/officeDocument/2006/relationships/slideLayout" Target="../slideLayouts/slideLayout5.xml" /><Relationship Id="rId4" Type="http://schemas.openxmlformats.org/officeDocument/2006/relationships/image" Target="../media/image11.png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 /><Relationship Id="rId2" Type="http://schemas.openxmlformats.org/officeDocument/2006/relationships/image" Target="../media/image12.jpg" /><Relationship Id="rId1" Type="http://schemas.openxmlformats.org/officeDocument/2006/relationships/slideLayout" Target="../slideLayouts/slideLayout3.xml" /><Relationship Id="rId4" Type="http://schemas.openxmlformats.org/officeDocument/2006/relationships/image" Target="../media/image14.png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 /><Relationship Id="rId7" Type="http://schemas.openxmlformats.org/officeDocument/2006/relationships/image" Target="../media/image20.png" /><Relationship Id="rId2" Type="http://schemas.openxmlformats.org/officeDocument/2006/relationships/image" Target="../media/image15.jpg" /><Relationship Id="rId1" Type="http://schemas.openxmlformats.org/officeDocument/2006/relationships/slideLayout" Target="../slideLayouts/slideLayout3.xml" /><Relationship Id="rId6" Type="http://schemas.openxmlformats.org/officeDocument/2006/relationships/image" Target="../media/image19.png" /><Relationship Id="rId5" Type="http://schemas.openxmlformats.org/officeDocument/2006/relationships/image" Target="../media/image18.png" /><Relationship Id="rId4" Type="http://schemas.openxmlformats.org/officeDocument/2006/relationships/image" Target="../media/image17.jpg" 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 /><Relationship Id="rId3" Type="http://schemas.openxmlformats.org/officeDocument/2006/relationships/image" Target="../media/image22.png" /><Relationship Id="rId7" Type="http://schemas.openxmlformats.org/officeDocument/2006/relationships/image" Target="../media/image26.png" /><Relationship Id="rId2" Type="http://schemas.openxmlformats.org/officeDocument/2006/relationships/image" Target="../media/image21.jpg" /><Relationship Id="rId1" Type="http://schemas.openxmlformats.org/officeDocument/2006/relationships/slideLayout" Target="../slideLayouts/slideLayout3.xml" /><Relationship Id="rId6" Type="http://schemas.openxmlformats.org/officeDocument/2006/relationships/image" Target="../media/image25.png" /><Relationship Id="rId5" Type="http://schemas.openxmlformats.org/officeDocument/2006/relationships/image" Target="../media/image24.png" /><Relationship Id="rId10" Type="http://schemas.openxmlformats.org/officeDocument/2006/relationships/image" Target="../media/image29.png" /><Relationship Id="rId4" Type="http://schemas.openxmlformats.org/officeDocument/2006/relationships/image" Target="../media/image23.jpg" /><Relationship Id="rId9" Type="http://schemas.openxmlformats.org/officeDocument/2006/relationships/image" Target="../media/image28.png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 /><Relationship Id="rId2" Type="http://schemas.openxmlformats.org/officeDocument/2006/relationships/image" Target="../media/image30.png" /><Relationship Id="rId1" Type="http://schemas.openxmlformats.org/officeDocument/2006/relationships/slideLayout" Target="../slideLayouts/slideLayout3.xml" /><Relationship Id="rId5" Type="http://schemas.openxmlformats.org/officeDocument/2006/relationships/image" Target="../media/image33.jpg" /><Relationship Id="rId4" Type="http://schemas.openxmlformats.org/officeDocument/2006/relationships/image" Target="../media/image32.jpg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 /><Relationship Id="rId2" Type="http://schemas.openxmlformats.org/officeDocument/2006/relationships/image" Target="../media/image34.png" /><Relationship Id="rId1" Type="http://schemas.openxmlformats.org/officeDocument/2006/relationships/slideLayout" Target="../slideLayouts/slideLayout2.xml" /><Relationship Id="rId5" Type="http://schemas.openxmlformats.org/officeDocument/2006/relationships/image" Target="../media/image37.jpg" /><Relationship Id="rId4" Type="http://schemas.openxmlformats.org/officeDocument/2006/relationships/image" Target="../media/image36.jpg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 /><Relationship Id="rId7" Type="http://schemas.openxmlformats.org/officeDocument/2006/relationships/image" Target="../media/image42.png" /><Relationship Id="rId2" Type="http://schemas.openxmlformats.org/officeDocument/2006/relationships/image" Target="../media/image38.png" /><Relationship Id="rId1" Type="http://schemas.openxmlformats.org/officeDocument/2006/relationships/slideLayout" Target="../slideLayouts/slideLayout2.xml" /><Relationship Id="rId6" Type="http://schemas.openxmlformats.org/officeDocument/2006/relationships/image" Target="../media/image31.png" /><Relationship Id="rId5" Type="http://schemas.openxmlformats.org/officeDocument/2006/relationships/image" Target="../media/image41.png" /><Relationship Id="rId4" Type="http://schemas.openxmlformats.org/officeDocument/2006/relationships/image" Target="../media/image40.png" 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g" /><Relationship Id="rId2" Type="http://schemas.openxmlformats.org/officeDocument/2006/relationships/hyperlink" Target="https://www.google.com/url?q=https%3A//docs.google.com/file/d/1-MpD7JH9TgnnW_330f-CZRW1Oq6o2AFP/preview&amp;sa=D&amp;source=editors&amp;ust=1770225529052607&amp;usg=AOvVaw1ZAsXINES5R7Pybbp50Q_O" TargetMode="External" /><Relationship Id="rId1" Type="http://schemas.openxmlformats.org/officeDocument/2006/relationships/slideLayout" Target="../slideLayouts/slideLayout1.xml" 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hyperlink" Target="mailto:(senthilruban06@gmail.com" TargetMode="External" /><Relationship Id="rId3" Type="http://schemas.openxmlformats.org/officeDocument/2006/relationships/hyperlink" Target="mailto:saaivishrudh.9626@gmail.com" TargetMode="External" /><Relationship Id="rId7" Type="http://schemas.openxmlformats.org/officeDocument/2006/relationships/hyperlink" Target="mailto:(rupikarupika86@gmail.com" TargetMode="External" /><Relationship Id="rId2" Type="http://schemas.openxmlformats.org/officeDocument/2006/relationships/image" Target="../media/image44.jpg" /><Relationship Id="rId1" Type="http://schemas.openxmlformats.org/officeDocument/2006/relationships/slideLayout" Target="../slideLayouts/slideLayout2.xml" /><Relationship Id="rId6" Type="http://schemas.openxmlformats.org/officeDocument/2006/relationships/hyperlink" Target="mailto:(swetha070222@gmail.com" TargetMode="External" /><Relationship Id="rId5" Type="http://schemas.openxmlformats.org/officeDocument/2006/relationships/hyperlink" Target="mailto:(poojamm0613@gmail.com" TargetMode="External" /><Relationship Id="rId4" Type="http://schemas.openxmlformats.org/officeDocument/2006/relationships/hyperlink" Target="mailto:(sujitvinurr@gmail.com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04550" y="4948413"/>
            <a:ext cx="12956540" cy="38284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41959" algn="ctr">
              <a:lnSpc>
                <a:spcPct val="100000"/>
              </a:lnSpc>
              <a:spcBef>
                <a:spcPts val="100"/>
              </a:spcBef>
              <a:tabLst>
                <a:tab pos="5542915" algn="l"/>
              </a:tabLst>
            </a:pPr>
            <a:r>
              <a:rPr sz="5900" dirty="0">
                <a:solidFill>
                  <a:srgbClr val="3BC7E7"/>
                </a:solidFill>
                <a:latin typeface="Times New Roman"/>
                <a:cs typeface="Times New Roman"/>
              </a:rPr>
              <a:t>TEAM</a:t>
            </a:r>
            <a:r>
              <a:rPr sz="5900" spc="-20" dirty="0">
                <a:solidFill>
                  <a:srgbClr val="3BC7E7"/>
                </a:solidFill>
                <a:latin typeface="Times New Roman"/>
                <a:cs typeface="Times New Roman"/>
              </a:rPr>
              <a:t> NAME:</a:t>
            </a:r>
            <a:r>
              <a:rPr sz="5900" dirty="0">
                <a:solidFill>
                  <a:srgbClr val="3BC7E7"/>
                </a:solidFill>
                <a:latin typeface="Times New Roman"/>
                <a:cs typeface="Times New Roman"/>
              </a:rPr>
              <a:t>	</a:t>
            </a:r>
            <a:r>
              <a:rPr sz="59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6DX</a:t>
            </a:r>
            <a:endParaRPr sz="5900">
              <a:latin typeface="Times New Roman"/>
              <a:cs typeface="Times New Roman"/>
            </a:endParaRPr>
          </a:p>
          <a:p>
            <a:pPr marL="12065" marR="5080" indent="-117475" algn="ctr">
              <a:lnSpc>
                <a:spcPct val="140100"/>
              </a:lnSpc>
              <a:spcBef>
                <a:spcPts val="3025"/>
              </a:spcBef>
              <a:tabLst>
                <a:tab pos="8481695" algn="l"/>
              </a:tabLst>
            </a:pPr>
            <a:r>
              <a:rPr sz="5900" dirty="0">
                <a:solidFill>
                  <a:srgbClr val="1BC8E7"/>
                </a:solidFill>
                <a:latin typeface="Times New Roman"/>
                <a:cs typeface="Times New Roman"/>
              </a:rPr>
              <a:t>PROBLEM</a:t>
            </a:r>
            <a:r>
              <a:rPr sz="5900" spc="-35" dirty="0">
                <a:solidFill>
                  <a:srgbClr val="1BC8E7"/>
                </a:solidFill>
                <a:latin typeface="Times New Roman"/>
                <a:cs typeface="Times New Roman"/>
              </a:rPr>
              <a:t> </a:t>
            </a:r>
            <a:r>
              <a:rPr sz="5900" spc="125" dirty="0">
                <a:solidFill>
                  <a:srgbClr val="1BC8E7"/>
                </a:solidFill>
                <a:latin typeface="Times New Roman"/>
                <a:cs typeface="Times New Roman"/>
              </a:rPr>
              <a:t>S</a:t>
            </a:r>
            <a:r>
              <a:rPr sz="5900" spc="-345" dirty="0">
                <a:solidFill>
                  <a:srgbClr val="1BC8E7"/>
                </a:solidFill>
                <a:latin typeface="Times New Roman"/>
                <a:cs typeface="Times New Roman"/>
              </a:rPr>
              <a:t>T</a:t>
            </a:r>
            <a:r>
              <a:rPr sz="5900" spc="-520" dirty="0">
                <a:solidFill>
                  <a:srgbClr val="1BC8E7"/>
                </a:solidFill>
                <a:latin typeface="Times New Roman"/>
                <a:cs typeface="Times New Roman"/>
              </a:rPr>
              <a:t>A</a:t>
            </a:r>
            <a:r>
              <a:rPr sz="5900" spc="130" dirty="0">
                <a:solidFill>
                  <a:srgbClr val="1BC8E7"/>
                </a:solidFill>
                <a:latin typeface="Times New Roman"/>
                <a:cs typeface="Times New Roman"/>
              </a:rPr>
              <a:t>TEMEN</a:t>
            </a:r>
            <a:r>
              <a:rPr sz="5900" spc="-160" dirty="0">
                <a:solidFill>
                  <a:srgbClr val="1BC8E7"/>
                </a:solidFill>
                <a:latin typeface="Times New Roman"/>
                <a:cs typeface="Times New Roman"/>
              </a:rPr>
              <a:t>T</a:t>
            </a:r>
            <a:r>
              <a:rPr sz="5900" spc="135" dirty="0">
                <a:solidFill>
                  <a:srgbClr val="1BC8E7"/>
                </a:solidFill>
                <a:latin typeface="Times New Roman"/>
                <a:cs typeface="Times New Roman"/>
              </a:rPr>
              <a:t>:</a:t>
            </a:r>
            <a:r>
              <a:rPr sz="5900" dirty="0">
                <a:solidFill>
                  <a:srgbClr val="1BC8E7"/>
                </a:solidFill>
                <a:latin typeface="Times New Roman"/>
                <a:cs typeface="Times New Roman"/>
              </a:rPr>
              <a:t>	</a:t>
            </a:r>
            <a:r>
              <a:rPr sz="5900" b="1" dirty="0">
                <a:solidFill>
                  <a:srgbClr val="FFFFFF"/>
                </a:solidFill>
                <a:latin typeface="Times New Roman"/>
                <a:cs typeface="Times New Roman"/>
              </a:rPr>
              <a:t>Urban</a:t>
            </a:r>
            <a:r>
              <a:rPr sz="59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59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Policy </a:t>
            </a:r>
            <a:r>
              <a:rPr sz="5900" b="1" dirty="0">
                <a:solidFill>
                  <a:srgbClr val="FFFFFF"/>
                </a:solidFill>
                <a:latin typeface="Times New Roman"/>
                <a:cs typeface="Times New Roman"/>
              </a:rPr>
              <a:t>Decision</a:t>
            </a:r>
            <a:r>
              <a:rPr sz="5900" b="1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5900" b="1" dirty="0">
                <a:solidFill>
                  <a:srgbClr val="FFFFFF"/>
                </a:solidFill>
                <a:latin typeface="Times New Roman"/>
                <a:cs typeface="Times New Roman"/>
              </a:rPr>
              <a:t>Engine</a:t>
            </a:r>
            <a:r>
              <a:rPr sz="5900" b="1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5900" b="1"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5900" b="1" spc="-1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5900" b="1" dirty="0">
                <a:solidFill>
                  <a:srgbClr val="FFFFFF"/>
                </a:solidFill>
                <a:latin typeface="Times New Roman"/>
                <a:cs typeface="Times New Roman"/>
              </a:rPr>
              <a:t>Pollution</a:t>
            </a:r>
            <a:r>
              <a:rPr sz="5900" b="1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59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Mitigation</a:t>
            </a:r>
            <a:endParaRPr sz="590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0"/>
            <a:ext cx="18288000" cy="1306195"/>
            <a:chOff x="0" y="0"/>
            <a:chExt cx="18288000" cy="130619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490326" y="66944"/>
              <a:ext cx="1797657" cy="117231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409515" y="0"/>
              <a:ext cx="1306185" cy="130618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2892861" cy="1241791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28245" y="1590176"/>
            <a:ext cx="11527155" cy="0"/>
          </a:xfrm>
          <a:custGeom>
            <a:avLst/>
            <a:gdLst/>
            <a:ahLst/>
            <a:cxnLst/>
            <a:rect l="l" t="t" r="r" b="b"/>
            <a:pathLst>
              <a:path w="11527155">
                <a:moveTo>
                  <a:pt x="0" y="0"/>
                </a:moveTo>
                <a:lnTo>
                  <a:pt x="11526916" y="0"/>
                </a:lnTo>
              </a:path>
            </a:pathLst>
          </a:custGeom>
          <a:ln w="3809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15885" rIns="0" bIns="0" rtlCol="0">
            <a:spAutoFit/>
          </a:bodyPr>
          <a:lstStyle/>
          <a:p>
            <a:pPr marL="24765">
              <a:lnSpc>
                <a:spcPct val="100000"/>
              </a:lnSpc>
              <a:spcBef>
                <a:spcPts val="120"/>
              </a:spcBef>
            </a:pPr>
            <a:r>
              <a:rPr dirty="0">
                <a:solidFill>
                  <a:srgbClr val="FFFFFF"/>
                </a:solidFill>
              </a:rPr>
              <a:t>PROBLEM</a:t>
            </a:r>
            <a:r>
              <a:rPr spc="-30" dirty="0">
                <a:solidFill>
                  <a:srgbClr val="FFFFFF"/>
                </a:solidFill>
              </a:rPr>
              <a:t> </a:t>
            </a:r>
            <a:r>
              <a:rPr spc="20" dirty="0">
                <a:solidFill>
                  <a:srgbClr val="FFFFFF"/>
                </a:solidFill>
              </a:rPr>
              <a:t>S</a:t>
            </a:r>
            <a:r>
              <a:rPr spc="-595" dirty="0">
                <a:solidFill>
                  <a:srgbClr val="FFFFFF"/>
                </a:solidFill>
              </a:rPr>
              <a:t>T</a:t>
            </a:r>
            <a:r>
              <a:rPr spc="-819" dirty="0">
                <a:solidFill>
                  <a:srgbClr val="FFFFFF"/>
                </a:solidFill>
              </a:rPr>
              <a:t>A</a:t>
            </a:r>
            <a:r>
              <a:rPr spc="20" dirty="0">
                <a:solidFill>
                  <a:srgbClr val="FFFFFF"/>
                </a:solidFill>
              </a:rPr>
              <a:t>TEMENT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2450" y="1830450"/>
            <a:ext cx="9392474" cy="80781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198575" y="2019649"/>
            <a:ext cx="7709049" cy="377754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198425" y="6055225"/>
            <a:ext cx="7709049" cy="3664199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sz="half" idx="2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47040">
              <a:lnSpc>
                <a:spcPct val="100000"/>
              </a:lnSpc>
              <a:spcBef>
                <a:spcPts val="100"/>
              </a:spcBef>
            </a:pPr>
            <a:r>
              <a:rPr dirty="0"/>
              <a:t>URBAN</a:t>
            </a:r>
            <a:r>
              <a:rPr spc="-100" dirty="0"/>
              <a:t> </a:t>
            </a:r>
            <a:r>
              <a:rPr dirty="0"/>
              <a:t>AIR</a:t>
            </a:r>
            <a:r>
              <a:rPr spc="-95" dirty="0"/>
              <a:t> </a:t>
            </a:r>
            <a:r>
              <a:rPr spc="-10" dirty="0"/>
              <a:t>POLLUTION</a:t>
            </a:r>
            <a:r>
              <a:rPr spc="-95" dirty="0"/>
              <a:t> </a:t>
            </a:r>
            <a:r>
              <a:rPr spc="-10" dirty="0"/>
              <a:t>SCENARIO</a:t>
            </a:r>
          </a:p>
          <a:p>
            <a:pPr marL="409575" marR="150495" indent="-397510">
              <a:lnSpc>
                <a:spcPct val="100000"/>
              </a:lnSpc>
              <a:spcBef>
                <a:spcPts val="3515"/>
              </a:spcBef>
              <a:buChar char="●"/>
              <a:tabLst>
                <a:tab pos="409575" algn="l"/>
              </a:tabLst>
            </a:pPr>
            <a:r>
              <a:rPr sz="2200" b="0" dirty="0">
                <a:latin typeface="Arial MT"/>
                <a:cs typeface="Arial MT"/>
              </a:rPr>
              <a:t>Rapid</a:t>
            </a:r>
            <a:r>
              <a:rPr sz="2200" b="0" spc="-90" dirty="0">
                <a:latin typeface="Arial MT"/>
                <a:cs typeface="Arial MT"/>
              </a:rPr>
              <a:t> </a:t>
            </a:r>
            <a:r>
              <a:rPr sz="2200" b="0" spc="-10" dirty="0">
                <a:latin typeface="Arial MT"/>
                <a:cs typeface="Arial MT"/>
              </a:rPr>
              <a:t>urbanization</a:t>
            </a:r>
            <a:r>
              <a:rPr sz="2200" b="0" spc="-85" dirty="0">
                <a:latin typeface="Arial MT"/>
                <a:cs typeface="Arial MT"/>
              </a:rPr>
              <a:t> </a:t>
            </a:r>
            <a:r>
              <a:rPr sz="2200" b="0" dirty="0">
                <a:latin typeface="Arial MT"/>
                <a:cs typeface="Arial MT"/>
              </a:rPr>
              <a:t>and</a:t>
            </a:r>
            <a:r>
              <a:rPr sz="2200" b="0" spc="-90" dirty="0">
                <a:latin typeface="Arial MT"/>
                <a:cs typeface="Arial MT"/>
              </a:rPr>
              <a:t> </a:t>
            </a:r>
            <a:r>
              <a:rPr sz="2200" b="0" dirty="0">
                <a:latin typeface="Arial MT"/>
                <a:cs typeface="Arial MT"/>
              </a:rPr>
              <a:t>increased</a:t>
            </a:r>
            <a:r>
              <a:rPr sz="2200" b="0" spc="-85" dirty="0">
                <a:latin typeface="Arial MT"/>
                <a:cs typeface="Arial MT"/>
              </a:rPr>
              <a:t> </a:t>
            </a:r>
            <a:r>
              <a:rPr sz="2200" b="0" dirty="0">
                <a:latin typeface="Arial MT"/>
                <a:cs typeface="Arial MT"/>
              </a:rPr>
              <a:t>vehicular</a:t>
            </a:r>
            <a:r>
              <a:rPr sz="2200" b="0" spc="-90" dirty="0">
                <a:latin typeface="Arial MT"/>
                <a:cs typeface="Arial MT"/>
              </a:rPr>
              <a:t> </a:t>
            </a:r>
            <a:r>
              <a:rPr sz="2200" b="0" dirty="0">
                <a:latin typeface="Arial MT"/>
                <a:cs typeface="Arial MT"/>
              </a:rPr>
              <a:t>traffic</a:t>
            </a:r>
            <a:r>
              <a:rPr sz="2200" b="0" spc="-85" dirty="0">
                <a:latin typeface="Arial MT"/>
                <a:cs typeface="Arial MT"/>
              </a:rPr>
              <a:t> </a:t>
            </a:r>
            <a:r>
              <a:rPr sz="2200" b="0" spc="-20" dirty="0">
                <a:latin typeface="Arial MT"/>
                <a:cs typeface="Arial MT"/>
              </a:rPr>
              <a:t>have </a:t>
            </a:r>
            <a:r>
              <a:rPr sz="2200" b="0" dirty="0">
                <a:latin typeface="Arial MT"/>
                <a:cs typeface="Arial MT"/>
              </a:rPr>
              <a:t>led</a:t>
            </a:r>
            <a:r>
              <a:rPr sz="2200" b="0" spc="-60" dirty="0">
                <a:latin typeface="Arial MT"/>
                <a:cs typeface="Arial MT"/>
              </a:rPr>
              <a:t> </a:t>
            </a:r>
            <a:r>
              <a:rPr sz="2200" b="0" dirty="0">
                <a:latin typeface="Arial MT"/>
                <a:cs typeface="Arial MT"/>
              </a:rPr>
              <a:t>to</a:t>
            </a:r>
            <a:r>
              <a:rPr sz="2200" b="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"/>
                <a:cs typeface="Arial"/>
              </a:rPr>
              <a:t>severe</a:t>
            </a:r>
            <a:r>
              <a:rPr sz="2200" spc="-6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air</a:t>
            </a:r>
            <a:r>
              <a:rPr sz="2200" spc="-6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pollution</a:t>
            </a:r>
            <a:r>
              <a:rPr sz="2200" spc="-6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in</a:t>
            </a:r>
            <a:r>
              <a:rPr sz="2200" spc="-60" dirty="0">
                <a:latin typeface="Arial"/>
                <a:cs typeface="Arial"/>
              </a:rPr>
              <a:t> </a:t>
            </a:r>
            <a:r>
              <a:rPr sz="2200" spc="-10" dirty="0">
                <a:latin typeface="Arial"/>
                <a:cs typeface="Arial"/>
              </a:rPr>
              <a:t>cities</a:t>
            </a:r>
            <a:endParaRPr sz="2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5"/>
              </a:spcBef>
              <a:buFont typeface="Arial MT"/>
              <a:buChar char="●"/>
            </a:pPr>
            <a:endParaRPr sz="2200">
              <a:latin typeface="Arial"/>
              <a:cs typeface="Arial"/>
            </a:endParaRPr>
          </a:p>
          <a:p>
            <a:pPr marL="409575" indent="-396875">
              <a:lnSpc>
                <a:spcPct val="100000"/>
              </a:lnSpc>
              <a:spcBef>
                <a:spcPts val="5"/>
              </a:spcBef>
              <a:buChar char="●"/>
              <a:tabLst>
                <a:tab pos="409575" algn="l"/>
              </a:tabLst>
            </a:pPr>
            <a:r>
              <a:rPr sz="2200" b="0" dirty="0">
                <a:latin typeface="Arial MT"/>
                <a:cs typeface="Arial MT"/>
              </a:rPr>
              <a:t>Harmful</a:t>
            </a:r>
            <a:r>
              <a:rPr sz="2200" b="0" spc="-80" dirty="0">
                <a:latin typeface="Arial MT"/>
                <a:cs typeface="Arial MT"/>
              </a:rPr>
              <a:t> </a:t>
            </a:r>
            <a:r>
              <a:rPr sz="2200" b="0" dirty="0">
                <a:latin typeface="Arial MT"/>
                <a:cs typeface="Arial MT"/>
              </a:rPr>
              <a:t>pollutants</a:t>
            </a:r>
            <a:r>
              <a:rPr sz="2200" b="0" spc="-80" dirty="0">
                <a:latin typeface="Arial MT"/>
                <a:cs typeface="Arial MT"/>
              </a:rPr>
              <a:t> </a:t>
            </a:r>
            <a:r>
              <a:rPr sz="2200" b="0" dirty="0">
                <a:latin typeface="Arial MT"/>
                <a:cs typeface="Arial MT"/>
              </a:rPr>
              <a:t>such</a:t>
            </a:r>
            <a:r>
              <a:rPr sz="2200" b="0" spc="-75" dirty="0">
                <a:latin typeface="Arial MT"/>
                <a:cs typeface="Arial MT"/>
              </a:rPr>
              <a:t> </a:t>
            </a:r>
            <a:r>
              <a:rPr sz="2200" b="0" dirty="0">
                <a:latin typeface="Arial MT"/>
                <a:cs typeface="Arial MT"/>
              </a:rPr>
              <a:t>as</a:t>
            </a:r>
            <a:r>
              <a:rPr sz="2200" b="0" spc="-75" dirty="0">
                <a:latin typeface="Arial MT"/>
                <a:cs typeface="Arial MT"/>
              </a:rPr>
              <a:t> </a:t>
            </a:r>
            <a:r>
              <a:rPr sz="2200" dirty="0">
                <a:latin typeface="Arial"/>
                <a:cs typeface="Arial"/>
              </a:rPr>
              <a:t>PM2.5,</a:t>
            </a:r>
            <a:r>
              <a:rPr sz="2200" spc="-8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PM10,</a:t>
            </a:r>
            <a:r>
              <a:rPr sz="2200" spc="-8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and</a:t>
            </a:r>
            <a:r>
              <a:rPr sz="2200" spc="-75" dirty="0">
                <a:latin typeface="Arial"/>
                <a:cs typeface="Arial"/>
              </a:rPr>
              <a:t> </a:t>
            </a:r>
            <a:r>
              <a:rPr sz="2200" spc="-25" dirty="0">
                <a:latin typeface="Arial"/>
                <a:cs typeface="Arial"/>
              </a:rPr>
              <a:t>NO</a:t>
            </a:r>
            <a:r>
              <a:rPr sz="2200" b="0" spc="-25" dirty="0">
                <a:latin typeface="MS PGothic"/>
                <a:cs typeface="MS PGothic"/>
              </a:rPr>
              <a:t>₂</a:t>
            </a:r>
            <a:endParaRPr sz="2200">
              <a:latin typeface="MS PGothic"/>
              <a:cs typeface="MS PGothic"/>
            </a:endParaRPr>
          </a:p>
          <a:p>
            <a:pPr marL="409575">
              <a:lnSpc>
                <a:spcPct val="100000"/>
              </a:lnSpc>
            </a:pPr>
            <a:r>
              <a:rPr sz="2200" b="0" dirty="0">
                <a:latin typeface="Arial MT"/>
                <a:cs typeface="Arial MT"/>
              </a:rPr>
              <a:t>frequently</a:t>
            </a:r>
            <a:r>
              <a:rPr sz="2200" b="0" spc="-90" dirty="0">
                <a:latin typeface="Arial MT"/>
                <a:cs typeface="Arial MT"/>
              </a:rPr>
              <a:t> </a:t>
            </a:r>
            <a:r>
              <a:rPr sz="2200" b="0" dirty="0">
                <a:latin typeface="Arial MT"/>
                <a:cs typeface="Arial MT"/>
              </a:rPr>
              <a:t>exceed</a:t>
            </a:r>
            <a:r>
              <a:rPr sz="2200" b="0" spc="-90" dirty="0">
                <a:latin typeface="Arial MT"/>
                <a:cs typeface="Arial MT"/>
              </a:rPr>
              <a:t> </a:t>
            </a:r>
            <a:r>
              <a:rPr sz="2200" b="0" dirty="0">
                <a:latin typeface="Arial MT"/>
                <a:cs typeface="Arial MT"/>
              </a:rPr>
              <a:t>safe</a:t>
            </a:r>
            <a:r>
              <a:rPr sz="2200" b="0" spc="-85" dirty="0">
                <a:latin typeface="Arial MT"/>
                <a:cs typeface="Arial MT"/>
              </a:rPr>
              <a:t> </a:t>
            </a:r>
            <a:r>
              <a:rPr sz="2200" b="0" spc="-10" dirty="0">
                <a:latin typeface="Arial MT"/>
                <a:cs typeface="Arial MT"/>
              </a:rPr>
              <a:t>limits</a:t>
            </a:r>
            <a:endParaRPr sz="2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5"/>
              </a:spcBef>
            </a:pPr>
            <a:endParaRPr sz="2200">
              <a:latin typeface="Arial MT"/>
              <a:cs typeface="Arial MT"/>
            </a:endParaRPr>
          </a:p>
          <a:p>
            <a:pPr marL="409575" marR="385445" indent="-397510">
              <a:lnSpc>
                <a:spcPct val="100000"/>
              </a:lnSpc>
              <a:spcBef>
                <a:spcPts val="5"/>
              </a:spcBef>
              <a:buFont typeface="Arial MT"/>
              <a:buChar char="●"/>
              <a:tabLst>
                <a:tab pos="409575" algn="l"/>
              </a:tabLst>
            </a:pPr>
            <a:r>
              <a:rPr sz="2200" dirty="0">
                <a:latin typeface="Arial"/>
                <a:cs typeface="Arial"/>
              </a:rPr>
              <a:t>Weather</a:t>
            </a:r>
            <a:r>
              <a:rPr sz="2200" spc="-75" dirty="0">
                <a:latin typeface="Arial"/>
                <a:cs typeface="Arial"/>
              </a:rPr>
              <a:t> </a:t>
            </a:r>
            <a:r>
              <a:rPr sz="2200" spc="-10" dirty="0">
                <a:latin typeface="Arial"/>
                <a:cs typeface="Arial"/>
              </a:rPr>
              <a:t>conditions</a:t>
            </a:r>
            <a:r>
              <a:rPr sz="2200" spc="-70" dirty="0">
                <a:latin typeface="Arial"/>
                <a:cs typeface="Arial"/>
              </a:rPr>
              <a:t> </a:t>
            </a:r>
            <a:r>
              <a:rPr sz="2200" b="0" dirty="0">
                <a:latin typeface="Arial MT"/>
                <a:cs typeface="Arial MT"/>
              </a:rPr>
              <a:t>(low</a:t>
            </a:r>
            <a:r>
              <a:rPr sz="2200" b="0" spc="-75" dirty="0">
                <a:latin typeface="Arial MT"/>
                <a:cs typeface="Arial MT"/>
              </a:rPr>
              <a:t> </a:t>
            </a:r>
            <a:r>
              <a:rPr sz="2200" b="0" dirty="0">
                <a:latin typeface="Arial MT"/>
                <a:cs typeface="Arial MT"/>
              </a:rPr>
              <a:t>wind</a:t>
            </a:r>
            <a:r>
              <a:rPr sz="2200" b="0" spc="-70" dirty="0">
                <a:latin typeface="Arial MT"/>
                <a:cs typeface="Arial MT"/>
              </a:rPr>
              <a:t> </a:t>
            </a:r>
            <a:r>
              <a:rPr sz="2200" b="0" dirty="0">
                <a:latin typeface="Arial MT"/>
                <a:cs typeface="Arial MT"/>
              </a:rPr>
              <a:t>speed,</a:t>
            </a:r>
            <a:r>
              <a:rPr sz="2200" b="0" spc="-75" dirty="0">
                <a:latin typeface="Arial MT"/>
                <a:cs typeface="Arial MT"/>
              </a:rPr>
              <a:t> </a:t>
            </a:r>
            <a:r>
              <a:rPr sz="2200" b="0" dirty="0">
                <a:latin typeface="Arial MT"/>
                <a:cs typeface="Arial MT"/>
              </a:rPr>
              <a:t>high</a:t>
            </a:r>
            <a:r>
              <a:rPr sz="2200" b="0" spc="-75" dirty="0">
                <a:latin typeface="Arial MT"/>
                <a:cs typeface="Arial MT"/>
              </a:rPr>
              <a:t> </a:t>
            </a:r>
            <a:r>
              <a:rPr sz="2200" b="0" spc="-10" dirty="0">
                <a:latin typeface="Arial MT"/>
                <a:cs typeface="Arial MT"/>
              </a:rPr>
              <a:t>humidity) </a:t>
            </a:r>
            <a:r>
              <a:rPr sz="2200" b="0" dirty="0">
                <a:latin typeface="Arial MT"/>
                <a:cs typeface="Arial MT"/>
              </a:rPr>
              <a:t>worsen</a:t>
            </a:r>
            <a:r>
              <a:rPr sz="2200" b="0" spc="-114" dirty="0">
                <a:latin typeface="Arial MT"/>
                <a:cs typeface="Arial MT"/>
              </a:rPr>
              <a:t> </a:t>
            </a:r>
            <a:r>
              <a:rPr sz="2200" b="0" dirty="0">
                <a:latin typeface="Arial MT"/>
                <a:cs typeface="Arial MT"/>
              </a:rPr>
              <a:t>pollution</a:t>
            </a:r>
            <a:r>
              <a:rPr sz="2200" b="0" spc="-114" dirty="0">
                <a:latin typeface="Arial MT"/>
                <a:cs typeface="Arial MT"/>
              </a:rPr>
              <a:t> </a:t>
            </a:r>
            <a:r>
              <a:rPr sz="2200" b="0" spc="-10" dirty="0">
                <a:latin typeface="Arial MT"/>
                <a:cs typeface="Arial MT"/>
              </a:rPr>
              <a:t>accumulation</a:t>
            </a:r>
            <a:endParaRPr sz="2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10"/>
              </a:spcBef>
              <a:buFont typeface="Arial MT"/>
              <a:buChar char="●"/>
            </a:pPr>
            <a:endParaRPr sz="2200">
              <a:latin typeface="Arial MT"/>
              <a:cs typeface="Arial MT"/>
            </a:endParaRPr>
          </a:p>
          <a:p>
            <a:pPr marL="409575" marR="615950" indent="-397510">
              <a:lnSpc>
                <a:spcPct val="100000"/>
              </a:lnSpc>
              <a:buChar char="●"/>
              <a:tabLst>
                <a:tab pos="409575" algn="l"/>
              </a:tabLst>
            </a:pPr>
            <a:r>
              <a:rPr sz="2200" b="0" dirty="0">
                <a:latin typeface="Arial MT"/>
                <a:cs typeface="Arial MT"/>
              </a:rPr>
              <a:t>Pollution</a:t>
            </a:r>
            <a:r>
              <a:rPr sz="2200" b="0" spc="-70" dirty="0">
                <a:latin typeface="Arial MT"/>
                <a:cs typeface="Arial MT"/>
              </a:rPr>
              <a:t> </a:t>
            </a:r>
            <a:r>
              <a:rPr sz="2200" b="0" dirty="0">
                <a:latin typeface="Arial MT"/>
                <a:cs typeface="Arial MT"/>
              </a:rPr>
              <a:t>levels</a:t>
            </a:r>
            <a:r>
              <a:rPr sz="2200" b="0" spc="-70" dirty="0">
                <a:latin typeface="Arial MT"/>
                <a:cs typeface="Arial MT"/>
              </a:rPr>
              <a:t> </a:t>
            </a:r>
            <a:r>
              <a:rPr sz="2200" b="0" dirty="0">
                <a:latin typeface="Arial MT"/>
                <a:cs typeface="Arial MT"/>
              </a:rPr>
              <a:t>show</a:t>
            </a:r>
            <a:r>
              <a:rPr sz="2200" b="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"/>
                <a:cs typeface="Arial"/>
              </a:rPr>
              <a:t>strong</a:t>
            </a:r>
            <a:r>
              <a:rPr sz="2200" spc="-7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temporal</a:t>
            </a:r>
            <a:r>
              <a:rPr sz="2200" spc="-6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and</a:t>
            </a:r>
            <a:r>
              <a:rPr sz="2200" spc="-70" dirty="0">
                <a:latin typeface="Arial"/>
                <a:cs typeface="Arial"/>
              </a:rPr>
              <a:t> </a:t>
            </a:r>
            <a:r>
              <a:rPr sz="2200" spc="-10" dirty="0">
                <a:latin typeface="Arial"/>
                <a:cs typeface="Arial"/>
              </a:rPr>
              <a:t>spatial </a:t>
            </a:r>
            <a:r>
              <a:rPr sz="2200" dirty="0">
                <a:latin typeface="Arial"/>
                <a:cs typeface="Arial"/>
              </a:rPr>
              <a:t>variation</a:t>
            </a:r>
            <a:r>
              <a:rPr sz="2200" spc="-60" dirty="0">
                <a:latin typeface="Arial"/>
                <a:cs typeface="Arial"/>
              </a:rPr>
              <a:t> </a:t>
            </a:r>
            <a:r>
              <a:rPr sz="2200" b="0" dirty="0">
                <a:latin typeface="Arial MT"/>
                <a:cs typeface="Arial MT"/>
              </a:rPr>
              <a:t>across</a:t>
            </a:r>
            <a:r>
              <a:rPr sz="2200" b="0" spc="-70" dirty="0">
                <a:latin typeface="Arial MT"/>
                <a:cs typeface="Arial MT"/>
              </a:rPr>
              <a:t> </a:t>
            </a:r>
            <a:r>
              <a:rPr sz="2200" b="0" dirty="0">
                <a:latin typeface="Arial MT"/>
                <a:cs typeface="Arial MT"/>
              </a:rPr>
              <a:t>city</a:t>
            </a:r>
            <a:r>
              <a:rPr sz="2200" b="0" spc="-70" dirty="0">
                <a:latin typeface="Arial MT"/>
                <a:cs typeface="Arial MT"/>
              </a:rPr>
              <a:t> </a:t>
            </a:r>
            <a:r>
              <a:rPr sz="2200" b="0" spc="-20" dirty="0">
                <a:latin typeface="Arial MT"/>
                <a:cs typeface="Arial MT"/>
              </a:rPr>
              <a:t>zones</a:t>
            </a:r>
            <a:endParaRPr sz="2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10"/>
              </a:spcBef>
              <a:buFont typeface="Arial MT"/>
              <a:buChar char="●"/>
            </a:pPr>
            <a:endParaRPr sz="2200">
              <a:latin typeface="Arial MT"/>
              <a:cs typeface="Arial MT"/>
            </a:endParaRPr>
          </a:p>
          <a:p>
            <a:pPr marL="409575" marR="231775" indent="-397510">
              <a:lnSpc>
                <a:spcPct val="100000"/>
              </a:lnSpc>
              <a:buChar char="●"/>
              <a:tabLst>
                <a:tab pos="409575" algn="l"/>
              </a:tabLst>
            </a:pPr>
            <a:r>
              <a:rPr sz="2200" b="0" dirty="0">
                <a:latin typeface="Arial MT"/>
                <a:cs typeface="Arial MT"/>
              </a:rPr>
              <a:t>Prolonged</a:t>
            </a:r>
            <a:r>
              <a:rPr sz="2200" b="0" spc="-95" dirty="0">
                <a:latin typeface="Arial MT"/>
                <a:cs typeface="Arial MT"/>
              </a:rPr>
              <a:t> </a:t>
            </a:r>
            <a:r>
              <a:rPr sz="2200" b="0" dirty="0">
                <a:latin typeface="Arial MT"/>
                <a:cs typeface="Arial MT"/>
              </a:rPr>
              <a:t>exposure</a:t>
            </a:r>
            <a:r>
              <a:rPr sz="2200" b="0" spc="-95" dirty="0">
                <a:latin typeface="Arial MT"/>
                <a:cs typeface="Arial MT"/>
              </a:rPr>
              <a:t> </a:t>
            </a:r>
            <a:r>
              <a:rPr sz="2200" b="0" dirty="0">
                <a:latin typeface="Arial MT"/>
                <a:cs typeface="Arial MT"/>
              </a:rPr>
              <a:t>results</a:t>
            </a:r>
            <a:r>
              <a:rPr sz="2200" b="0" spc="-90" dirty="0">
                <a:latin typeface="Arial MT"/>
                <a:cs typeface="Arial MT"/>
              </a:rPr>
              <a:t> </a:t>
            </a:r>
            <a:r>
              <a:rPr sz="2200" b="0" dirty="0">
                <a:latin typeface="Arial MT"/>
                <a:cs typeface="Arial MT"/>
              </a:rPr>
              <a:t>in</a:t>
            </a:r>
            <a:r>
              <a:rPr sz="2200" b="0" spc="-85" dirty="0">
                <a:latin typeface="Arial MT"/>
                <a:cs typeface="Arial MT"/>
              </a:rPr>
              <a:t> </a:t>
            </a:r>
            <a:r>
              <a:rPr sz="2200" dirty="0">
                <a:latin typeface="Arial"/>
                <a:cs typeface="Arial"/>
              </a:rPr>
              <a:t>health</a:t>
            </a:r>
            <a:r>
              <a:rPr sz="2200" spc="-95" dirty="0">
                <a:latin typeface="Arial"/>
                <a:cs typeface="Arial"/>
              </a:rPr>
              <a:t> </a:t>
            </a:r>
            <a:r>
              <a:rPr sz="2200" spc="-10" dirty="0">
                <a:latin typeface="Arial"/>
                <a:cs typeface="Arial"/>
              </a:rPr>
              <a:t>risks, environmental</a:t>
            </a:r>
            <a:r>
              <a:rPr sz="2200" spc="-90" dirty="0">
                <a:latin typeface="Arial"/>
                <a:cs typeface="Arial"/>
              </a:rPr>
              <a:t> </a:t>
            </a:r>
            <a:r>
              <a:rPr sz="2200" spc="-10" dirty="0">
                <a:latin typeface="Arial"/>
                <a:cs typeface="Arial"/>
              </a:rPr>
              <a:t>degradation,</a:t>
            </a:r>
            <a:r>
              <a:rPr sz="2200" spc="-9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and</a:t>
            </a:r>
            <a:r>
              <a:rPr sz="2200" spc="-8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reduced</a:t>
            </a:r>
            <a:r>
              <a:rPr sz="2200" spc="-9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quality</a:t>
            </a:r>
            <a:r>
              <a:rPr sz="2200" spc="-85" dirty="0">
                <a:latin typeface="Arial"/>
                <a:cs typeface="Arial"/>
              </a:rPr>
              <a:t> </a:t>
            </a:r>
            <a:r>
              <a:rPr sz="2200" spc="-35" dirty="0">
                <a:latin typeface="Arial"/>
                <a:cs typeface="Arial"/>
              </a:rPr>
              <a:t>of </a:t>
            </a:r>
            <a:r>
              <a:rPr sz="2200" spc="-20" dirty="0">
                <a:latin typeface="Arial"/>
                <a:cs typeface="Arial"/>
              </a:rPr>
              <a:t>life</a:t>
            </a:r>
            <a:endParaRPr sz="2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10"/>
              </a:spcBef>
              <a:buFont typeface="Arial MT"/>
              <a:buChar char="●"/>
            </a:pPr>
            <a:endParaRPr sz="2200">
              <a:latin typeface="Arial"/>
              <a:cs typeface="Arial"/>
            </a:endParaRPr>
          </a:p>
          <a:p>
            <a:pPr marL="409575" marR="5080" indent="-397510">
              <a:lnSpc>
                <a:spcPct val="100000"/>
              </a:lnSpc>
              <a:buChar char="●"/>
              <a:tabLst>
                <a:tab pos="409575" algn="l"/>
              </a:tabLst>
            </a:pPr>
            <a:r>
              <a:rPr sz="2200" b="0" dirty="0">
                <a:latin typeface="Arial MT"/>
                <a:cs typeface="Arial MT"/>
              </a:rPr>
              <a:t>Urban</a:t>
            </a:r>
            <a:r>
              <a:rPr sz="2200" b="0" spc="-80" dirty="0">
                <a:latin typeface="Arial MT"/>
                <a:cs typeface="Arial MT"/>
              </a:rPr>
              <a:t> </a:t>
            </a:r>
            <a:r>
              <a:rPr sz="2200" b="0" dirty="0">
                <a:latin typeface="Arial MT"/>
                <a:cs typeface="Arial MT"/>
              </a:rPr>
              <a:t>authorities</a:t>
            </a:r>
            <a:r>
              <a:rPr sz="2200" b="0" spc="-75" dirty="0">
                <a:latin typeface="Arial MT"/>
                <a:cs typeface="Arial MT"/>
              </a:rPr>
              <a:t> </a:t>
            </a:r>
            <a:r>
              <a:rPr sz="2200" b="0" dirty="0">
                <a:latin typeface="Arial MT"/>
                <a:cs typeface="Arial MT"/>
              </a:rPr>
              <a:t>are</a:t>
            </a:r>
            <a:r>
              <a:rPr sz="2200" b="0" spc="-75" dirty="0">
                <a:latin typeface="Arial MT"/>
                <a:cs typeface="Arial MT"/>
              </a:rPr>
              <a:t> </a:t>
            </a:r>
            <a:r>
              <a:rPr sz="2200" b="0" dirty="0">
                <a:latin typeface="Arial MT"/>
                <a:cs typeface="Arial MT"/>
              </a:rPr>
              <a:t>under</a:t>
            </a:r>
            <a:r>
              <a:rPr sz="2200" b="0" spc="-75" dirty="0">
                <a:latin typeface="Arial MT"/>
                <a:cs typeface="Arial MT"/>
              </a:rPr>
              <a:t> </a:t>
            </a:r>
            <a:r>
              <a:rPr sz="2200" b="0" dirty="0">
                <a:latin typeface="Arial MT"/>
                <a:cs typeface="Arial MT"/>
              </a:rPr>
              <a:t>pressure</a:t>
            </a:r>
            <a:r>
              <a:rPr sz="2200" b="0" spc="-75" dirty="0">
                <a:latin typeface="Arial MT"/>
                <a:cs typeface="Arial MT"/>
              </a:rPr>
              <a:t> </a:t>
            </a:r>
            <a:r>
              <a:rPr sz="2200" b="0" dirty="0">
                <a:latin typeface="Arial MT"/>
                <a:cs typeface="Arial MT"/>
              </a:rPr>
              <a:t>to</a:t>
            </a:r>
            <a:r>
              <a:rPr sz="2200" b="0" spc="-80" dirty="0">
                <a:latin typeface="Arial MT"/>
                <a:cs typeface="Arial MT"/>
              </a:rPr>
              <a:t> </a:t>
            </a:r>
            <a:r>
              <a:rPr sz="2200" b="0" dirty="0">
                <a:latin typeface="Arial MT"/>
                <a:cs typeface="Arial MT"/>
              </a:rPr>
              <a:t>take</a:t>
            </a:r>
            <a:r>
              <a:rPr sz="2200" b="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"/>
                <a:cs typeface="Arial"/>
              </a:rPr>
              <a:t>timely</a:t>
            </a:r>
            <a:r>
              <a:rPr sz="2200" spc="-75" dirty="0">
                <a:latin typeface="Arial"/>
                <a:cs typeface="Arial"/>
              </a:rPr>
              <a:t> </a:t>
            </a:r>
            <a:r>
              <a:rPr sz="2200" spc="-25" dirty="0">
                <a:latin typeface="Arial"/>
                <a:cs typeface="Arial"/>
              </a:rPr>
              <a:t>and </a:t>
            </a:r>
            <a:r>
              <a:rPr sz="2200" dirty="0">
                <a:latin typeface="Arial"/>
                <a:cs typeface="Arial"/>
              </a:rPr>
              <a:t>effective</a:t>
            </a:r>
            <a:r>
              <a:rPr sz="2200" spc="-95" dirty="0">
                <a:latin typeface="Arial"/>
                <a:cs typeface="Arial"/>
              </a:rPr>
              <a:t> </a:t>
            </a:r>
            <a:r>
              <a:rPr sz="2200" spc="-10" dirty="0">
                <a:latin typeface="Arial"/>
                <a:cs typeface="Arial"/>
              </a:rPr>
              <a:t>mitigation</a:t>
            </a:r>
            <a:r>
              <a:rPr sz="2200" spc="-95" dirty="0">
                <a:latin typeface="Arial"/>
                <a:cs typeface="Arial"/>
              </a:rPr>
              <a:t> </a:t>
            </a:r>
            <a:r>
              <a:rPr sz="2200" spc="-10" dirty="0">
                <a:latin typeface="Arial"/>
                <a:cs typeface="Arial"/>
              </a:rPr>
              <a:t>actions</a:t>
            </a:r>
            <a:endParaRPr sz="22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410475" y="2076418"/>
            <a:ext cx="7357745" cy="7353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spc="-45" dirty="0">
                <a:latin typeface="Calibri"/>
                <a:cs typeface="Calibri"/>
              </a:rPr>
              <a:t>LIMITATIONS</a:t>
            </a:r>
            <a:r>
              <a:rPr sz="3200" b="1" spc="-100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OF</a:t>
            </a:r>
            <a:r>
              <a:rPr sz="3200" b="1" spc="-100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CURRENT</a:t>
            </a:r>
            <a:r>
              <a:rPr sz="3200" b="1" spc="-95" dirty="0">
                <a:latin typeface="Calibri"/>
                <a:cs typeface="Calibri"/>
              </a:rPr>
              <a:t> </a:t>
            </a:r>
            <a:r>
              <a:rPr sz="3200" b="1" spc="-10" dirty="0">
                <a:latin typeface="Calibri"/>
                <a:cs typeface="Calibri"/>
              </a:rPr>
              <a:t>SYSTEMS:</a:t>
            </a:r>
            <a:endParaRPr sz="3200">
              <a:latin typeface="Calibri"/>
              <a:cs typeface="Calibri"/>
            </a:endParaRPr>
          </a:p>
          <a:p>
            <a:pPr marL="469900" marR="240029" indent="-397510">
              <a:lnSpc>
                <a:spcPct val="100000"/>
              </a:lnSpc>
              <a:spcBef>
                <a:spcPts val="2530"/>
              </a:spcBef>
              <a:buChar char="●"/>
              <a:tabLst>
                <a:tab pos="469900" algn="l"/>
              </a:tabLst>
            </a:pPr>
            <a:r>
              <a:rPr sz="2200" dirty="0">
                <a:latin typeface="Arial MT"/>
                <a:cs typeface="Arial MT"/>
              </a:rPr>
              <a:t>Existing</a:t>
            </a:r>
            <a:r>
              <a:rPr sz="2200" spc="-7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systems</a:t>
            </a:r>
            <a:r>
              <a:rPr sz="2200" spc="-7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mainly</a:t>
            </a:r>
            <a:r>
              <a:rPr sz="2200" spc="-7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provide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b="1" dirty="0">
                <a:latin typeface="Arial"/>
                <a:cs typeface="Arial"/>
              </a:rPr>
              <a:t>AQI</a:t>
            </a:r>
            <a:r>
              <a:rPr sz="2200" b="1" spc="-70" dirty="0">
                <a:latin typeface="Arial"/>
                <a:cs typeface="Arial"/>
              </a:rPr>
              <a:t> </a:t>
            </a:r>
            <a:r>
              <a:rPr sz="2200" b="1" spc="-10" dirty="0">
                <a:latin typeface="Arial"/>
                <a:cs typeface="Arial"/>
              </a:rPr>
              <a:t>monitoring</a:t>
            </a:r>
            <a:r>
              <a:rPr sz="2200" b="1" spc="-70" dirty="0">
                <a:latin typeface="Arial"/>
                <a:cs typeface="Arial"/>
              </a:rPr>
              <a:t> </a:t>
            </a:r>
            <a:r>
              <a:rPr sz="2200" b="1" spc="-25" dirty="0">
                <a:latin typeface="Arial"/>
                <a:cs typeface="Arial"/>
              </a:rPr>
              <a:t>and </a:t>
            </a:r>
            <a:r>
              <a:rPr sz="2200" b="1" spc="-10" dirty="0">
                <a:latin typeface="Arial"/>
                <a:cs typeface="Arial"/>
              </a:rPr>
              <a:t>reports</a:t>
            </a:r>
            <a:endParaRPr sz="2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5"/>
              </a:spcBef>
              <a:buFont typeface="Arial MT"/>
              <a:buChar char="●"/>
            </a:pPr>
            <a:endParaRPr sz="2200">
              <a:latin typeface="Arial"/>
              <a:cs typeface="Arial"/>
            </a:endParaRPr>
          </a:p>
          <a:p>
            <a:pPr marL="469265" indent="-396875">
              <a:lnSpc>
                <a:spcPct val="100000"/>
              </a:lnSpc>
              <a:spcBef>
                <a:spcPts val="5"/>
              </a:spcBef>
              <a:buChar char="●"/>
              <a:tabLst>
                <a:tab pos="469265" algn="l"/>
              </a:tabLst>
            </a:pPr>
            <a:r>
              <a:rPr sz="2200" dirty="0">
                <a:latin typeface="Arial MT"/>
                <a:cs typeface="Arial MT"/>
              </a:rPr>
              <a:t>Pollution,</a:t>
            </a:r>
            <a:r>
              <a:rPr sz="2200" spc="-7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traffic,</a:t>
            </a:r>
            <a:r>
              <a:rPr sz="2200" spc="-7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and</a:t>
            </a:r>
            <a:r>
              <a:rPr sz="2200" spc="-7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weather</a:t>
            </a:r>
            <a:r>
              <a:rPr sz="2200" spc="-7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data</a:t>
            </a:r>
            <a:r>
              <a:rPr sz="2200" spc="-7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are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b="1" spc="-10" dirty="0">
                <a:latin typeface="Arial"/>
                <a:cs typeface="Arial"/>
              </a:rPr>
              <a:t>fragmented</a:t>
            </a:r>
            <a:endParaRPr sz="2200">
              <a:latin typeface="Arial"/>
              <a:cs typeface="Arial"/>
            </a:endParaRPr>
          </a:p>
          <a:p>
            <a:pPr marL="469265" indent="-396875">
              <a:lnSpc>
                <a:spcPct val="100000"/>
              </a:lnSpc>
              <a:spcBef>
                <a:spcPts val="1920"/>
              </a:spcBef>
              <a:buChar char="●"/>
              <a:tabLst>
                <a:tab pos="469265" algn="l"/>
              </a:tabLst>
            </a:pPr>
            <a:r>
              <a:rPr sz="2200" dirty="0">
                <a:latin typeface="Arial MT"/>
                <a:cs typeface="Arial MT"/>
              </a:rPr>
              <a:t>Decisions</a:t>
            </a:r>
            <a:r>
              <a:rPr sz="2200" spc="-7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are</a:t>
            </a:r>
            <a:r>
              <a:rPr sz="2200" spc="-7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often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b="1" dirty="0">
                <a:latin typeface="Arial"/>
                <a:cs typeface="Arial"/>
              </a:rPr>
              <a:t>reactive</a:t>
            </a:r>
            <a:r>
              <a:rPr sz="2200" b="1" spc="-75" dirty="0">
                <a:latin typeface="Arial"/>
                <a:cs typeface="Arial"/>
              </a:rPr>
              <a:t> </a:t>
            </a:r>
            <a:r>
              <a:rPr sz="2200" b="1" dirty="0">
                <a:latin typeface="Arial"/>
                <a:cs typeface="Arial"/>
              </a:rPr>
              <a:t>and</a:t>
            </a:r>
            <a:r>
              <a:rPr sz="2200" b="1" spc="-75" dirty="0">
                <a:latin typeface="Arial"/>
                <a:cs typeface="Arial"/>
              </a:rPr>
              <a:t> </a:t>
            </a:r>
            <a:r>
              <a:rPr sz="2200" b="1" dirty="0">
                <a:latin typeface="Arial"/>
                <a:cs typeface="Arial"/>
              </a:rPr>
              <a:t>manually</a:t>
            </a:r>
            <a:r>
              <a:rPr sz="2200" b="1" spc="-70" dirty="0">
                <a:latin typeface="Arial"/>
                <a:cs typeface="Arial"/>
              </a:rPr>
              <a:t> </a:t>
            </a:r>
            <a:r>
              <a:rPr sz="2200" b="1" spc="-10" dirty="0">
                <a:latin typeface="Arial"/>
                <a:cs typeface="Arial"/>
              </a:rPr>
              <a:t>driven</a:t>
            </a:r>
            <a:endParaRPr sz="2200">
              <a:latin typeface="Arial"/>
              <a:cs typeface="Arial"/>
            </a:endParaRPr>
          </a:p>
          <a:p>
            <a:pPr marL="469265" indent="-396875">
              <a:lnSpc>
                <a:spcPct val="100000"/>
              </a:lnSpc>
              <a:spcBef>
                <a:spcPts val="2520"/>
              </a:spcBef>
              <a:buChar char="●"/>
              <a:tabLst>
                <a:tab pos="469265" algn="l"/>
              </a:tabLst>
            </a:pPr>
            <a:r>
              <a:rPr sz="2200" dirty="0">
                <a:latin typeface="Arial MT"/>
                <a:cs typeface="Arial MT"/>
              </a:rPr>
              <a:t>No</a:t>
            </a:r>
            <a:r>
              <a:rPr sz="2200" spc="-8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predictive</a:t>
            </a:r>
            <a:r>
              <a:rPr sz="2200" spc="-7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or</a:t>
            </a:r>
            <a:r>
              <a:rPr sz="2200" spc="-7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proactive</a:t>
            </a:r>
            <a:r>
              <a:rPr sz="2200" spc="-7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support</a:t>
            </a:r>
            <a:r>
              <a:rPr sz="2200" spc="-7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for</a:t>
            </a:r>
            <a:r>
              <a:rPr sz="2200" spc="-7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policymakers</a:t>
            </a:r>
            <a:endParaRPr sz="2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buFont typeface="Arial MT"/>
              <a:buChar char="●"/>
            </a:pPr>
            <a:endParaRPr sz="2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65"/>
              </a:spcBef>
              <a:buFont typeface="Arial MT"/>
              <a:buChar char="●"/>
            </a:pPr>
            <a:endParaRPr sz="2200">
              <a:latin typeface="Arial MT"/>
              <a:cs typeface="Arial MT"/>
            </a:endParaRPr>
          </a:p>
          <a:p>
            <a:pPr marL="139700">
              <a:lnSpc>
                <a:spcPct val="100000"/>
              </a:lnSpc>
            </a:pPr>
            <a:r>
              <a:rPr sz="3200" b="1" dirty="0">
                <a:latin typeface="Calibri"/>
                <a:cs typeface="Calibri"/>
              </a:rPr>
              <a:t>DECISION</a:t>
            </a:r>
            <a:r>
              <a:rPr sz="3200" b="1" spc="-90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MAKING</a:t>
            </a:r>
            <a:r>
              <a:rPr sz="3200" b="1" spc="-85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-</a:t>
            </a:r>
            <a:r>
              <a:rPr sz="3200" b="1" spc="-85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GAP</a:t>
            </a:r>
            <a:r>
              <a:rPr sz="3200" b="1" spc="-85" dirty="0">
                <a:latin typeface="Calibri"/>
                <a:cs typeface="Calibri"/>
              </a:rPr>
              <a:t> </a:t>
            </a:r>
            <a:r>
              <a:rPr sz="3200" b="1" spc="-50" dirty="0">
                <a:latin typeface="Calibri"/>
                <a:cs typeface="Calibri"/>
              </a:rPr>
              <a:t>:</a:t>
            </a:r>
            <a:endParaRPr sz="3200">
              <a:latin typeface="Calibri"/>
              <a:cs typeface="Calibri"/>
            </a:endParaRPr>
          </a:p>
          <a:p>
            <a:pPr marL="469900" marR="5080" indent="-397510">
              <a:lnSpc>
                <a:spcPct val="100000"/>
              </a:lnSpc>
              <a:spcBef>
                <a:spcPts val="2160"/>
              </a:spcBef>
              <a:buChar char="●"/>
              <a:tabLst>
                <a:tab pos="469900" algn="l"/>
              </a:tabLst>
            </a:pPr>
            <a:r>
              <a:rPr sz="2200" dirty="0">
                <a:latin typeface="Arial MT"/>
                <a:cs typeface="Arial MT"/>
              </a:rPr>
              <a:t>Absence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of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an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b="1" spc="-10" dirty="0">
                <a:latin typeface="Arial"/>
                <a:cs typeface="Arial"/>
              </a:rPr>
              <a:t>integrated,</a:t>
            </a:r>
            <a:r>
              <a:rPr sz="2200" b="1" spc="-40" dirty="0">
                <a:latin typeface="Arial"/>
                <a:cs typeface="Arial"/>
              </a:rPr>
              <a:t> </a:t>
            </a:r>
            <a:r>
              <a:rPr sz="2200" b="1" spc="-20" dirty="0">
                <a:latin typeface="Arial"/>
                <a:cs typeface="Arial"/>
              </a:rPr>
              <a:t>real-</a:t>
            </a:r>
            <a:r>
              <a:rPr sz="2200" b="1" dirty="0">
                <a:latin typeface="Arial"/>
                <a:cs typeface="Arial"/>
              </a:rPr>
              <a:t>time</a:t>
            </a:r>
            <a:r>
              <a:rPr sz="2200" b="1" spc="-35" dirty="0">
                <a:latin typeface="Arial"/>
                <a:cs typeface="Arial"/>
              </a:rPr>
              <a:t> </a:t>
            </a:r>
            <a:r>
              <a:rPr sz="2200" b="1" spc="-20" dirty="0">
                <a:latin typeface="Arial"/>
                <a:cs typeface="Arial"/>
              </a:rPr>
              <a:t>decision-</a:t>
            </a:r>
            <a:r>
              <a:rPr sz="2200" b="1" spc="-10" dirty="0">
                <a:latin typeface="Arial"/>
                <a:cs typeface="Arial"/>
              </a:rPr>
              <a:t>support system</a:t>
            </a:r>
            <a:endParaRPr sz="2200">
              <a:latin typeface="Arial"/>
              <a:cs typeface="Arial"/>
            </a:endParaRPr>
          </a:p>
          <a:p>
            <a:pPr marL="469265" indent="-396875">
              <a:lnSpc>
                <a:spcPct val="100000"/>
              </a:lnSpc>
              <a:spcBef>
                <a:spcPts val="1800"/>
              </a:spcBef>
              <a:buChar char="●"/>
              <a:tabLst>
                <a:tab pos="469265" algn="l"/>
              </a:tabLst>
            </a:pPr>
            <a:r>
              <a:rPr sz="2200" dirty="0">
                <a:latin typeface="Arial MT"/>
                <a:cs typeface="Arial MT"/>
              </a:rPr>
              <a:t>No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tools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to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b="1" dirty="0">
                <a:latin typeface="Arial"/>
                <a:cs typeface="Arial"/>
              </a:rPr>
              <a:t>predict</a:t>
            </a:r>
            <a:r>
              <a:rPr sz="2200" b="1" spc="-55" dirty="0">
                <a:latin typeface="Arial"/>
                <a:cs typeface="Arial"/>
              </a:rPr>
              <a:t> </a:t>
            </a:r>
            <a:r>
              <a:rPr sz="2200" b="1" spc="-25" dirty="0">
                <a:latin typeface="Arial"/>
                <a:cs typeface="Arial"/>
              </a:rPr>
              <a:t>short-</a:t>
            </a:r>
            <a:r>
              <a:rPr sz="2200" b="1" dirty="0">
                <a:latin typeface="Arial"/>
                <a:cs typeface="Arial"/>
              </a:rPr>
              <a:t>term</a:t>
            </a:r>
            <a:r>
              <a:rPr sz="2200" b="1" spc="-50" dirty="0">
                <a:latin typeface="Arial"/>
                <a:cs typeface="Arial"/>
              </a:rPr>
              <a:t> </a:t>
            </a:r>
            <a:r>
              <a:rPr sz="2200" b="1" dirty="0">
                <a:latin typeface="Arial"/>
                <a:cs typeface="Arial"/>
              </a:rPr>
              <a:t>pollution</a:t>
            </a:r>
            <a:r>
              <a:rPr sz="2200" b="1" spc="-55" dirty="0">
                <a:latin typeface="Arial"/>
                <a:cs typeface="Arial"/>
              </a:rPr>
              <a:t> </a:t>
            </a:r>
            <a:r>
              <a:rPr sz="2200" b="1" spc="-10" dirty="0">
                <a:latin typeface="Arial"/>
                <a:cs typeface="Arial"/>
              </a:rPr>
              <a:t>levels</a:t>
            </a:r>
            <a:endParaRPr sz="2200">
              <a:latin typeface="Arial"/>
              <a:cs typeface="Arial"/>
            </a:endParaRPr>
          </a:p>
          <a:p>
            <a:pPr marL="469900" marR="299720" indent="-397510">
              <a:lnSpc>
                <a:spcPct val="100000"/>
              </a:lnSpc>
              <a:spcBef>
                <a:spcPts val="1200"/>
              </a:spcBef>
              <a:buChar char="●"/>
              <a:tabLst>
                <a:tab pos="469900" algn="l"/>
              </a:tabLst>
            </a:pPr>
            <a:r>
              <a:rPr sz="2200" dirty="0">
                <a:latin typeface="Arial MT"/>
                <a:cs typeface="Arial MT"/>
              </a:rPr>
              <a:t>Lack</a:t>
            </a:r>
            <a:r>
              <a:rPr sz="2200" spc="-7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of</a:t>
            </a:r>
            <a:r>
              <a:rPr sz="2200" spc="-7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mechanisms</a:t>
            </a:r>
            <a:r>
              <a:rPr sz="2200" spc="-7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to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b="1" dirty="0">
                <a:latin typeface="Arial"/>
                <a:cs typeface="Arial"/>
              </a:rPr>
              <a:t>evaluate</a:t>
            </a:r>
            <a:r>
              <a:rPr sz="2200" b="1" spc="-70" dirty="0">
                <a:latin typeface="Arial"/>
                <a:cs typeface="Arial"/>
              </a:rPr>
              <a:t> </a:t>
            </a:r>
            <a:r>
              <a:rPr sz="2200" b="1" spc="-10" dirty="0">
                <a:latin typeface="Arial"/>
                <a:cs typeface="Arial"/>
              </a:rPr>
              <a:t>mitigation</a:t>
            </a:r>
            <a:r>
              <a:rPr sz="2200" b="1" spc="-70" dirty="0">
                <a:latin typeface="Arial"/>
                <a:cs typeface="Arial"/>
              </a:rPr>
              <a:t> </a:t>
            </a:r>
            <a:r>
              <a:rPr sz="2200" b="1" spc="-10" dirty="0">
                <a:latin typeface="Arial"/>
                <a:cs typeface="Arial"/>
              </a:rPr>
              <a:t>policies </a:t>
            </a:r>
            <a:r>
              <a:rPr sz="2200" b="1" dirty="0">
                <a:latin typeface="Arial"/>
                <a:cs typeface="Arial"/>
              </a:rPr>
              <a:t>before</a:t>
            </a:r>
            <a:r>
              <a:rPr sz="2200" b="1" spc="-100" dirty="0">
                <a:latin typeface="Arial"/>
                <a:cs typeface="Arial"/>
              </a:rPr>
              <a:t> </a:t>
            </a:r>
            <a:r>
              <a:rPr sz="2200" b="1" spc="-10" dirty="0">
                <a:latin typeface="Arial"/>
                <a:cs typeface="Arial"/>
              </a:rPr>
              <a:t>implementation</a:t>
            </a:r>
            <a:endParaRPr sz="2200">
              <a:latin typeface="Arial"/>
              <a:cs typeface="Arial"/>
            </a:endParaRPr>
          </a:p>
          <a:p>
            <a:pPr marL="469265" indent="-396875">
              <a:lnSpc>
                <a:spcPct val="100000"/>
              </a:lnSpc>
              <a:spcBef>
                <a:spcPts val="1080"/>
              </a:spcBef>
              <a:buChar char="●"/>
              <a:tabLst>
                <a:tab pos="469265" algn="l"/>
              </a:tabLst>
            </a:pPr>
            <a:r>
              <a:rPr sz="2200" dirty="0">
                <a:latin typeface="Arial MT"/>
                <a:cs typeface="Arial MT"/>
              </a:rPr>
              <a:t>Policy</a:t>
            </a:r>
            <a:r>
              <a:rPr sz="2200" spc="-7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actions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are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taken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b="1" dirty="0">
                <a:latin typeface="Arial"/>
                <a:cs typeface="Arial"/>
              </a:rPr>
              <a:t>without</a:t>
            </a:r>
            <a:r>
              <a:rPr sz="2200" b="1" spc="-60" dirty="0">
                <a:latin typeface="Arial"/>
                <a:cs typeface="Arial"/>
              </a:rPr>
              <a:t> </a:t>
            </a:r>
            <a:r>
              <a:rPr sz="2200" b="1" dirty="0">
                <a:latin typeface="Arial"/>
                <a:cs typeface="Arial"/>
              </a:rPr>
              <a:t>impact</a:t>
            </a:r>
            <a:r>
              <a:rPr sz="2200" b="1" spc="-60" dirty="0">
                <a:latin typeface="Arial"/>
                <a:cs typeface="Arial"/>
              </a:rPr>
              <a:t> </a:t>
            </a:r>
            <a:r>
              <a:rPr sz="2200" b="1" spc="-10" dirty="0">
                <a:latin typeface="Arial"/>
                <a:cs typeface="Arial"/>
              </a:rPr>
              <a:t>simulation</a:t>
            </a:r>
            <a:endParaRPr sz="2200">
              <a:latin typeface="Arial"/>
              <a:cs typeface="Arial"/>
            </a:endParaRPr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16803" y="2184699"/>
            <a:ext cx="1006650" cy="100664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28245" y="1590176"/>
            <a:ext cx="11527155" cy="0"/>
          </a:xfrm>
          <a:custGeom>
            <a:avLst/>
            <a:gdLst/>
            <a:ahLst/>
            <a:cxnLst/>
            <a:rect l="l" t="t" r="r" b="b"/>
            <a:pathLst>
              <a:path w="11527155">
                <a:moveTo>
                  <a:pt x="0" y="0"/>
                </a:moveTo>
                <a:lnTo>
                  <a:pt x="11526916" y="0"/>
                </a:lnTo>
              </a:path>
            </a:pathLst>
          </a:custGeom>
          <a:ln w="3809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1588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>
                <a:solidFill>
                  <a:srgbClr val="FFFFFF"/>
                </a:solidFill>
              </a:rPr>
              <a:t>PROPOSED</a:t>
            </a:r>
            <a:r>
              <a:rPr spc="-35" dirty="0">
                <a:solidFill>
                  <a:srgbClr val="FFFFFF"/>
                </a:solidFill>
              </a:rPr>
              <a:t> </a:t>
            </a:r>
            <a:r>
              <a:rPr spc="-10" dirty="0">
                <a:solidFill>
                  <a:srgbClr val="FFFFFF"/>
                </a:solidFill>
              </a:rPr>
              <a:t>SOLUTION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7650" y="2115900"/>
            <a:ext cx="9790549" cy="782547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25424" y="2100275"/>
            <a:ext cx="7433824" cy="386892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525424" y="6210050"/>
            <a:ext cx="7433824" cy="3731324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745499" y="2332491"/>
            <a:ext cx="9038590" cy="73526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96619">
              <a:lnSpc>
                <a:spcPct val="100000"/>
              </a:lnSpc>
              <a:spcBef>
                <a:spcPts val="100"/>
              </a:spcBef>
            </a:pPr>
            <a:r>
              <a:rPr sz="3700" b="1" spc="-10" dirty="0">
                <a:latin typeface="Calibri"/>
                <a:cs typeface="Calibri"/>
              </a:rPr>
              <a:t>SOLUTION</a:t>
            </a:r>
            <a:r>
              <a:rPr sz="3700" b="1" spc="-155" dirty="0">
                <a:latin typeface="Calibri"/>
                <a:cs typeface="Calibri"/>
              </a:rPr>
              <a:t> </a:t>
            </a:r>
            <a:r>
              <a:rPr sz="3700" b="1" spc="-10" dirty="0">
                <a:latin typeface="Calibri"/>
                <a:cs typeface="Calibri"/>
              </a:rPr>
              <a:t>OVERVIEW</a:t>
            </a:r>
            <a:endParaRPr sz="3700">
              <a:latin typeface="Calibri"/>
              <a:cs typeface="Calibri"/>
            </a:endParaRPr>
          </a:p>
          <a:p>
            <a:pPr marL="424815" marR="357505" indent="-412750">
              <a:lnSpc>
                <a:spcPct val="80000"/>
              </a:lnSpc>
              <a:spcBef>
                <a:spcPts val="2560"/>
              </a:spcBef>
              <a:buChar char="●"/>
              <a:tabLst>
                <a:tab pos="424815" algn="l"/>
              </a:tabLst>
            </a:pPr>
            <a:r>
              <a:rPr sz="2400" dirty="0">
                <a:latin typeface="Arial MT"/>
                <a:cs typeface="Arial MT"/>
              </a:rPr>
              <a:t>An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b="1" spc="-10" dirty="0">
                <a:latin typeface="Arial"/>
                <a:cs typeface="Arial"/>
              </a:rPr>
              <a:t>AI-</a:t>
            </a:r>
            <a:r>
              <a:rPr sz="2400" b="1" dirty="0">
                <a:latin typeface="Arial"/>
                <a:cs typeface="Arial"/>
              </a:rPr>
              <a:t>driven</a:t>
            </a:r>
            <a:r>
              <a:rPr sz="2400" b="1" spc="-5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Urban</a:t>
            </a:r>
            <a:r>
              <a:rPr sz="2400" b="1" spc="-5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Pollution</a:t>
            </a:r>
            <a:r>
              <a:rPr sz="2400" b="1" spc="-6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Decision</a:t>
            </a:r>
            <a:r>
              <a:rPr sz="2400" b="1" spc="-5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Engine</a:t>
            </a:r>
            <a:r>
              <a:rPr sz="2400" b="1" spc="15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designed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to </a:t>
            </a:r>
            <a:r>
              <a:rPr sz="2400" dirty="0">
                <a:latin typeface="Arial MT"/>
                <a:cs typeface="Arial MT"/>
              </a:rPr>
              <a:t>assist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city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authorities</a:t>
            </a:r>
            <a:endParaRPr sz="2400">
              <a:latin typeface="Arial MT"/>
              <a:cs typeface="Arial MT"/>
            </a:endParaRPr>
          </a:p>
          <a:p>
            <a:pPr marL="424815" marR="160020" indent="-412750">
              <a:lnSpc>
                <a:spcPts val="2300"/>
              </a:lnSpc>
              <a:spcBef>
                <a:spcPts val="2290"/>
              </a:spcBef>
              <a:buChar char="●"/>
              <a:tabLst>
                <a:tab pos="424815" algn="l"/>
              </a:tabLst>
            </a:pPr>
            <a:r>
              <a:rPr sz="2400" dirty="0">
                <a:latin typeface="Arial MT"/>
                <a:cs typeface="Arial MT"/>
              </a:rPr>
              <a:t>Combines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b="1" spc="-45" dirty="0">
                <a:latin typeface="Arial"/>
                <a:cs typeface="Arial"/>
              </a:rPr>
              <a:t>IoT-</a:t>
            </a:r>
            <a:r>
              <a:rPr sz="2400" b="1" dirty="0">
                <a:latin typeface="Arial"/>
                <a:cs typeface="Arial"/>
              </a:rPr>
              <a:t>based</a:t>
            </a:r>
            <a:r>
              <a:rPr sz="2400" b="1" spc="-55" dirty="0">
                <a:latin typeface="Arial"/>
                <a:cs typeface="Arial"/>
              </a:rPr>
              <a:t> </a:t>
            </a:r>
            <a:r>
              <a:rPr sz="2400" b="1" spc="-25" dirty="0">
                <a:latin typeface="Arial"/>
                <a:cs typeface="Arial"/>
              </a:rPr>
              <a:t>real-</a:t>
            </a:r>
            <a:r>
              <a:rPr sz="2400" b="1" dirty="0">
                <a:latin typeface="Arial"/>
                <a:cs typeface="Arial"/>
              </a:rPr>
              <a:t>time</a:t>
            </a:r>
            <a:r>
              <a:rPr sz="2400" b="1" spc="-5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air</a:t>
            </a:r>
            <a:r>
              <a:rPr sz="2400" b="1" spc="-5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quality</a:t>
            </a:r>
            <a:r>
              <a:rPr sz="2400" b="1" spc="-5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sensing</a:t>
            </a:r>
            <a:r>
              <a:rPr sz="2400" b="1" spc="-10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with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traffic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weather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data</a:t>
            </a:r>
            <a:endParaRPr sz="2400">
              <a:latin typeface="Arial MT"/>
              <a:cs typeface="Arial MT"/>
            </a:endParaRPr>
          </a:p>
          <a:p>
            <a:pPr marL="424815" marR="1177290" indent="-412750">
              <a:lnSpc>
                <a:spcPts val="2300"/>
              </a:lnSpc>
              <a:spcBef>
                <a:spcPts val="2310"/>
              </a:spcBef>
              <a:buChar char="●"/>
              <a:tabLst>
                <a:tab pos="424815" algn="l"/>
              </a:tabLst>
            </a:pPr>
            <a:r>
              <a:rPr sz="2400" dirty="0">
                <a:latin typeface="Arial MT"/>
                <a:cs typeface="Arial MT"/>
              </a:rPr>
              <a:t>Built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as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b="1" dirty="0">
                <a:latin typeface="Arial"/>
                <a:cs typeface="Arial"/>
              </a:rPr>
              <a:t>hardware</a:t>
            </a:r>
            <a:r>
              <a:rPr sz="2400" b="1" spc="-7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+</a:t>
            </a:r>
            <a:r>
              <a:rPr sz="2400" b="1" spc="-7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software</a:t>
            </a:r>
            <a:r>
              <a:rPr sz="2400" b="1" spc="-7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integrated</a:t>
            </a:r>
            <a:r>
              <a:rPr sz="2400" b="1" spc="-7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system</a:t>
            </a:r>
            <a:r>
              <a:rPr sz="2400" b="1" spc="-35" dirty="0">
                <a:latin typeface="Arial"/>
                <a:cs typeface="Arial"/>
              </a:rPr>
              <a:t> </a:t>
            </a:r>
            <a:r>
              <a:rPr sz="2400" spc="-25" dirty="0">
                <a:latin typeface="Arial MT"/>
                <a:cs typeface="Arial MT"/>
              </a:rPr>
              <a:t>for </a:t>
            </a:r>
            <a:r>
              <a:rPr sz="2400" spc="-20" dirty="0">
                <a:latin typeface="Arial MT"/>
                <a:cs typeface="Arial MT"/>
              </a:rPr>
              <a:t>smart-</a:t>
            </a:r>
            <a:r>
              <a:rPr sz="2400" dirty="0">
                <a:latin typeface="Arial MT"/>
                <a:cs typeface="Arial MT"/>
              </a:rPr>
              <a:t>city </a:t>
            </a:r>
            <a:r>
              <a:rPr sz="2400" spc="-10" dirty="0">
                <a:latin typeface="Arial MT"/>
                <a:cs typeface="Arial MT"/>
              </a:rPr>
              <a:t>environments</a:t>
            </a:r>
            <a:endParaRPr sz="2400">
              <a:latin typeface="Arial MT"/>
              <a:cs typeface="Arial MT"/>
            </a:endParaRPr>
          </a:p>
          <a:p>
            <a:pPr marL="424815" marR="593090" indent="-412750">
              <a:lnSpc>
                <a:spcPts val="2300"/>
              </a:lnSpc>
              <a:spcBef>
                <a:spcPts val="2315"/>
              </a:spcBef>
              <a:buChar char="●"/>
              <a:tabLst>
                <a:tab pos="424815" algn="l"/>
              </a:tabLst>
            </a:pPr>
            <a:r>
              <a:rPr sz="2400" dirty="0">
                <a:latin typeface="Arial MT"/>
                <a:cs typeface="Arial MT"/>
              </a:rPr>
              <a:t>Continuously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monitors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urban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conditions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using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b="1" dirty="0">
                <a:latin typeface="Arial"/>
                <a:cs typeface="Arial"/>
              </a:rPr>
              <a:t>low-cost</a:t>
            </a:r>
            <a:r>
              <a:rPr sz="2400" b="1" spc="-85" dirty="0">
                <a:latin typeface="Arial"/>
                <a:cs typeface="Arial"/>
              </a:rPr>
              <a:t> </a:t>
            </a:r>
            <a:r>
              <a:rPr sz="2400" b="1" spc="-25" dirty="0">
                <a:latin typeface="Arial"/>
                <a:cs typeface="Arial"/>
              </a:rPr>
              <a:t>IoT </a:t>
            </a:r>
            <a:r>
              <a:rPr sz="2400" b="1" dirty="0">
                <a:latin typeface="Arial"/>
                <a:cs typeface="Arial"/>
              </a:rPr>
              <a:t>sensor</a:t>
            </a:r>
            <a:r>
              <a:rPr sz="2400" b="1" spc="-110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nodes</a:t>
            </a:r>
            <a:endParaRPr sz="2400">
              <a:latin typeface="Arial"/>
              <a:cs typeface="Arial"/>
            </a:endParaRPr>
          </a:p>
          <a:p>
            <a:pPr marL="424815" marR="5080" indent="-412750">
              <a:lnSpc>
                <a:spcPct val="80000"/>
              </a:lnSpc>
              <a:spcBef>
                <a:spcPts val="2325"/>
              </a:spcBef>
              <a:buChar char="●"/>
              <a:tabLst>
                <a:tab pos="424815" algn="l"/>
              </a:tabLst>
            </a:pPr>
            <a:r>
              <a:rPr sz="2400" dirty="0">
                <a:latin typeface="Arial MT"/>
                <a:cs typeface="Arial MT"/>
              </a:rPr>
              <a:t>Applies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data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analytics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intelligence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b="1" dirty="0">
                <a:latin typeface="Arial"/>
                <a:cs typeface="Arial"/>
              </a:rPr>
              <a:t>understand</a:t>
            </a:r>
            <a:r>
              <a:rPr sz="2400" b="1" spc="-60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pollution dynamics</a:t>
            </a:r>
            <a:endParaRPr sz="2400">
              <a:latin typeface="Arial"/>
              <a:cs typeface="Arial"/>
            </a:endParaRPr>
          </a:p>
          <a:p>
            <a:pPr marL="424815" indent="-412115">
              <a:lnSpc>
                <a:spcPct val="100000"/>
              </a:lnSpc>
              <a:spcBef>
                <a:spcPts val="1730"/>
              </a:spcBef>
              <a:buChar char="●"/>
              <a:tabLst>
                <a:tab pos="424815" algn="l"/>
              </a:tabLst>
            </a:pPr>
            <a:r>
              <a:rPr sz="2400" dirty="0">
                <a:latin typeface="Arial MT"/>
                <a:cs typeface="Arial MT"/>
              </a:rPr>
              <a:t>Converts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raw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sensor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data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into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b="1" dirty="0">
                <a:latin typeface="Arial"/>
                <a:cs typeface="Arial"/>
              </a:rPr>
              <a:t>actionable,</a:t>
            </a:r>
            <a:r>
              <a:rPr sz="2400" b="1" spc="-65" dirty="0">
                <a:latin typeface="Arial"/>
                <a:cs typeface="Arial"/>
              </a:rPr>
              <a:t> </a:t>
            </a:r>
            <a:r>
              <a:rPr sz="2400" b="1" spc="-20" dirty="0">
                <a:latin typeface="Arial"/>
                <a:cs typeface="Arial"/>
              </a:rPr>
              <a:t>city-</a:t>
            </a:r>
            <a:r>
              <a:rPr sz="2400" b="1" dirty="0">
                <a:latin typeface="Arial"/>
                <a:cs typeface="Arial"/>
              </a:rPr>
              <a:t>level</a:t>
            </a:r>
            <a:r>
              <a:rPr sz="2400" b="1" spc="-70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insights</a:t>
            </a:r>
            <a:endParaRPr sz="2400">
              <a:latin typeface="Arial"/>
              <a:cs typeface="Arial"/>
            </a:endParaRPr>
          </a:p>
          <a:p>
            <a:pPr marL="424815" marR="643890" indent="-412750">
              <a:lnSpc>
                <a:spcPct val="80000"/>
              </a:lnSpc>
              <a:spcBef>
                <a:spcPts val="2305"/>
              </a:spcBef>
              <a:buChar char="●"/>
              <a:tabLst>
                <a:tab pos="424815" algn="l"/>
              </a:tabLst>
            </a:pPr>
            <a:r>
              <a:rPr sz="2400" dirty="0">
                <a:latin typeface="Arial MT"/>
                <a:cs typeface="Arial MT"/>
              </a:rPr>
              <a:t>Enables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b="1" spc="-10" dirty="0">
                <a:latin typeface="Arial"/>
                <a:cs typeface="Arial"/>
              </a:rPr>
              <a:t>timely,</a:t>
            </a:r>
            <a:r>
              <a:rPr sz="2400" b="1" spc="-6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informed,</a:t>
            </a:r>
            <a:r>
              <a:rPr sz="2400" b="1" spc="-6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and</a:t>
            </a:r>
            <a:r>
              <a:rPr sz="2400" b="1" spc="-65" dirty="0">
                <a:latin typeface="Arial"/>
                <a:cs typeface="Arial"/>
              </a:rPr>
              <a:t> </a:t>
            </a:r>
            <a:r>
              <a:rPr sz="2400" b="1" spc="-25" dirty="0">
                <a:latin typeface="Arial"/>
                <a:cs typeface="Arial"/>
              </a:rPr>
              <a:t>evidence-</a:t>
            </a:r>
            <a:r>
              <a:rPr sz="2400" b="1" dirty="0">
                <a:latin typeface="Arial"/>
                <a:cs typeface="Arial"/>
              </a:rPr>
              <a:t>based</a:t>
            </a:r>
            <a:r>
              <a:rPr sz="2400" b="1" spc="-70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pollution </a:t>
            </a:r>
            <a:r>
              <a:rPr sz="2400" b="1" dirty="0">
                <a:latin typeface="Arial"/>
                <a:cs typeface="Arial"/>
              </a:rPr>
              <a:t>mitigation</a:t>
            </a:r>
            <a:r>
              <a:rPr sz="2400" b="1" spc="-50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decisions</a:t>
            </a:r>
            <a:endParaRPr sz="2400">
              <a:latin typeface="Arial"/>
              <a:cs typeface="Arial"/>
            </a:endParaRPr>
          </a:p>
          <a:p>
            <a:pPr marL="424815" marR="108585" indent="-412750">
              <a:lnSpc>
                <a:spcPct val="80000"/>
              </a:lnSpc>
              <a:spcBef>
                <a:spcPts val="2300"/>
              </a:spcBef>
              <a:buChar char="●"/>
              <a:tabLst>
                <a:tab pos="424815" algn="l"/>
              </a:tabLst>
            </a:pPr>
            <a:r>
              <a:rPr sz="2400" dirty="0">
                <a:latin typeface="Arial MT"/>
                <a:cs typeface="Arial MT"/>
              </a:rPr>
              <a:t>Designed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b="1" dirty="0">
                <a:latin typeface="Arial"/>
                <a:cs typeface="Arial"/>
              </a:rPr>
              <a:t>scalable</a:t>
            </a:r>
            <a:r>
              <a:rPr sz="2400" b="1" spc="-7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and</a:t>
            </a:r>
            <a:r>
              <a:rPr sz="2400" b="1" spc="-6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adaptable</a:t>
            </a:r>
            <a:r>
              <a:rPr sz="2400" b="1" spc="-55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across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different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urban </a:t>
            </a:r>
            <a:r>
              <a:rPr sz="2400" dirty="0">
                <a:latin typeface="Arial MT"/>
                <a:cs typeface="Arial MT"/>
              </a:rPr>
              <a:t>zones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cities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585634" y="1960004"/>
            <a:ext cx="7235825" cy="7801609"/>
          </a:xfrm>
          <a:prstGeom prst="rect">
            <a:avLst/>
          </a:prstGeom>
        </p:spPr>
        <p:txBody>
          <a:bodyPr vert="horz" wrap="square" lIns="0" tIns="225425" rIns="0" bIns="0" rtlCol="0">
            <a:spAutoFit/>
          </a:bodyPr>
          <a:lstStyle/>
          <a:p>
            <a:pPr marL="773430">
              <a:lnSpc>
                <a:spcPct val="100000"/>
              </a:lnSpc>
              <a:spcBef>
                <a:spcPts val="1775"/>
              </a:spcBef>
            </a:pPr>
            <a:r>
              <a:rPr sz="3200" b="1" spc="-10" dirty="0">
                <a:latin typeface="Calibri"/>
                <a:cs typeface="Calibri"/>
              </a:rPr>
              <a:t>HIGH-</a:t>
            </a:r>
            <a:r>
              <a:rPr sz="3200" b="1" dirty="0">
                <a:latin typeface="Calibri"/>
                <a:cs typeface="Calibri"/>
              </a:rPr>
              <a:t>LEVEL</a:t>
            </a:r>
            <a:r>
              <a:rPr sz="3200" b="1" spc="-85" dirty="0">
                <a:latin typeface="Calibri"/>
                <a:cs typeface="Calibri"/>
              </a:rPr>
              <a:t> </a:t>
            </a:r>
            <a:r>
              <a:rPr sz="3200" b="1" spc="-10" dirty="0">
                <a:latin typeface="Calibri"/>
                <a:cs typeface="Calibri"/>
              </a:rPr>
              <a:t>SYSTEM</a:t>
            </a:r>
            <a:r>
              <a:rPr sz="3200" b="1" spc="-80" dirty="0">
                <a:latin typeface="Calibri"/>
                <a:cs typeface="Calibri"/>
              </a:rPr>
              <a:t> </a:t>
            </a:r>
            <a:r>
              <a:rPr sz="3200" b="1" spc="-10" dirty="0">
                <a:latin typeface="Calibri"/>
                <a:cs typeface="Calibri"/>
              </a:rPr>
              <a:t>APPROACH:</a:t>
            </a:r>
            <a:endParaRPr sz="3200">
              <a:latin typeface="Calibri"/>
              <a:cs typeface="Calibri"/>
            </a:endParaRPr>
          </a:p>
          <a:p>
            <a:pPr marL="482600" marR="435609" indent="-374650">
              <a:lnSpc>
                <a:spcPts val="1820"/>
              </a:lnSpc>
              <a:spcBef>
                <a:spcPts val="1435"/>
              </a:spcBef>
              <a:buChar char="●"/>
              <a:tabLst>
                <a:tab pos="482600" algn="l"/>
              </a:tabLst>
            </a:pPr>
            <a:r>
              <a:rPr sz="1900" dirty="0">
                <a:latin typeface="Arial MT"/>
                <a:cs typeface="Arial MT"/>
              </a:rPr>
              <a:t>IoT</a:t>
            </a:r>
            <a:r>
              <a:rPr sz="1900" spc="-10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sensors</a:t>
            </a:r>
            <a:r>
              <a:rPr sz="1900" spc="-6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continuously</a:t>
            </a:r>
            <a:r>
              <a:rPr sz="1900" spc="-7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capture</a:t>
            </a:r>
            <a:r>
              <a:rPr sz="1900" spc="-60" dirty="0">
                <a:latin typeface="Arial MT"/>
                <a:cs typeface="Arial MT"/>
              </a:rPr>
              <a:t> </a:t>
            </a:r>
            <a:r>
              <a:rPr sz="1900" b="1" spc="-20" dirty="0">
                <a:latin typeface="Arial"/>
                <a:cs typeface="Arial"/>
              </a:rPr>
              <a:t>real-</a:t>
            </a:r>
            <a:r>
              <a:rPr sz="1900" b="1" dirty="0">
                <a:latin typeface="Arial"/>
                <a:cs typeface="Arial"/>
              </a:rPr>
              <a:t>time</a:t>
            </a:r>
            <a:r>
              <a:rPr sz="1900" b="1" spc="-70" dirty="0">
                <a:latin typeface="Arial"/>
                <a:cs typeface="Arial"/>
              </a:rPr>
              <a:t> </a:t>
            </a:r>
            <a:r>
              <a:rPr sz="1900" b="1" dirty="0">
                <a:latin typeface="Arial"/>
                <a:cs typeface="Arial"/>
              </a:rPr>
              <a:t>air</a:t>
            </a:r>
            <a:r>
              <a:rPr sz="1900" b="1" spc="-70" dirty="0">
                <a:latin typeface="Arial"/>
                <a:cs typeface="Arial"/>
              </a:rPr>
              <a:t> </a:t>
            </a:r>
            <a:r>
              <a:rPr sz="1900" b="1" dirty="0">
                <a:latin typeface="Arial"/>
                <a:cs typeface="Arial"/>
              </a:rPr>
              <a:t>quality</a:t>
            </a:r>
            <a:r>
              <a:rPr sz="1900" b="1" spc="-70" dirty="0">
                <a:latin typeface="Arial"/>
                <a:cs typeface="Arial"/>
              </a:rPr>
              <a:t> </a:t>
            </a:r>
            <a:r>
              <a:rPr sz="1900" b="1" spc="-25" dirty="0">
                <a:latin typeface="Arial"/>
                <a:cs typeface="Arial"/>
              </a:rPr>
              <a:t>and </a:t>
            </a:r>
            <a:r>
              <a:rPr sz="1900" b="1" dirty="0">
                <a:latin typeface="Arial"/>
                <a:cs typeface="Arial"/>
              </a:rPr>
              <a:t>weather</a:t>
            </a:r>
            <a:r>
              <a:rPr sz="1900" b="1" spc="-110" dirty="0">
                <a:latin typeface="Arial"/>
                <a:cs typeface="Arial"/>
              </a:rPr>
              <a:t> </a:t>
            </a:r>
            <a:r>
              <a:rPr sz="1900" b="1" spc="-20" dirty="0">
                <a:latin typeface="Arial"/>
                <a:cs typeface="Arial"/>
              </a:rPr>
              <a:t>data</a:t>
            </a:r>
            <a:endParaRPr sz="1900">
              <a:latin typeface="Arial"/>
              <a:cs typeface="Arial"/>
            </a:endParaRPr>
          </a:p>
          <a:p>
            <a:pPr marL="482600" marR="1049655" indent="-374650">
              <a:lnSpc>
                <a:spcPct val="80000"/>
              </a:lnSpc>
              <a:spcBef>
                <a:spcPts val="1845"/>
              </a:spcBef>
              <a:buChar char="●"/>
              <a:tabLst>
                <a:tab pos="482600" algn="l"/>
              </a:tabLst>
            </a:pPr>
            <a:r>
              <a:rPr sz="1900" dirty="0">
                <a:latin typeface="Arial MT"/>
                <a:cs typeface="Arial MT"/>
              </a:rPr>
              <a:t>External</a:t>
            </a:r>
            <a:r>
              <a:rPr sz="1900" spc="-8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data</a:t>
            </a:r>
            <a:r>
              <a:rPr sz="1900" spc="-8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sources</a:t>
            </a:r>
            <a:r>
              <a:rPr sz="1900" spc="-8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provide</a:t>
            </a:r>
            <a:r>
              <a:rPr sz="1900" spc="-75" dirty="0">
                <a:latin typeface="Arial MT"/>
                <a:cs typeface="Arial MT"/>
              </a:rPr>
              <a:t> </a:t>
            </a:r>
            <a:r>
              <a:rPr sz="1900" b="1" dirty="0">
                <a:latin typeface="Arial"/>
                <a:cs typeface="Arial"/>
              </a:rPr>
              <a:t>traffic</a:t>
            </a:r>
            <a:r>
              <a:rPr sz="1900" b="1" spc="-75" dirty="0">
                <a:latin typeface="Arial"/>
                <a:cs typeface="Arial"/>
              </a:rPr>
              <a:t> </a:t>
            </a:r>
            <a:r>
              <a:rPr sz="1900" b="1" dirty="0">
                <a:latin typeface="Arial"/>
                <a:cs typeface="Arial"/>
              </a:rPr>
              <a:t>and</a:t>
            </a:r>
            <a:r>
              <a:rPr sz="1900" b="1" spc="-80" dirty="0">
                <a:latin typeface="Arial"/>
                <a:cs typeface="Arial"/>
              </a:rPr>
              <a:t> </a:t>
            </a:r>
            <a:r>
              <a:rPr sz="1900" b="1" spc="-10" dirty="0">
                <a:latin typeface="Arial"/>
                <a:cs typeface="Arial"/>
              </a:rPr>
              <a:t>contextual information</a:t>
            </a:r>
            <a:endParaRPr sz="1900">
              <a:latin typeface="Arial"/>
              <a:cs typeface="Arial"/>
            </a:endParaRPr>
          </a:p>
          <a:p>
            <a:pPr marL="482600" indent="-374650">
              <a:lnSpc>
                <a:spcPct val="100000"/>
              </a:lnSpc>
              <a:spcBef>
                <a:spcPts val="1370"/>
              </a:spcBef>
              <a:buChar char="●"/>
              <a:tabLst>
                <a:tab pos="482600" algn="l"/>
              </a:tabLst>
            </a:pPr>
            <a:r>
              <a:rPr sz="1900" spc="-10" dirty="0">
                <a:latin typeface="Arial MT"/>
                <a:cs typeface="Arial MT"/>
              </a:rPr>
              <a:t>Intelligent</a:t>
            </a:r>
            <a:r>
              <a:rPr sz="1900" spc="-6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analytics</a:t>
            </a:r>
            <a:r>
              <a:rPr sz="1900" spc="-6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process</a:t>
            </a:r>
            <a:r>
              <a:rPr sz="1900" spc="-6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incoming</a:t>
            </a:r>
            <a:r>
              <a:rPr sz="1900" spc="-6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data</a:t>
            </a:r>
            <a:r>
              <a:rPr sz="1900" spc="-6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streams</a:t>
            </a:r>
            <a:r>
              <a:rPr sz="1900" spc="-6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in</a:t>
            </a:r>
            <a:r>
              <a:rPr sz="1900" spc="-6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real</a:t>
            </a:r>
            <a:r>
              <a:rPr sz="1900" spc="-65" dirty="0">
                <a:latin typeface="Arial MT"/>
                <a:cs typeface="Arial MT"/>
              </a:rPr>
              <a:t> </a:t>
            </a:r>
            <a:r>
              <a:rPr sz="1900" spc="-20" dirty="0">
                <a:latin typeface="Arial MT"/>
                <a:cs typeface="Arial MT"/>
              </a:rPr>
              <a:t>time</a:t>
            </a:r>
            <a:endParaRPr sz="1900">
              <a:latin typeface="Arial MT"/>
              <a:cs typeface="Arial MT"/>
            </a:endParaRPr>
          </a:p>
          <a:p>
            <a:pPr marL="482600" marR="314325" indent="-374650">
              <a:lnSpc>
                <a:spcPts val="1820"/>
              </a:lnSpc>
              <a:spcBef>
                <a:spcPts val="1810"/>
              </a:spcBef>
              <a:buChar char="●"/>
              <a:tabLst>
                <a:tab pos="482600" algn="l"/>
              </a:tabLst>
            </a:pPr>
            <a:r>
              <a:rPr sz="1900" spc="-10" dirty="0">
                <a:latin typeface="Arial MT"/>
                <a:cs typeface="Arial MT"/>
              </a:rPr>
              <a:t>Short-</a:t>
            </a:r>
            <a:r>
              <a:rPr sz="1900" dirty="0">
                <a:latin typeface="Arial MT"/>
                <a:cs typeface="Arial MT"/>
              </a:rPr>
              <a:t>term</a:t>
            </a:r>
            <a:r>
              <a:rPr sz="1900" spc="-7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pollution</a:t>
            </a:r>
            <a:r>
              <a:rPr sz="1900" spc="-7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levels</a:t>
            </a:r>
            <a:r>
              <a:rPr sz="1900" spc="-7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are</a:t>
            </a:r>
            <a:r>
              <a:rPr sz="1900" spc="-65" dirty="0">
                <a:latin typeface="Arial MT"/>
                <a:cs typeface="Arial MT"/>
              </a:rPr>
              <a:t> </a:t>
            </a:r>
            <a:r>
              <a:rPr sz="1900" b="1" dirty="0">
                <a:latin typeface="Arial"/>
                <a:cs typeface="Arial"/>
              </a:rPr>
              <a:t>predicted</a:t>
            </a:r>
            <a:r>
              <a:rPr sz="1900" b="1" spc="-70" dirty="0">
                <a:latin typeface="Arial"/>
                <a:cs typeface="Arial"/>
              </a:rPr>
              <a:t> </a:t>
            </a:r>
            <a:r>
              <a:rPr sz="1900" b="1" dirty="0">
                <a:latin typeface="Arial"/>
                <a:cs typeface="Arial"/>
              </a:rPr>
              <a:t>using</a:t>
            </a:r>
            <a:r>
              <a:rPr sz="1900" b="1" spc="-70" dirty="0">
                <a:latin typeface="Arial"/>
                <a:cs typeface="Arial"/>
              </a:rPr>
              <a:t> </a:t>
            </a:r>
            <a:r>
              <a:rPr sz="1900" b="1" spc="-20" dirty="0">
                <a:latin typeface="Arial"/>
                <a:cs typeface="Arial"/>
              </a:rPr>
              <a:t>data-</a:t>
            </a:r>
            <a:r>
              <a:rPr sz="1900" b="1" spc="-10" dirty="0">
                <a:latin typeface="Arial"/>
                <a:cs typeface="Arial"/>
              </a:rPr>
              <a:t>driven models</a:t>
            </a:r>
            <a:endParaRPr sz="1900">
              <a:latin typeface="Arial"/>
              <a:cs typeface="Arial"/>
            </a:endParaRPr>
          </a:p>
          <a:p>
            <a:pPr marL="482600" marR="5080" indent="-374650">
              <a:lnSpc>
                <a:spcPct val="80000"/>
              </a:lnSpc>
              <a:spcBef>
                <a:spcPts val="1845"/>
              </a:spcBef>
              <a:buChar char="●"/>
              <a:tabLst>
                <a:tab pos="482600" algn="l"/>
              </a:tabLst>
            </a:pPr>
            <a:r>
              <a:rPr sz="1900" dirty="0">
                <a:latin typeface="Arial MT"/>
                <a:cs typeface="Arial MT"/>
              </a:rPr>
              <a:t>System</a:t>
            </a:r>
            <a:r>
              <a:rPr sz="1900" spc="-7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logic</a:t>
            </a:r>
            <a:r>
              <a:rPr sz="1900" spc="-7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evaluates</a:t>
            </a:r>
            <a:r>
              <a:rPr sz="1900" spc="-7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conditions</a:t>
            </a:r>
            <a:r>
              <a:rPr sz="1900" spc="-7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to</a:t>
            </a:r>
            <a:r>
              <a:rPr sz="1900" spc="-75" dirty="0">
                <a:latin typeface="Arial MT"/>
                <a:cs typeface="Arial MT"/>
              </a:rPr>
              <a:t> </a:t>
            </a:r>
            <a:r>
              <a:rPr sz="1900" b="1" dirty="0">
                <a:latin typeface="Arial"/>
                <a:cs typeface="Arial"/>
              </a:rPr>
              <a:t>identify</a:t>
            </a:r>
            <a:r>
              <a:rPr sz="1900" b="1" spc="-75" dirty="0">
                <a:latin typeface="Arial"/>
                <a:cs typeface="Arial"/>
              </a:rPr>
              <a:t> </a:t>
            </a:r>
            <a:r>
              <a:rPr sz="1900" b="1" dirty="0">
                <a:latin typeface="Arial"/>
                <a:cs typeface="Arial"/>
              </a:rPr>
              <a:t>critical</a:t>
            </a:r>
            <a:r>
              <a:rPr sz="1900" b="1" spc="-75" dirty="0">
                <a:latin typeface="Arial"/>
                <a:cs typeface="Arial"/>
              </a:rPr>
              <a:t> </a:t>
            </a:r>
            <a:r>
              <a:rPr sz="1900" b="1" spc="-10" dirty="0">
                <a:latin typeface="Arial"/>
                <a:cs typeface="Arial"/>
              </a:rPr>
              <a:t>pollution scenarios</a:t>
            </a:r>
            <a:endParaRPr sz="1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775"/>
              </a:spcBef>
            </a:pPr>
            <a:endParaRPr sz="1900">
              <a:latin typeface="Arial"/>
              <a:cs typeface="Arial"/>
            </a:endParaRPr>
          </a:p>
          <a:p>
            <a:pPr marL="584200">
              <a:lnSpc>
                <a:spcPct val="100000"/>
              </a:lnSpc>
              <a:spcBef>
                <a:spcPts val="5"/>
              </a:spcBef>
            </a:pPr>
            <a:r>
              <a:rPr sz="3200" b="1" dirty="0">
                <a:latin typeface="Calibri"/>
                <a:cs typeface="Calibri"/>
              </a:rPr>
              <a:t>DECISION</a:t>
            </a:r>
            <a:r>
              <a:rPr sz="3200" b="1" spc="-105" dirty="0">
                <a:latin typeface="Calibri"/>
                <a:cs typeface="Calibri"/>
              </a:rPr>
              <a:t> </a:t>
            </a:r>
            <a:r>
              <a:rPr sz="3200" b="1" spc="-10" dirty="0">
                <a:latin typeface="Calibri"/>
                <a:cs typeface="Calibri"/>
              </a:rPr>
              <a:t>INTELLIGENCE</a:t>
            </a:r>
            <a:r>
              <a:rPr sz="3200" b="1" spc="-105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&amp;</a:t>
            </a:r>
            <a:r>
              <a:rPr sz="3200" b="1" spc="-100" dirty="0">
                <a:latin typeface="Calibri"/>
                <a:cs typeface="Calibri"/>
              </a:rPr>
              <a:t> </a:t>
            </a:r>
            <a:r>
              <a:rPr sz="3200" b="1" spc="-10" dirty="0">
                <a:latin typeface="Calibri"/>
                <a:cs typeface="Calibri"/>
              </a:rPr>
              <a:t>OUTCOMES:</a:t>
            </a:r>
            <a:endParaRPr sz="3200">
              <a:latin typeface="Calibri"/>
              <a:cs typeface="Calibri"/>
            </a:endParaRPr>
          </a:p>
          <a:p>
            <a:pPr marL="386715" indent="-374015">
              <a:lnSpc>
                <a:spcPct val="100000"/>
              </a:lnSpc>
              <a:spcBef>
                <a:spcPts val="1400"/>
              </a:spcBef>
              <a:buChar char="●"/>
              <a:tabLst>
                <a:tab pos="386715" algn="l"/>
              </a:tabLst>
            </a:pPr>
            <a:r>
              <a:rPr sz="1900" dirty="0">
                <a:latin typeface="Arial MT"/>
                <a:cs typeface="Arial MT"/>
              </a:rPr>
              <a:t>Recommends</a:t>
            </a:r>
            <a:r>
              <a:rPr sz="1900" spc="-85" dirty="0">
                <a:latin typeface="Arial MT"/>
                <a:cs typeface="Arial MT"/>
              </a:rPr>
              <a:t> </a:t>
            </a:r>
            <a:r>
              <a:rPr sz="1900" b="1" spc="-20" dirty="0">
                <a:latin typeface="Arial"/>
                <a:cs typeface="Arial"/>
              </a:rPr>
              <a:t>context-</a:t>
            </a:r>
            <a:r>
              <a:rPr sz="1900" b="1" dirty="0">
                <a:latin typeface="Arial"/>
                <a:cs typeface="Arial"/>
              </a:rPr>
              <a:t>aware</a:t>
            </a:r>
            <a:r>
              <a:rPr sz="1900" b="1" spc="-80" dirty="0">
                <a:latin typeface="Arial"/>
                <a:cs typeface="Arial"/>
              </a:rPr>
              <a:t> </a:t>
            </a:r>
            <a:r>
              <a:rPr sz="1900" b="1" dirty="0">
                <a:latin typeface="Arial"/>
                <a:cs typeface="Arial"/>
              </a:rPr>
              <a:t>pollution</a:t>
            </a:r>
            <a:r>
              <a:rPr sz="1900" b="1" spc="-80" dirty="0">
                <a:latin typeface="Arial"/>
                <a:cs typeface="Arial"/>
              </a:rPr>
              <a:t> </a:t>
            </a:r>
            <a:r>
              <a:rPr sz="1900" b="1" spc="-10" dirty="0">
                <a:latin typeface="Arial"/>
                <a:cs typeface="Arial"/>
              </a:rPr>
              <a:t>mitigation</a:t>
            </a:r>
            <a:r>
              <a:rPr sz="1900" b="1" spc="-80" dirty="0">
                <a:latin typeface="Arial"/>
                <a:cs typeface="Arial"/>
              </a:rPr>
              <a:t> </a:t>
            </a:r>
            <a:r>
              <a:rPr sz="1900" b="1" spc="-10" dirty="0">
                <a:latin typeface="Arial"/>
                <a:cs typeface="Arial"/>
              </a:rPr>
              <a:t>actions</a:t>
            </a:r>
            <a:endParaRPr sz="1900">
              <a:latin typeface="Arial"/>
              <a:cs typeface="Arial"/>
            </a:endParaRPr>
          </a:p>
          <a:p>
            <a:pPr marL="386715" marR="311785" indent="-374650">
              <a:lnSpc>
                <a:spcPts val="1820"/>
              </a:lnSpc>
              <a:spcBef>
                <a:spcPts val="1810"/>
              </a:spcBef>
              <a:buChar char="●"/>
              <a:tabLst>
                <a:tab pos="386715" algn="l"/>
              </a:tabLst>
            </a:pPr>
            <a:r>
              <a:rPr sz="1900" dirty="0">
                <a:latin typeface="Arial MT"/>
                <a:cs typeface="Arial MT"/>
              </a:rPr>
              <a:t>Supports</a:t>
            </a:r>
            <a:r>
              <a:rPr sz="1900" spc="-80" dirty="0">
                <a:latin typeface="Arial MT"/>
                <a:cs typeface="Arial MT"/>
              </a:rPr>
              <a:t> </a:t>
            </a:r>
            <a:r>
              <a:rPr sz="1900" b="1" dirty="0">
                <a:latin typeface="Arial"/>
                <a:cs typeface="Arial"/>
              </a:rPr>
              <a:t>policy</a:t>
            </a:r>
            <a:r>
              <a:rPr sz="1900" b="1" spc="-80" dirty="0">
                <a:latin typeface="Arial"/>
                <a:cs typeface="Arial"/>
              </a:rPr>
              <a:t> </a:t>
            </a:r>
            <a:r>
              <a:rPr sz="1900" b="1" spc="-10" dirty="0">
                <a:latin typeface="Arial"/>
                <a:cs typeface="Arial"/>
              </a:rPr>
              <a:t>comparison</a:t>
            </a:r>
            <a:r>
              <a:rPr sz="1900" b="1" spc="-80" dirty="0">
                <a:latin typeface="Arial"/>
                <a:cs typeface="Arial"/>
              </a:rPr>
              <a:t> </a:t>
            </a:r>
            <a:r>
              <a:rPr sz="1900" b="1" dirty="0">
                <a:latin typeface="Arial"/>
                <a:cs typeface="Arial"/>
              </a:rPr>
              <a:t>and</a:t>
            </a:r>
            <a:r>
              <a:rPr sz="1900" b="1" spc="-80" dirty="0">
                <a:latin typeface="Arial"/>
                <a:cs typeface="Arial"/>
              </a:rPr>
              <a:t> </a:t>
            </a:r>
            <a:r>
              <a:rPr sz="1900" b="1" dirty="0">
                <a:latin typeface="Arial"/>
                <a:cs typeface="Arial"/>
              </a:rPr>
              <a:t>impact</a:t>
            </a:r>
            <a:r>
              <a:rPr sz="1900" b="1" spc="-80" dirty="0">
                <a:latin typeface="Arial"/>
                <a:cs typeface="Arial"/>
              </a:rPr>
              <a:t> </a:t>
            </a:r>
            <a:r>
              <a:rPr sz="1900" b="1" dirty="0">
                <a:latin typeface="Arial"/>
                <a:cs typeface="Arial"/>
              </a:rPr>
              <a:t>estimation</a:t>
            </a:r>
            <a:r>
              <a:rPr sz="1900" b="1" spc="-50" dirty="0">
                <a:latin typeface="Arial"/>
                <a:cs typeface="Arial"/>
              </a:rPr>
              <a:t> </a:t>
            </a:r>
            <a:r>
              <a:rPr sz="1900" spc="-10" dirty="0">
                <a:latin typeface="Arial MT"/>
                <a:cs typeface="Arial MT"/>
              </a:rPr>
              <a:t>before execution</a:t>
            </a:r>
            <a:endParaRPr sz="1900">
              <a:latin typeface="Arial MT"/>
              <a:cs typeface="Arial MT"/>
            </a:endParaRPr>
          </a:p>
          <a:p>
            <a:pPr marL="386715" marR="835025" indent="-374650">
              <a:lnSpc>
                <a:spcPts val="1820"/>
              </a:lnSpc>
              <a:spcBef>
                <a:spcPts val="1835"/>
              </a:spcBef>
              <a:buChar char="●"/>
              <a:tabLst>
                <a:tab pos="386715" algn="l"/>
              </a:tabLst>
            </a:pPr>
            <a:r>
              <a:rPr sz="1900" dirty="0">
                <a:latin typeface="Arial MT"/>
                <a:cs typeface="Arial MT"/>
              </a:rPr>
              <a:t>Enables</a:t>
            </a:r>
            <a:r>
              <a:rPr sz="1900" spc="-75" dirty="0">
                <a:latin typeface="Arial MT"/>
                <a:cs typeface="Arial MT"/>
              </a:rPr>
              <a:t> </a:t>
            </a:r>
            <a:r>
              <a:rPr sz="1900" b="1" dirty="0">
                <a:latin typeface="Arial"/>
                <a:cs typeface="Arial"/>
              </a:rPr>
              <a:t>proactive</a:t>
            </a:r>
            <a:r>
              <a:rPr sz="1900" b="1" spc="-75" dirty="0">
                <a:latin typeface="Arial"/>
                <a:cs typeface="Arial"/>
              </a:rPr>
              <a:t> </a:t>
            </a:r>
            <a:r>
              <a:rPr sz="1900" b="1" spc="-20" dirty="0">
                <a:latin typeface="Arial"/>
                <a:cs typeface="Arial"/>
              </a:rPr>
              <a:t>decision-</a:t>
            </a:r>
            <a:r>
              <a:rPr sz="1900" b="1" dirty="0">
                <a:latin typeface="Arial"/>
                <a:cs typeface="Arial"/>
              </a:rPr>
              <a:t>making</a:t>
            </a:r>
            <a:r>
              <a:rPr sz="1900" b="1" spc="-50" dirty="0">
                <a:latin typeface="Arial"/>
                <a:cs typeface="Arial"/>
              </a:rPr>
              <a:t> </a:t>
            </a:r>
            <a:r>
              <a:rPr sz="1900" dirty="0">
                <a:latin typeface="Arial MT"/>
                <a:cs typeface="Arial MT"/>
              </a:rPr>
              <a:t>instead</a:t>
            </a:r>
            <a:r>
              <a:rPr sz="1900" spc="-7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of</a:t>
            </a:r>
            <a:r>
              <a:rPr sz="1900" spc="-75" dirty="0">
                <a:latin typeface="Arial MT"/>
                <a:cs typeface="Arial MT"/>
              </a:rPr>
              <a:t> </a:t>
            </a:r>
            <a:r>
              <a:rPr sz="1900" spc="-10" dirty="0">
                <a:latin typeface="Arial MT"/>
                <a:cs typeface="Arial MT"/>
              </a:rPr>
              <a:t>reactive response</a:t>
            </a:r>
            <a:endParaRPr sz="1900">
              <a:latin typeface="Arial MT"/>
              <a:cs typeface="Arial MT"/>
            </a:endParaRPr>
          </a:p>
          <a:p>
            <a:pPr marL="386715" indent="-374015">
              <a:lnSpc>
                <a:spcPct val="100000"/>
              </a:lnSpc>
              <a:spcBef>
                <a:spcPts val="1385"/>
              </a:spcBef>
              <a:buChar char="●"/>
              <a:tabLst>
                <a:tab pos="386715" algn="l"/>
              </a:tabLst>
            </a:pPr>
            <a:r>
              <a:rPr sz="1900" dirty="0">
                <a:latin typeface="Arial MT"/>
                <a:cs typeface="Arial MT"/>
              </a:rPr>
              <a:t>Provides</a:t>
            </a:r>
            <a:r>
              <a:rPr sz="1900" spc="-8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authorities</a:t>
            </a:r>
            <a:r>
              <a:rPr sz="1900" spc="-8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with</a:t>
            </a:r>
            <a:r>
              <a:rPr sz="1900" spc="-80" dirty="0">
                <a:latin typeface="Arial MT"/>
                <a:cs typeface="Arial MT"/>
              </a:rPr>
              <a:t> </a:t>
            </a:r>
            <a:r>
              <a:rPr sz="1900" b="1" spc="-10" dirty="0">
                <a:latin typeface="Arial"/>
                <a:cs typeface="Arial"/>
              </a:rPr>
              <a:t>clear,</a:t>
            </a:r>
            <a:r>
              <a:rPr sz="1900" b="1" spc="-85" dirty="0">
                <a:latin typeface="Arial"/>
                <a:cs typeface="Arial"/>
              </a:rPr>
              <a:t> </a:t>
            </a:r>
            <a:r>
              <a:rPr sz="1900" b="1" spc="-10" dirty="0">
                <a:latin typeface="Arial"/>
                <a:cs typeface="Arial"/>
              </a:rPr>
              <a:t>explainable</a:t>
            </a:r>
            <a:r>
              <a:rPr sz="1900" b="1" spc="-85" dirty="0">
                <a:latin typeface="Arial"/>
                <a:cs typeface="Arial"/>
              </a:rPr>
              <a:t> </a:t>
            </a:r>
            <a:r>
              <a:rPr sz="1900" b="1" dirty="0">
                <a:latin typeface="Arial"/>
                <a:cs typeface="Arial"/>
              </a:rPr>
              <a:t>decision</a:t>
            </a:r>
            <a:r>
              <a:rPr sz="1900" b="1" spc="-80" dirty="0">
                <a:latin typeface="Arial"/>
                <a:cs typeface="Arial"/>
              </a:rPr>
              <a:t> </a:t>
            </a:r>
            <a:r>
              <a:rPr sz="1900" b="1" spc="-10" dirty="0">
                <a:latin typeface="Arial"/>
                <a:cs typeface="Arial"/>
              </a:rPr>
              <a:t>insights</a:t>
            </a:r>
            <a:endParaRPr sz="1900">
              <a:latin typeface="Arial"/>
              <a:cs typeface="Arial"/>
            </a:endParaRPr>
          </a:p>
          <a:p>
            <a:pPr marL="386715" marR="781685" indent="-374650">
              <a:lnSpc>
                <a:spcPct val="80000"/>
              </a:lnSpc>
              <a:spcBef>
                <a:spcPts val="1825"/>
              </a:spcBef>
              <a:buChar char="●"/>
              <a:tabLst>
                <a:tab pos="386715" algn="l"/>
              </a:tabLst>
            </a:pPr>
            <a:r>
              <a:rPr sz="1900" dirty="0">
                <a:latin typeface="Arial MT"/>
                <a:cs typeface="Arial MT"/>
              </a:rPr>
              <a:t>Helps</a:t>
            </a:r>
            <a:r>
              <a:rPr sz="1900" spc="-10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optimize</a:t>
            </a:r>
            <a:r>
              <a:rPr sz="1900" spc="-9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resource</a:t>
            </a:r>
            <a:r>
              <a:rPr sz="1900" spc="-9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usage</a:t>
            </a:r>
            <a:r>
              <a:rPr sz="1900" spc="-9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through</a:t>
            </a:r>
            <a:r>
              <a:rPr sz="1900" spc="-90" dirty="0">
                <a:latin typeface="Arial MT"/>
                <a:cs typeface="Arial MT"/>
              </a:rPr>
              <a:t> </a:t>
            </a:r>
            <a:r>
              <a:rPr sz="1900" b="1" dirty="0">
                <a:latin typeface="Arial"/>
                <a:cs typeface="Arial"/>
              </a:rPr>
              <a:t>informed</a:t>
            </a:r>
            <a:r>
              <a:rPr sz="1900" b="1" spc="-95" dirty="0">
                <a:latin typeface="Arial"/>
                <a:cs typeface="Arial"/>
              </a:rPr>
              <a:t> </a:t>
            </a:r>
            <a:r>
              <a:rPr sz="1900" b="1" spc="-10" dirty="0">
                <a:latin typeface="Arial"/>
                <a:cs typeface="Arial"/>
              </a:rPr>
              <a:t>policy selection</a:t>
            </a:r>
            <a:endParaRPr sz="1900">
              <a:latin typeface="Arial"/>
              <a:cs typeface="Arial"/>
            </a:endParaRPr>
          </a:p>
        </p:txBody>
      </p: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631013" y="2154462"/>
            <a:ext cx="576574" cy="57657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525424" y="6217025"/>
            <a:ext cx="653699" cy="65369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27974" y="2278275"/>
            <a:ext cx="825724" cy="82572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28245" y="1590176"/>
            <a:ext cx="11527155" cy="0"/>
          </a:xfrm>
          <a:custGeom>
            <a:avLst/>
            <a:gdLst/>
            <a:ahLst/>
            <a:cxnLst/>
            <a:rect l="l" t="t" r="r" b="b"/>
            <a:pathLst>
              <a:path w="11527155">
                <a:moveTo>
                  <a:pt x="0" y="0"/>
                </a:moveTo>
                <a:lnTo>
                  <a:pt x="11526898" y="0"/>
                </a:lnTo>
              </a:path>
            </a:pathLst>
          </a:custGeom>
          <a:ln w="3809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742749" y="206006"/>
            <a:ext cx="7052309" cy="11950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>
                <a:solidFill>
                  <a:srgbClr val="FFFFFF"/>
                </a:solidFill>
              </a:rPr>
              <a:t>KEY</a:t>
            </a:r>
            <a:r>
              <a:rPr spc="-290" dirty="0">
                <a:solidFill>
                  <a:srgbClr val="FFFFFF"/>
                </a:solidFill>
              </a:rPr>
              <a:t> </a:t>
            </a:r>
            <a:r>
              <a:rPr spc="20" dirty="0">
                <a:solidFill>
                  <a:srgbClr val="FFFFFF"/>
                </a:solidFill>
              </a:rPr>
              <a:t>FE</a:t>
            </a:r>
            <a:r>
              <a:rPr spc="-825" dirty="0">
                <a:solidFill>
                  <a:srgbClr val="FFFFFF"/>
                </a:solidFill>
              </a:rPr>
              <a:t>A</a:t>
            </a:r>
            <a:r>
              <a:rPr spc="20" dirty="0">
                <a:solidFill>
                  <a:srgbClr val="FFFFFF"/>
                </a:solidFill>
              </a:rPr>
              <a:t>TURES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251987" y="2113100"/>
            <a:ext cx="4338955" cy="6616700"/>
            <a:chOff x="251987" y="2113100"/>
            <a:chExt cx="4338955" cy="661670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1987" y="2347875"/>
              <a:ext cx="4338862" cy="638139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02875" y="2113100"/>
              <a:ext cx="2206399" cy="234774"/>
            </a:xfrm>
            <a:prstGeom prst="rect">
              <a:avLst/>
            </a:prstGeom>
          </p:spPr>
        </p:pic>
      </p:grpSp>
      <p:grpSp>
        <p:nvGrpSpPr>
          <p:cNvPr id="7" name="object 7"/>
          <p:cNvGrpSpPr/>
          <p:nvPr/>
        </p:nvGrpSpPr>
        <p:grpSpPr>
          <a:xfrm>
            <a:off x="4867737" y="3448362"/>
            <a:ext cx="4290695" cy="6616700"/>
            <a:chOff x="4867737" y="3448362"/>
            <a:chExt cx="4290695" cy="6616700"/>
          </a:xfrm>
        </p:grpSpPr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867737" y="3683150"/>
              <a:ext cx="4290627" cy="638140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807170" y="3448362"/>
              <a:ext cx="2411779" cy="234774"/>
            </a:xfrm>
            <a:prstGeom prst="rect">
              <a:avLst/>
            </a:prstGeom>
          </p:spPr>
        </p:pic>
      </p:grpSp>
      <p:grpSp>
        <p:nvGrpSpPr>
          <p:cNvPr id="10" name="object 10"/>
          <p:cNvGrpSpPr/>
          <p:nvPr/>
        </p:nvGrpSpPr>
        <p:grpSpPr>
          <a:xfrm>
            <a:off x="9435250" y="2113100"/>
            <a:ext cx="4111625" cy="6869430"/>
            <a:chOff x="9435250" y="2113100"/>
            <a:chExt cx="4111625" cy="6869430"/>
          </a:xfrm>
        </p:grpSpPr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435250" y="2347875"/>
              <a:ext cx="4111324" cy="6634374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968025" y="2113100"/>
              <a:ext cx="2796099" cy="234774"/>
            </a:xfrm>
            <a:prstGeom prst="rect">
              <a:avLst/>
            </a:prstGeom>
          </p:spPr>
        </p:pic>
      </p:grpSp>
      <p:grpSp>
        <p:nvGrpSpPr>
          <p:cNvPr id="13" name="object 13"/>
          <p:cNvGrpSpPr/>
          <p:nvPr/>
        </p:nvGrpSpPr>
        <p:grpSpPr>
          <a:xfrm>
            <a:off x="13786000" y="2807625"/>
            <a:ext cx="4293870" cy="7256145"/>
            <a:chOff x="13786000" y="2807625"/>
            <a:chExt cx="4293870" cy="7256145"/>
          </a:xfrm>
        </p:grpSpPr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3786000" y="3042400"/>
              <a:ext cx="4293299" cy="7020974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919850" y="2807625"/>
              <a:ext cx="2206399" cy="234774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413321" y="2500059"/>
            <a:ext cx="3943350" cy="19691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5095" marR="5080" indent="173990">
              <a:lnSpc>
                <a:spcPct val="100000"/>
              </a:lnSpc>
              <a:spcBef>
                <a:spcPts val="100"/>
              </a:spcBef>
            </a:pPr>
            <a:r>
              <a:rPr sz="2700" b="1" u="heavy" spc="4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700" b="1" u="heavy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Real-</a:t>
            </a:r>
            <a:r>
              <a:rPr sz="2700" b="1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Time</a:t>
            </a:r>
            <a:r>
              <a:rPr sz="2700" b="1" u="heavy" spc="-2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700" b="1" u="heavy" spc="-6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IoT-</a:t>
            </a:r>
            <a:r>
              <a:rPr sz="2700" b="1" u="heavy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Based</a:t>
            </a:r>
            <a:r>
              <a:rPr sz="2700" b="1" spc="-10" dirty="0">
                <a:latin typeface="Arial"/>
                <a:cs typeface="Arial"/>
              </a:rPr>
              <a:t> </a:t>
            </a:r>
            <a:r>
              <a:rPr sz="2700" b="1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Environmental</a:t>
            </a:r>
            <a:r>
              <a:rPr sz="2700" b="1" u="heavy" spc="-6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700" b="1" u="heavy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Sensing</a:t>
            </a:r>
            <a:endParaRPr sz="2700">
              <a:latin typeface="Arial"/>
              <a:cs typeface="Arial"/>
            </a:endParaRPr>
          </a:p>
          <a:p>
            <a:pPr marL="455930" marR="21590" indent="-443865">
              <a:lnSpc>
                <a:spcPct val="100000"/>
              </a:lnSpc>
              <a:spcBef>
                <a:spcPts val="2100"/>
              </a:spcBef>
              <a:buChar char="●"/>
              <a:tabLst>
                <a:tab pos="455930" algn="l"/>
              </a:tabLst>
            </a:pPr>
            <a:r>
              <a:rPr sz="2800" dirty="0">
                <a:latin typeface="Arial MT"/>
                <a:cs typeface="Arial MT"/>
              </a:rPr>
              <a:t>ESP32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with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air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quality </a:t>
            </a:r>
            <a:r>
              <a:rPr sz="2800" dirty="0">
                <a:latin typeface="Arial MT"/>
                <a:cs typeface="Arial MT"/>
              </a:rPr>
              <a:t>&amp;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weather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sensors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13321" y="4870260"/>
            <a:ext cx="3492500" cy="87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55930" marR="5080" indent="-443865">
              <a:lnSpc>
                <a:spcPct val="100000"/>
              </a:lnSpc>
              <a:spcBef>
                <a:spcPts val="100"/>
              </a:spcBef>
              <a:buChar char="●"/>
              <a:tabLst>
                <a:tab pos="455930" algn="l"/>
              </a:tabLst>
            </a:pPr>
            <a:r>
              <a:rPr sz="2800" dirty="0">
                <a:latin typeface="Arial MT"/>
                <a:cs typeface="Arial MT"/>
              </a:rPr>
              <a:t>Live</a:t>
            </a:r>
            <a:r>
              <a:rPr sz="2800" spc="-114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pollution</a:t>
            </a:r>
            <a:r>
              <a:rPr sz="2800" spc="-110" dirty="0">
                <a:latin typeface="Arial MT"/>
                <a:cs typeface="Arial MT"/>
              </a:rPr>
              <a:t> </a:t>
            </a:r>
            <a:r>
              <a:rPr sz="2800" spc="-25" dirty="0">
                <a:latin typeface="Arial MT"/>
                <a:cs typeface="Arial MT"/>
              </a:rPr>
              <a:t>and </a:t>
            </a:r>
            <a:r>
              <a:rPr sz="2800" dirty="0">
                <a:latin typeface="Arial MT"/>
                <a:cs typeface="Arial MT"/>
              </a:rPr>
              <a:t>weather</a:t>
            </a:r>
            <a:r>
              <a:rPr sz="2800" spc="-10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monitoring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13321" y="6150420"/>
            <a:ext cx="3787775" cy="87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55930" marR="5080" indent="-443865">
              <a:lnSpc>
                <a:spcPct val="100000"/>
              </a:lnSpc>
              <a:spcBef>
                <a:spcPts val="100"/>
              </a:spcBef>
              <a:buChar char="●"/>
              <a:tabLst>
                <a:tab pos="455930" algn="l"/>
              </a:tabLst>
            </a:pPr>
            <a:r>
              <a:rPr sz="2800" dirty="0">
                <a:latin typeface="Arial MT"/>
                <a:cs typeface="Arial MT"/>
              </a:rPr>
              <a:t>Hardware</a:t>
            </a:r>
            <a:r>
              <a:rPr sz="2800" spc="-8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&amp;</a:t>
            </a:r>
            <a:r>
              <a:rPr sz="2800" spc="-9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software </a:t>
            </a:r>
            <a:r>
              <a:rPr sz="2800" dirty="0">
                <a:latin typeface="Arial MT"/>
                <a:cs typeface="Arial MT"/>
              </a:rPr>
              <a:t>integrated</a:t>
            </a:r>
            <a:r>
              <a:rPr sz="2800" spc="-17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system</a:t>
            </a:r>
            <a:endParaRPr sz="2800">
              <a:latin typeface="Arial MT"/>
              <a:cs typeface="Arial MT"/>
            </a:endParaRPr>
          </a:p>
        </p:txBody>
      </p:sp>
      <p:pic>
        <p:nvPicPr>
          <p:cNvPr id="19" name="object 1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394349" y="7112900"/>
            <a:ext cx="1447425" cy="1447424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4910080" y="3979617"/>
            <a:ext cx="4232910" cy="4445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50" b="1" u="heavy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Multi-</a:t>
            </a:r>
            <a:r>
              <a:rPr sz="2750" b="1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Source</a:t>
            </a:r>
            <a:r>
              <a:rPr sz="2750" b="1" u="heavy" spc="-2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750" b="1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Data</a:t>
            </a:r>
            <a:r>
              <a:rPr sz="2750" b="1" u="heavy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Fusion</a:t>
            </a:r>
            <a:endParaRPr sz="275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043146" y="4731901"/>
            <a:ext cx="3652520" cy="87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55930" marR="5080" indent="-443865">
              <a:lnSpc>
                <a:spcPct val="100000"/>
              </a:lnSpc>
              <a:spcBef>
                <a:spcPts val="100"/>
              </a:spcBef>
              <a:buChar char="●"/>
              <a:tabLst>
                <a:tab pos="455930" algn="l"/>
              </a:tabLst>
            </a:pPr>
            <a:r>
              <a:rPr sz="2800" dirty="0">
                <a:latin typeface="Arial MT"/>
                <a:cs typeface="Arial MT"/>
              </a:rPr>
              <a:t>Sensor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data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+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traffic </a:t>
            </a:r>
            <a:r>
              <a:rPr sz="2800" dirty="0">
                <a:latin typeface="Arial MT"/>
                <a:cs typeface="Arial MT"/>
              </a:rPr>
              <a:t>data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+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weather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spc="-20" dirty="0">
                <a:latin typeface="Arial MT"/>
                <a:cs typeface="Arial MT"/>
              </a:rPr>
              <a:t>data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043146" y="6012060"/>
            <a:ext cx="2958465" cy="87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55930" marR="5080" indent="-443865">
              <a:lnSpc>
                <a:spcPct val="100000"/>
              </a:lnSpc>
              <a:spcBef>
                <a:spcPts val="100"/>
              </a:spcBef>
              <a:buChar char="●"/>
              <a:tabLst>
                <a:tab pos="455930" algn="l"/>
              </a:tabLst>
            </a:pPr>
            <a:r>
              <a:rPr sz="2800" dirty="0">
                <a:latin typeface="Arial MT"/>
                <a:cs typeface="Arial MT"/>
              </a:rPr>
              <a:t>Data</a:t>
            </a:r>
            <a:r>
              <a:rPr sz="2800" spc="-9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fusion</a:t>
            </a:r>
            <a:r>
              <a:rPr sz="2800" spc="-90" dirty="0">
                <a:latin typeface="Arial MT"/>
                <a:cs typeface="Arial MT"/>
              </a:rPr>
              <a:t> </a:t>
            </a:r>
            <a:r>
              <a:rPr sz="2800" spc="-25" dirty="0">
                <a:latin typeface="Arial MT"/>
                <a:cs typeface="Arial MT"/>
              </a:rPr>
              <a:t>and </a:t>
            </a:r>
            <a:r>
              <a:rPr sz="2800" spc="-10" dirty="0">
                <a:latin typeface="Arial MT"/>
                <a:cs typeface="Arial MT"/>
              </a:rPr>
              <a:t>preprocessing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043146" y="7292220"/>
            <a:ext cx="4203700" cy="87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55930" marR="5080" indent="-443865">
              <a:lnSpc>
                <a:spcPct val="100000"/>
              </a:lnSpc>
              <a:spcBef>
                <a:spcPts val="100"/>
              </a:spcBef>
              <a:buChar char="●"/>
              <a:tabLst>
                <a:tab pos="455930" algn="l"/>
              </a:tabLst>
            </a:pPr>
            <a:r>
              <a:rPr sz="2800" spc="-25" dirty="0">
                <a:latin typeface="Arial MT"/>
                <a:cs typeface="Arial MT"/>
              </a:rPr>
              <a:t>Context-</a:t>
            </a:r>
            <a:r>
              <a:rPr sz="2800" dirty="0">
                <a:latin typeface="Arial MT"/>
                <a:cs typeface="Arial MT"/>
              </a:rPr>
              <a:t>aware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pollution analysis</a:t>
            </a:r>
            <a:endParaRPr sz="2800">
              <a:latin typeface="Arial MT"/>
              <a:cs typeface="Arial MT"/>
            </a:endParaRPr>
          </a:p>
        </p:txBody>
      </p:sp>
      <p:pic>
        <p:nvPicPr>
          <p:cNvPr id="24" name="object 2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090062" y="8217387"/>
            <a:ext cx="1845974" cy="1845974"/>
          </a:xfrm>
          <a:prstGeom prst="rect">
            <a:avLst/>
          </a:prstGeom>
        </p:spPr>
      </p:pic>
      <p:sp>
        <p:nvSpPr>
          <p:cNvPr id="25" name="object 25"/>
          <p:cNvSpPr txBox="1"/>
          <p:nvPr/>
        </p:nvSpPr>
        <p:spPr>
          <a:xfrm>
            <a:off x="9581121" y="2508187"/>
            <a:ext cx="3781425" cy="21170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83260" marR="5080" indent="-638175">
              <a:lnSpc>
                <a:spcPct val="100000"/>
              </a:lnSpc>
              <a:spcBef>
                <a:spcPts val="100"/>
              </a:spcBef>
            </a:pPr>
            <a:r>
              <a:rPr sz="2500" b="1" u="heavy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AI-</a:t>
            </a:r>
            <a:r>
              <a:rPr sz="2500" b="1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Based</a:t>
            </a:r>
            <a:r>
              <a:rPr sz="2500" b="1" u="heavy" spc="-114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500" b="1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AQI</a:t>
            </a:r>
            <a:r>
              <a:rPr sz="2500" b="1" u="heavy" spc="-1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500" b="1" u="heavy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Estimation</a:t>
            </a:r>
            <a:r>
              <a:rPr sz="2500" b="1" spc="-10" dirty="0">
                <a:latin typeface="Arial"/>
                <a:cs typeface="Arial"/>
              </a:rPr>
              <a:t> </a:t>
            </a:r>
            <a:r>
              <a:rPr sz="2500" b="1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and</a:t>
            </a:r>
            <a:r>
              <a:rPr sz="2500" b="1" u="heavy" spc="-1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500" b="1" u="heavy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Forecasting</a:t>
            </a:r>
            <a:endParaRPr sz="2500">
              <a:latin typeface="Arial"/>
              <a:cs typeface="Arial"/>
            </a:endParaRPr>
          </a:p>
          <a:p>
            <a:pPr marL="455930" marR="194945" indent="-443865">
              <a:lnSpc>
                <a:spcPct val="100000"/>
              </a:lnSpc>
              <a:spcBef>
                <a:spcPts val="385"/>
              </a:spcBef>
              <a:buChar char="●"/>
              <a:tabLst>
                <a:tab pos="455930" algn="l"/>
              </a:tabLst>
            </a:pPr>
            <a:r>
              <a:rPr sz="2800" spc="-10" dirty="0">
                <a:latin typeface="Arial MT"/>
                <a:cs typeface="Arial MT"/>
              </a:rPr>
              <a:t>Machine </a:t>
            </a:r>
            <a:r>
              <a:rPr sz="2800" spc="-25" dirty="0">
                <a:latin typeface="Arial MT"/>
                <a:cs typeface="Arial MT"/>
              </a:rPr>
              <a:t>learning–based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spc="-25" dirty="0">
                <a:latin typeface="Arial MT"/>
                <a:cs typeface="Arial MT"/>
              </a:rPr>
              <a:t>AQI </a:t>
            </a:r>
            <a:r>
              <a:rPr sz="2800" spc="-10" dirty="0">
                <a:latin typeface="Arial MT"/>
                <a:cs typeface="Arial MT"/>
              </a:rPr>
              <a:t>estimation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9581121" y="5026205"/>
            <a:ext cx="2839085" cy="87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55930" marR="5080" indent="-443865">
              <a:lnSpc>
                <a:spcPct val="100000"/>
              </a:lnSpc>
              <a:spcBef>
                <a:spcPts val="100"/>
              </a:spcBef>
              <a:buChar char="●"/>
              <a:tabLst>
                <a:tab pos="455930" algn="l"/>
              </a:tabLst>
            </a:pPr>
            <a:r>
              <a:rPr sz="2800" spc="-20" dirty="0">
                <a:latin typeface="Arial MT"/>
                <a:cs typeface="Arial MT"/>
              </a:rPr>
              <a:t>Short-</a:t>
            </a:r>
            <a:r>
              <a:rPr sz="2800" spc="-10" dirty="0">
                <a:latin typeface="Arial MT"/>
                <a:cs typeface="Arial MT"/>
              </a:rPr>
              <a:t>term</a:t>
            </a:r>
            <a:r>
              <a:rPr sz="2800" spc="-135" dirty="0">
                <a:latin typeface="Arial MT"/>
                <a:cs typeface="Arial MT"/>
              </a:rPr>
              <a:t> </a:t>
            </a:r>
            <a:r>
              <a:rPr sz="2800" spc="-25" dirty="0">
                <a:latin typeface="Arial MT"/>
                <a:cs typeface="Arial MT"/>
              </a:rPr>
              <a:t>AQI </a:t>
            </a:r>
            <a:r>
              <a:rPr sz="2800" spc="-10" dirty="0">
                <a:latin typeface="Arial MT"/>
                <a:cs typeface="Arial MT"/>
              </a:rPr>
              <a:t>prediction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9581121" y="6306365"/>
            <a:ext cx="3016885" cy="87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55930" marR="5080" indent="-443865">
              <a:lnSpc>
                <a:spcPct val="100000"/>
              </a:lnSpc>
              <a:spcBef>
                <a:spcPts val="100"/>
              </a:spcBef>
              <a:buChar char="●"/>
              <a:tabLst>
                <a:tab pos="455930" algn="l"/>
              </a:tabLst>
            </a:pPr>
            <a:r>
              <a:rPr sz="2800" dirty="0">
                <a:latin typeface="Arial MT"/>
                <a:cs typeface="Arial MT"/>
              </a:rPr>
              <a:t>Early</a:t>
            </a:r>
            <a:r>
              <a:rPr sz="2800" spc="-10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warning</a:t>
            </a:r>
            <a:r>
              <a:rPr sz="2800" spc="-100" dirty="0">
                <a:latin typeface="Arial MT"/>
                <a:cs typeface="Arial MT"/>
              </a:rPr>
              <a:t> </a:t>
            </a:r>
            <a:r>
              <a:rPr sz="2800" spc="-25" dirty="0">
                <a:latin typeface="Arial MT"/>
                <a:cs typeface="Arial MT"/>
              </a:rPr>
              <a:t>of </a:t>
            </a:r>
            <a:r>
              <a:rPr sz="2800" dirty="0">
                <a:latin typeface="Arial MT"/>
                <a:cs typeface="Arial MT"/>
              </a:rPr>
              <a:t>pollution</a:t>
            </a:r>
            <a:r>
              <a:rPr sz="2800" spc="-15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spikes</a:t>
            </a:r>
            <a:endParaRPr sz="2800">
              <a:latin typeface="Arial MT"/>
              <a:cs typeface="Arial MT"/>
            </a:endParaRPr>
          </a:p>
        </p:txBody>
      </p:sp>
      <p:pic>
        <p:nvPicPr>
          <p:cNvPr id="28" name="object 2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0642350" y="7350675"/>
            <a:ext cx="1447424" cy="1447424"/>
          </a:xfrm>
          <a:prstGeom prst="rect">
            <a:avLst/>
          </a:prstGeom>
        </p:spPr>
      </p:pic>
      <p:sp>
        <p:nvSpPr>
          <p:cNvPr id="29" name="object 29"/>
          <p:cNvSpPr txBox="1"/>
          <p:nvPr/>
        </p:nvSpPr>
        <p:spPr>
          <a:xfrm>
            <a:off x="14023064" y="3101201"/>
            <a:ext cx="3775075" cy="87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7034" marR="5080" indent="-394970">
              <a:lnSpc>
                <a:spcPct val="100000"/>
              </a:lnSpc>
              <a:spcBef>
                <a:spcPts val="100"/>
              </a:spcBef>
            </a:pPr>
            <a:r>
              <a:rPr sz="2800" b="1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Decision</a:t>
            </a:r>
            <a:r>
              <a:rPr sz="2800" b="1" u="heavy" spc="-13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800" b="1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Support</a:t>
            </a:r>
            <a:r>
              <a:rPr sz="2800" b="1" u="heavy" spc="-13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800" b="1" u="heavy" spc="-2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with</a:t>
            </a:r>
            <a:r>
              <a:rPr sz="2800" b="1" spc="-20" dirty="0">
                <a:latin typeface="Arial"/>
                <a:cs typeface="Arial"/>
              </a:rPr>
              <a:t> </a:t>
            </a:r>
            <a:r>
              <a:rPr sz="2800" b="1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Policy</a:t>
            </a:r>
            <a:r>
              <a:rPr sz="2800" b="1" u="heavy" spc="-5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800" b="1" u="heavy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Simulation</a:t>
            </a:r>
            <a:endParaRPr sz="28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3971021" y="4369501"/>
            <a:ext cx="3295650" cy="87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55930" marR="5080" indent="-443865">
              <a:lnSpc>
                <a:spcPct val="100000"/>
              </a:lnSpc>
              <a:spcBef>
                <a:spcPts val="100"/>
              </a:spcBef>
              <a:buChar char="●"/>
              <a:tabLst>
                <a:tab pos="455930" algn="l"/>
              </a:tabLst>
            </a:pPr>
            <a:r>
              <a:rPr sz="2800" dirty="0">
                <a:latin typeface="Arial MT"/>
                <a:cs typeface="Arial MT"/>
              </a:rPr>
              <a:t>Urban</a:t>
            </a:r>
            <a:r>
              <a:rPr sz="2800" spc="-10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policy recommendations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3971021" y="5649660"/>
            <a:ext cx="2737485" cy="87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55930" marR="5080" indent="-443865">
              <a:lnSpc>
                <a:spcPct val="100000"/>
              </a:lnSpc>
              <a:spcBef>
                <a:spcPts val="100"/>
              </a:spcBef>
              <a:buChar char="●"/>
              <a:tabLst>
                <a:tab pos="455930" algn="l"/>
              </a:tabLst>
            </a:pPr>
            <a:r>
              <a:rPr sz="2800" spc="-25" dirty="0">
                <a:latin typeface="Arial MT"/>
                <a:cs typeface="Arial MT"/>
              </a:rPr>
              <a:t>What-</a:t>
            </a:r>
            <a:r>
              <a:rPr sz="2800" dirty="0">
                <a:latin typeface="Arial MT"/>
                <a:cs typeface="Arial MT"/>
              </a:rPr>
              <a:t>if </a:t>
            </a:r>
            <a:r>
              <a:rPr sz="2800" spc="-10" dirty="0">
                <a:latin typeface="Arial MT"/>
                <a:cs typeface="Arial MT"/>
              </a:rPr>
              <a:t>impact simulation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3971021" y="6929821"/>
            <a:ext cx="3628390" cy="87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55930" marR="5080" indent="-443865">
              <a:lnSpc>
                <a:spcPct val="100000"/>
              </a:lnSpc>
              <a:spcBef>
                <a:spcPts val="100"/>
              </a:spcBef>
              <a:buChar char="●"/>
              <a:tabLst>
                <a:tab pos="455930" algn="l"/>
              </a:tabLst>
            </a:pPr>
            <a:r>
              <a:rPr sz="2800" dirty="0">
                <a:latin typeface="Arial MT"/>
                <a:cs typeface="Arial MT"/>
              </a:rPr>
              <a:t>Decision</a:t>
            </a:r>
            <a:r>
              <a:rPr sz="2800" spc="-14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support</a:t>
            </a:r>
            <a:r>
              <a:rPr sz="2800" spc="-140" dirty="0">
                <a:latin typeface="Arial MT"/>
                <a:cs typeface="Arial MT"/>
              </a:rPr>
              <a:t> </a:t>
            </a:r>
            <a:r>
              <a:rPr sz="2800" spc="-25" dirty="0">
                <a:latin typeface="Arial MT"/>
                <a:cs typeface="Arial MT"/>
              </a:rPr>
              <a:t>for </a:t>
            </a:r>
            <a:r>
              <a:rPr sz="2800" spc="-10" dirty="0">
                <a:latin typeface="Arial MT"/>
                <a:cs typeface="Arial MT"/>
              </a:rPr>
              <a:t>authorities</a:t>
            </a:r>
            <a:endParaRPr sz="2800">
              <a:latin typeface="Arial MT"/>
              <a:cs typeface="Arial MT"/>
            </a:endParaRPr>
          </a:p>
        </p:txBody>
      </p:sp>
      <p:pic>
        <p:nvPicPr>
          <p:cNvPr id="33" name="object 33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5045801" y="7943400"/>
            <a:ext cx="1997149" cy="199714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896745">
              <a:lnSpc>
                <a:spcPct val="100000"/>
              </a:lnSpc>
              <a:spcBef>
                <a:spcPts val="120"/>
              </a:spcBef>
            </a:pPr>
            <a:r>
              <a:rPr spc="-10" dirty="0">
                <a:solidFill>
                  <a:srgbClr val="FFFFFF"/>
                </a:solidFill>
              </a:rPr>
              <a:t>ARCHITECTURE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380540" y="1454146"/>
            <a:ext cx="11527155" cy="0"/>
          </a:xfrm>
          <a:custGeom>
            <a:avLst/>
            <a:gdLst/>
            <a:ahLst/>
            <a:cxnLst/>
            <a:rect l="l" t="t" r="r" b="b"/>
            <a:pathLst>
              <a:path w="11527155">
                <a:moveTo>
                  <a:pt x="0" y="0"/>
                </a:moveTo>
                <a:lnTo>
                  <a:pt x="11526916" y="0"/>
                </a:lnTo>
              </a:path>
            </a:pathLst>
          </a:custGeom>
          <a:ln w="3809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120"/>
              </a:spcBef>
            </a:pPr>
            <a:r>
              <a:rPr spc="-5" dirty="0">
                <a:solidFill>
                  <a:srgbClr val="FFFFFF"/>
                </a:solidFill>
              </a:rPr>
              <a:t>IM</a:t>
            </a:r>
            <a:r>
              <a:rPr spc="-700" dirty="0">
                <a:solidFill>
                  <a:srgbClr val="FFFFFF"/>
                </a:solidFill>
              </a:rPr>
              <a:t>P</a:t>
            </a:r>
            <a:r>
              <a:rPr spc="-5" dirty="0">
                <a:solidFill>
                  <a:srgbClr val="FFFFFF"/>
                </a:solidFill>
              </a:rPr>
              <a:t>ACT</a:t>
            </a:r>
            <a:r>
              <a:rPr dirty="0">
                <a:solidFill>
                  <a:srgbClr val="FFFFFF"/>
                </a:solidFill>
              </a:rPr>
              <a:t>S</a:t>
            </a:r>
            <a:r>
              <a:rPr spc="-420" dirty="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AND</a:t>
            </a:r>
            <a:r>
              <a:rPr spc="-10" dirty="0">
                <a:solidFill>
                  <a:srgbClr val="FFFFFF"/>
                </a:solidFill>
              </a:rPr>
              <a:t> BENIFITS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638323" y="1733275"/>
            <a:ext cx="8433435" cy="8255000"/>
            <a:chOff x="638323" y="1733275"/>
            <a:chExt cx="8433435" cy="8255000"/>
          </a:xfrm>
        </p:grpSpPr>
        <p:sp>
          <p:nvSpPr>
            <p:cNvPr id="5" name="object 5"/>
            <p:cNvSpPr/>
            <p:nvPr/>
          </p:nvSpPr>
          <p:spPr>
            <a:xfrm>
              <a:off x="9011999" y="1771375"/>
              <a:ext cx="21590" cy="8178800"/>
            </a:xfrm>
            <a:custGeom>
              <a:avLst/>
              <a:gdLst/>
              <a:ahLst/>
              <a:cxnLst/>
              <a:rect l="l" t="t" r="r" b="b"/>
              <a:pathLst>
                <a:path w="21590" h="8178800">
                  <a:moveTo>
                    <a:pt x="0" y="0"/>
                  </a:moveTo>
                  <a:lnTo>
                    <a:pt x="21299" y="8178599"/>
                  </a:lnTo>
                </a:path>
              </a:pathLst>
            </a:custGeom>
            <a:ln w="761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38323" y="1875724"/>
              <a:ext cx="8394700" cy="7933055"/>
            </a:xfrm>
            <a:custGeom>
              <a:avLst/>
              <a:gdLst/>
              <a:ahLst/>
              <a:cxnLst/>
              <a:rect l="l" t="t" r="r" b="b"/>
              <a:pathLst>
                <a:path w="8394700" h="7933055">
                  <a:moveTo>
                    <a:pt x="8394516" y="7932900"/>
                  </a:moveTo>
                  <a:lnTo>
                    <a:pt x="0" y="7932900"/>
                  </a:lnTo>
                  <a:lnTo>
                    <a:pt x="0" y="0"/>
                  </a:lnTo>
                  <a:lnTo>
                    <a:pt x="8394516" y="0"/>
                  </a:lnTo>
                  <a:lnTo>
                    <a:pt x="8394516" y="7932900"/>
                  </a:lnTo>
                  <a:close/>
                </a:path>
              </a:pathLst>
            </a:custGeom>
            <a:solidFill>
              <a:srgbClr val="0B71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986949" y="2418624"/>
              <a:ext cx="7684770" cy="6884034"/>
            </a:xfrm>
            <a:custGeom>
              <a:avLst/>
              <a:gdLst/>
              <a:ahLst/>
              <a:cxnLst/>
              <a:rect l="l" t="t" r="r" b="b"/>
              <a:pathLst>
                <a:path w="7684770" h="6884034">
                  <a:moveTo>
                    <a:pt x="7684464" y="6883875"/>
                  </a:moveTo>
                  <a:lnTo>
                    <a:pt x="0" y="6883875"/>
                  </a:lnTo>
                  <a:lnTo>
                    <a:pt x="0" y="0"/>
                  </a:lnTo>
                  <a:lnTo>
                    <a:pt x="7684464" y="0"/>
                  </a:lnTo>
                  <a:lnTo>
                    <a:pt x="7684464" y="688387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67937" y="2584206"/>
              <a:ext cx="638387" cy="600835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986950" y="2418625"/>
            <a:ext cx="7684770" cy="6884034"/>
          </a:xfrm>
          <a:prstGeom prst="rect">
            <a:avLst/>
          </a:prstGeom>
          <a:ln w="39449">
            <a:solidFill>
              <a:srgbClr val="0B7743"/>
            </a:solidFill>
          </a:ln>
        </p:spPr>
        <p:txBody>
          <a:bodyPr vert="horz" wrap="square" lIns="0" tIns="133350" rIns="0" bIns="0" rtlCol="0">
            <a:spAutoFit/>
          </a:bodyPr>
          <a:lstStyle/>
          <a:p>
            <a:pPr marL="934719">
              <a:lnSpc>
                <a:spcPct val="100000"/>
              </a:lnSpc>
              <a:spcBef>
                <a:spcPts val="1050"/>
              </a:spcBef>
            </a:pPr>
            <a:r>
              <a:rPr sz="4000" b="1" spc="-10" dirty="0">
                <a:latin typeface="Calibri"/>
                <a:cs typeface="Calibri"/>
              </a:rPr>
              <a:t>IMPACTS</a:t>
            </a:r>
            <a:endParaRPr sz="4000">
              <a:latin typeface="Calibri"/>
              <a:cs typeface="Calibri"/>
            </a:endParaRPr>
          </a:p>
          <a:p>
            <a:pPr marL="654050" indent="-490855">
              <a:lnSpc>
                <a:spcPct val="100000"/>
              </a:lnSpc>
              <a:spcBef>
                <a:spcPts val="4000"/>
              </a:spcBef>
              <a:buSzPct val="103125"/>
              <a:buFont typeface="Arial MT"/>
              <a:buChar char="●"/>
              <a:tabLst>
                <a:tab pos="654050" algn="l"/>
              </a:tabLst>
            </a:pPr>
            <a:r>
              <a:rPr sz="3200" dirty="0">
                <a:latin typeface="Calibri"/>
                <a:cs typeface="Calibri"/>
              </a:rPr>
              <a:t>E</a:t>
            </a:r>
            <a:r>
              <a:rPr sz="3100" dirty="0">
                <a:latin typeface="Calibri"/>
                <a:cs typeface="Calibri"/>
              </a:rPr>
              <a:t>nhanced</a:t>
            </a:r>
            <a:r>
              <a:rPr sz="3100" spc="-40" dirty="0">
                <a:latin typeface="Calibri"/>
                <a:cs typeface="Calibri"/>
              </a:rPr>
              <a:t> </a:t>
            </a:r>
            <a:r>
              <a:rPr sz="3100" dirty="0">
                <a:latin typeface="Calibri"/>
                <a:cs typeface="Calibri"/>
              </a:rPr>
              <a:t>Public</a:t>
            </a:r>
            <a:r>
              <a:rPr sz="3100" spc="-35" dirty="0">
                <a:latin typeface="Calibri"/>
                <a:cs typeface="Calibri"/>
              </a:rPr>
              <a:t> </a:t>
            </a:r>
            <a:r>
              <a:rPr sz="3100" dirty="0">
                <a:latin typeface="Calibri"/>
                <a:cs typeface="Calibri"/>
              </a:rPr>
              <a:t>Health</a:t>
            </a:r>
            <a:r>
              <a:rPr sz="3100" spc="-25" dirty="0">
                <a:latin typeface="Calibri"/>
                <a:cs typeface="Calibri"/>
              </a:rPr>
              <a:t> </a:t>
            </a:r>
            <a:r>
              <a:rPr sz="3100" spc="-10" dirty="0">
                <a:latin typeface="Calibri"/>
                <a:cs typeface="Calibri"/>
              </a:rPr>
              <a:t>Safety</a:t>
            </a:r>
            <a:endParaRPr sz="3100">
              <a:latin typeface="Calibri"/>
              <a:cs typeface="Calibri"/>
            </a:endParaRPr>
          </a:p>
          <a:p>
            <a:pPr marL="654050" marR="203835" indent="-475615">
              <a:lnSpc>
                <a:spcPct val="100800"/>
              </a:lnSpc>
              <a:spcBef>
                <a:spcPts val="10"/>
              </a:spcBef>
              <a:buFont typeface="Arial MT"/>
              <a:buChar char="●"/>
              <a:tabLst>
                <a:tab pos="654050" algn="l"/>
              </a:tabLst>
            </a:pPr>
            <a:r>
              <a:rPr sz="3100" dirty="0">
                <a:latin typeface="Calibri"/>
                <a:cs typeface="Calibri"/>
              </a:rPr>
              <a:t>Protects</a:t>
            </a:r>
            <a:r>
              <a:rPr sz="3100" spc="-125" dirty="0">
                <a:latin typeface="Calibri"/>
                <a:cs typeface="Calibri"/>
              </a:rPr>
              <a:t> </a:t>
            </a:r>
            <a:r>
              <a:rPr sz="3100" dirty="0">
                <a:latin typeface="Calibri"/>
                <a:cs typeface="Calibri"/>
              </a:rPr>
              <a:t>against</a:t>
            </a:r>
            <a:r>
              <a:rPr sz="3100" spc="-120" dirty="0">
                <a:latin typeface="Calibri"/>
                <a:cs typeface="Calibri"/>
              </a:rPr>
              <a:t> </a:t>
            </a:r>
            <a:r>
              <a:rPr sz="3100" dirty="0">
                <a:latin typeface="Calibri"/>
                <a:cs typeface="Calibri"/>
              </a:rPr>
              <a:t>dangerous</a:t>
            </a:r>
            <a:r>
              <a:rPr sz="3100" spc="-114" dirty="0">
                <a:latin typeface="Calibri"/>
                <a:cs typeface="Calibri"/>
              </a:rPr>
              <a:t> </a:t>
            </a:r>
            <a:r>
              <a:rPr sz="3100" dirty="0">
                <a:latin typeface="Calibri"/>
                <a:cs typeface="Calibri"/>
              </a:rPr>
              <a:t>pollutants</a:t>
            </a:r>
            <a:r>
              <a:rPr sz="3100" spc="-110" dirty="0">
                <a:latin typeface="Calibri"/>
                <a:cs typeface="Calibri"/>
              </a:rPr>
              <a:t> </a:t>
            </a:r>
            <a:r>
              <a:rPr sz="3100" spc="-20" dirty="0">
                <a:latin typeface="Calibri"/>
                <a:cs typeface="Calibri"/>
              </a:rPr>
              <a:t>with </a:t>
            </a:r>
            <a:r>
              <a:rPr sz="3100" dirty="0">
                <a:latin typeface="Calibri"/>
                <a:cs typeface="Calibri"/>
              </a:rPr>
              <a:t>early</a:t>
            </a:r>
            <a:r>
              <a:rPr sz="3100" spc="-60" dirty="0">
                <a:latin typeface="Calibri"/>
                <a:cs typeface="Calibri"/>
              </a:rPr>
              <a:t> </a:t>
            </a:r>
            <a:r>
              <a:rPr sz="3100" dirty="0">
                <a:latin typeface="Calibri"/>
                <a:cs typeface="Calibri"/>
              </a:rPr>
              <a:t>warning</a:t>
            </a:r>
            <a:r>
              <a:rPr sz="3100" spc="-45" dirty="0">
                <a:latin typeface="Calibri"/>
                <a:cs typeface="Calibri"/>
              </a:rPr>
              <a:t> </a:t>
            </a:r>
            <a:r>
              <a:rPr sz="3100" dirty="0">
                <a:latin typeface="Calibri"/>
                <a:cs typeface="Calibri"/>
              </a:rPr>
              <a:t>and</a:t>
            </a:r>
            <a:r>
              <a:rPr sz="3100" spc="-45" dirty="0">
                <a:latin typeface="Calibri"/>
                <a:cs typeface="Calibri"/>
              </a:rPr>
              <a:t> </a:t>
            </a:r>
            <a:r>
              <a:rPr sz="3100" dirty="0">
                <a:latin typeface="Calibri"/>
                <a:cs typeface="Calibri"/>
              </a:rPr>
              <a:t>detection</a:t>
            </a:r>
            <a:r>
              <a:rPr sz="3100" spc="-45" dirty="0">
                <a:latin typeface="Calibri"/>
                <a:cs typeface="Calibri"/>
              </a:rPr>
              <a:t> </a:t>
            </a:r>
            <a:r>
              <a:rPr sz="3100" spc="-10" dirty="0">
                <a:latin typeface="Calibri"/>
                <a:cs typeface="Calibri"/>
              </a:rPr>
              <a:t>capabilities.</a:t>
            </a:r>
            <a:endParaRPr sz="3100">
              <a:latin typeface="Calibri"/>
              <a:cs typeface="Calibri"/>
            </a:endParaRPr>
          </a:p>
          <a:p>
            <a:pPr marL="654050" indent="-474980">
              <a:lnSpc>
                <a:spcPct val="100000"/>
              </a:lnSpc>
              <a:spcBef>
                <a:spcPts val="30"/>
              </a:spcBef>
              <a:buFont typeface="Arial MT"/>
              <a:buChar char="●"/>
              <a:tabLst>
                <a:tab pos="654050" algn="l"/>
              </a:tabLst>
            </a:pPr>
            <a:r>
              <a:rPr sz="3100" dirty="0">
                <a:latin typeface="Calibri"/>
                <a:cs typeface="Calibri"/>
              </a:rPr>
              <a:t>Proactive</a:t>
            </a:r>
            <a:r>
              <a:rPr sz="3100" spc="-120" dirty="0">
                <a:latin typeface="Calibri"/>
                <a:cs typeface="Calibri"/>
              </a:rPr>
              <a:t> </a:t>
            </a:r>
            <a:r>
              <a:rPr sz="3100" dirty="0">
                <a:latin typeface="Calibri"/>
                <a:cs typeface="Calibri"/>
              </a:rPr>
              <a:t>Pollution</a:t>
            </a:r>
            <a:r>
              <a:rPr sz="3100" spc="-105" dirty="0">
                <a:latin typeface="Calibri"/>
                <a:cs typeface="Calibri"/>
              </a:rPr>
              <a:t> </a:t>
            </a:r>
            <a:r>
              <a:rPr sz="3100" spc="-10" dirty="0">
                <a:latin typeface="Calibri"/>
                <a:cs typeface="Calibri"/>
              </a:rPr>
              <a:t>Management</a:t>
            </a:r>
            <a:endParaRPr sz="3100">
              <a:latin typeface="Calibri"/>
              <a:cs typeface="Calibri"/>
            </a:endParaRPr>
          </a:p>
          <a:p>
            <a:pPr marL="654050" marR="608330" indent="-475615">
              <a:lnSpc>
                <a:spcPct val="100800"/>
              </a:lnSpc>
              <a:buFont typeface="Arial MT"/>
              <a:buChar char="●"/>
              <a:tabLst>
                <a:tab pos="654050" algn="l"/>
              </a:tabLst>
            </a:pPr>
            <a:r>
              <a:rPr sz="3100" dirty="0">
                <a:latin typeface="Calibri"/>
                <a:cs typeface="Calibri"/>
              </a:rPr>
              <a:t>Enables</a:t>
            </a:r>
            <a:r>
              <a:rPr sz="3100" spc="-10" dirty="0">
                <a:latin typeface="Calibri"/>
                <a:cs typeface="Calibri"/>
              </a:rPr>
              <a:t> </a:t>
            </a:r>
            <a:r>
              <a:rPr sz="3100" spc="-25" dirty="0">
                <a:latin typeface="Calibri"/>
                <a:cs typeface="Calibri"/>
              </a:rPr>
              <a:t>data-</a:t>
            </a:r>
            <a:r>
              <a:rPr sz="3100" dirty="0">
                <a:latin typeface="Calibri"/>
                <a:cs typeface="Calibri"/>
              </a:rPr>
              <a:t>driven</a:t>
            </a:r>
            <a:r>
              <a:rPr sz="3100" spc="-5" dirty="0">
                <a:latin typeface="Calibri"/>
                <a:cs typeface="Calibri"/>
              </a:rPr>
              <a:t> </a:t>
            </a:r>
            <a:r>
              <a:rPr sz="3100" spc="-10" dirty="0">
                <a:latin typeface="Calibri"/>
                <a:cs typeface="Calibri"/>
              </a:rPr>
              <a:t>decision-</a:t>
            </a:r>
            <a:r>
              <a:rPr sz="3100" dirty="0">
                <a:latin typeface="Calibri"/>
                <a:cs typeface="Calibri"/>
              </a:rPr>
              <a:t>making</a:t>
            </a:r>
            <a:r>
              <a:rPr sz="3100" spc="-10" dirty="0">
                <a:latin typeface="Calibri"/>
                <a:cs typeface="Calibri"/>
              </a:rPr>
              <a:t> </a:t>
            </a:r>
            <a:r>
              <a:rPr sz="3100" spc="-25" dirty="0">
                <a:latin typeface="Calibri"/>
                <a:cs typeface="Calibri"/>
              </a:rPr>
              <a:t>for </a:t>
            </a:r>
            <a:r>
              <a:rPr sz="3100" spc="-10" dirty="0">
                <a:latin typeface="Calibri"/>
                <a:cs typeface="Calibri"/>
              </a:rPr>
              <a:t>environmental</a:t>
            </a:r>
            <a:r>
              <a:rPr sz="3100" spc="-60" dirty="0">
                <a:latin typeface="Calibri"/>
                <a:cs typeface="Calibri"/>
              </a:rPr>
              <a:t> </a:t>
            </a:r>
            <a:r>
              <a:rPr sz="3100" dirty="0">
                <a:latin typeface="Calibri"/>
                <a:cs typeface="Calibri"/>
              </a:rPr>
              <a:t>policies</a:t>
            </a:r>
            <a:r>
              <a:rPr sz="3100" spc="-45" dirty="0">
                <a:latin typeface="Calibri"/>
                <a:cs typeface="Calibri"/>
              </a:rPr>
              <a:t> </a:t>
            </a:r>
            <a:r>
              <a:rPr sz="3100" dirty="0">
                <a:latin typeface="Calibri"/>
                <a:cs typeface="Calibri"/>
              </a:rPr>
              <a:t>and</a:t>
            </a:r>
            <a:r>
              <a:rPr sz="3100" spc="-45" dirty="0">
                <a:latin typeface="Calibri"/>
                <a:cs typeface="Calibri"/>
              </a:rPr>
              <a:t> </a:t>
            </a:r>
            <a:r>
              <a:rPr sz="3100" spc="-10" dirty="0">
                <a:latin typeface="Calibri"/>
                <a:cs typeface="Calibri"/>
              </a:rPr>
              <a:t>strategies.</a:t>
            </a:r>
            <a:endParaRPr sz="3100">
              <a:latin typeface="Calibri"/>
              <a:cs typeface="Calibri"/>
            </a:endParaRPr>
          </a:p>
          <a:p>
            <a:pPr marL="654050" indent="-474980">
              <a:lnSpc>
                <a:spcPct val="100000"/>
              </a:lnSpc>
              <a:spcBef>
                <a:spcPts val="30"/>
              </a:spcBef>
              <a:buFont typeface="Arial MT"/>
              <a:buChar char="●"/>
              <a:tabLst>
                <a:tab pos="654050" algn="l"/>
              </a:tabLst>
            </a:pPr>
            <a:r>
              <a:rPr sz="3100" dirty="0">
                <a:latin typeface="Calibri"/>
                <a:cs typeface="Calibri"/>
              </a:rPr>
              <a:t>Geographic</a:t>
            </a:r>
            <a:r>
              <a:rPr sz="3100" spc="-110" dirty="0">
                <a:latin typeface="Calibri"/>
                <a:cs typeface="Calibri"/>
              </a:rPr>
              <a:t> </a:t>
            </a:r>
            <a:r>
              <a:rPr sz="3100" dirty="0">
                <a:latin typeface="Calibri"/>
                <a:cs typeface="Calibri"/>
              </a:rPr>
              <a:t>Pollution</a:t>
            </a:r>
            <a:r>
              <a:rPr sz="3100" spc="-100" dirty="0">
                <a:latin typeface="Calibri"/>
                <a:cs typeface="Calibri"/>
              </a:rPr>
              <a:t> </a:t>
            </a:r>
            <a:r>
              <a:rPr sz="3100" spc="-10" dirty="0">
                <a:latin typeface="Calibri"/>
                <a:cs typeface="Calibri"/>
              </a:rPr>
              <a:t>Analysis</a:t>
            </a:r>
            <a:endParaRPr sz="3100">
              <a:latin typeface="Calibri"/>
              <a:cs typeface="Calibri"/>
            </a:endParaRPr>
          </a:p>
          <a:p>
            <a:pPr marL="654050" indent="-474980">
              <a:lnSpc>
                <a:spcPct val="100000"/>
              </a:lnSpc>
              <a:spcBef>
                <a:spcPts val="30"/>
              </a:spcBef>
              <a:buFont typeface="Arial MT"/>
              <a:buChar char="●"/>
              <a:tabLst>
                <a:tab pos="654050" algn="l"/>
              </a:tabLst>
            </a:pPr>
            <a:r>
              <a:rPr sz="3100" dirty="0">
                <a:latin typeface="Calibri"/>
                <a:cs typeface="Calibri"/>
              </a:rPr>
              <a:t>Smart</a:t>
            </a:r>
            <a:r>
              <a:rPr sz="3100" spc="-25" dirty="0">
                <a:latin typeface="Calibri"/>
                <a:cs typeface="Calibri"/>
              </a:rPr>
              <a:t> </a:t>
            </a:r>
            <a:r>
              <a:rPr sz="3100" dirty="0">
                <a:latin typeface="Calibri"/>
                <a:cs typeface="Calibri"/>
              </a:rPr>
              <a:t>City</a:t>
            </a:r>
            <a:r>
              <a:rPr sz="3100" spc="-15" dirty="0">
                <a:latin typeface="Calibri"/>
                <a:cs typeface="Calibri"/>
              </a:rPr>
              <a:t> </a:t>
            </a:r>
            <a:r>
              <a:rPr sz="3100" spc="-10" dirty="0">
                <a:latin typeface="Calibri"/>
                <a:cs typeface="Calibri"/>
              </a:rPr>
              <a:t>Development</a:t>
            </a:r>
            <a:endParaRPr sz="3100">
              <a:latin typeface="Calibri"/>
              <a:cs typeface="Calibri"/>
            </a:endParaRPr>
          </a:p>
          <a:p>
            <a:pPr marL="654050" marR="93980" indent="-475615">
              <a:lnSpc>
                <a:spcPct val="100800"/>
              </a:lnSpc>
              <a:buFont typeface="Arial MT"/>
              <a:buChar char="●"/>
              <a:tabLst>
                <a:tab pos="654050" algn="l"/>
              </a:tabLst>
            </a:pPr>
            <a:r>
              <a:rPr sz="3100" dirty="0">
                <a:latin typeface="Calibri"/>
                <a:cs typeface="Calibri"/>
              </a:rPr>
              <a:t>Enhances</a:t>
            </a:r>
            <a:r>
              <a:rPr sz="3100" spc="-30" dirty="0">
                <a:latin typeface="Calibri"/>
                <a:cs typeface="Calibri"/>
              </a:rPr>
              <a:t> </a:t>
            </a:r>
            <a:r>
              <a:rPr sz="3100" dirty="0">
                <a:latin typeface="Calibri"/>
                <a:cs typeface="Calibri"/>
              </a:rPr>
              <a:t>urban</a:t>
            </a:r>
            <a:r>
              <a:rPr sz="3100" spc="-30" dirty="0">
                <a:latin typeface="Calibri"/>
                <a:cs typeface="Calibri"/>
              </a:rPr>
              <a:t> </a:t>
            </a:r>
            <a:r>
              <a:rPr sz="3100" spc="-10" dirty="0">
                <a:latin typeface="Calibri"/>
                <a:cs typeface="Calibri"/>
              </a:rPr>
              <a:t>infrastructure</a:t>
            </a:r>
            <a:r>
              <a:rPr sz="3100" spc="-30" dirty="0">
                <a:latin typeface="Calibri"/>
                <a:cs typeface="Calibri"/>
              </a:rPr>
              <a:t> </a:t>
            </a:r>
            <a:r>
              <a:rPr sz="3100" dirty="0">
                <a:latin typeface="Calibri"/>
                <a:cs typeface="Calibri"/>
              </a:rPr>
              <a:t>with</a:t>
            </a:r>
            <a:r>
              <a:rPr sz="3100" spc="-30" dirty="0">
                <a:latin typeface="Calibri"/>
                <a:cs typeface="Calibri"/>
              </a:rPr>
              <a:t> </a:t>
            </a:r>
            <a:r>
              <a:rPr sz="3100" dirty="0">
                <a:latin typeface="Calibri"/>
                <a:cs typeface="Calibri"/>
              </a:rPr>
              <a:t>IoT</a:t>
            </a:r>
            <a:r>
              <a:rPr sz="3100" spc="-30" dirty="0">
                <a:latin typeface="Calibri"/>
                <a:cs typeface="Calibri"/>
              </a:rPr>
              <a:t> </a:t>
            </a:r>
            <a:r>
              <a:rPr sz="3100" spc="-25" dirty="0">
                <a:latin typeface="Calibri"/>
                <a:cs typeface="Calibri"/>
              </a:rPr>
              <a:t>and </a:t>
            </a:r>
            <a:r>
              <a:rPr sz="3100" dirty="0">
                <a:latin typeface="Calibri"/>
                <a:cs typeface="Calibri"/>
              </a:rPr>
              <a:t>smart</a:t>
            </a:r>
            <a:r>
              <a:rPr sz="3100" spc="-25" dirty="0">
                <a:latin typeface="Calibri"/>
                <a:cs typeface="Calibri"/>
              </a:rPr>
              <a:t> </a:t>
            </a:r>
            <a:r>
              <a:rPr sz="3100" spc="-10" dirty="0">
                <a:latin typeface="Calibri"/>
                <a:cs typeface="Calibri"/>
              </a:rPr>
              <a:t>analytics.</a:t>
            </a:r>
            <a:endParaRPr sz="31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9449999" y="1700850"/>
            <a:ext cx="8584565" cy="8178800"/>
            <a:chOff x="9449999" y="1700850"/>
            <a:chExt cx="8584565" cy="8178800"/>
          </a:xfrm>
        </p:grpSpPr>
        <p:sp>
          <p:nvSpPr>
            <p:cNvPr id="11" name="object 11"/>
            <p:cNvSpPr/>
            <p:nvPr/>
          </p:nvSpPr>
          <p:spPr>
            <a:xfrm>
              <a:off x="9449999" y="1700850"/>
              <a:ext cx="8584565" cy="8178800"/>
            </a:xfrm>
            <a:custGeom>
              <a:avLst/>
              <a:gdLst/>
              <a:ahLst/>
              <a:cxnLst/>
              <a:rect l="l" t="t" r="r" b="b"/>
              <a:pathLst>
                <a:path w="8584565" h="8178800">
                  <a:moveTo>
                    <a:pt x="8584419" y="8178481"/>
                  </a:moveTo>
                  <a:lnTo>
                    <a:pt x="0" y="8178481"/>
                  </a:lnTo>
                  <a:lnTo>
                    <a:pt x="0" y="0"/>
                  </a:lnTo>
                  <a:lnTo>
                    <a:pt x="8584419" y="0"/>
                  </a:lnTo>
                  <a:lnTo>
                    <a:pt x="8584419" y="8178481"/>
                  </a:lnTo>
                  <a:close/>
                </a:path>
              </a:pathLst>
            </a:custGeom>
            <a:solidFill>
              <a:srgbClr val="B45F0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0219374" y="2418625"/>
              <a:ext cx="7364730" cy="6760209"/>
            </a:xfrm>
            <a:custGeom>
              <a:avLst/>
              <a:gdLst/>
              <a:ahLst/>
              <a:cxnLst/>
              <a:rect l="l" t="t" r="r" b="b"/>
              <a:pathLst>
                <a:path w="7364730" h="6760209">
                  <a:moveTo>
                    <a:pt x="7364719" y="6759826"/>
                  </a:moveTo>
                  <a:lnTo>
                    <a:pt x="0" y="6759826"/>
                  </a:lnTo>
                  <a:lnTo>
                    <a:pt x="0" y="0"/>
                  </a:lnTo>
                  <a:lnTo>
                    <a:pt x="7364719" y="0"/>
                  </a:lnTo>
                  <a:lnTo>
                    <a:pt x="7364719" y="675982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333887" y="2583560"/>
              <a:ext cx="616706" cy="580429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10219374" y="2418625"/>
            <a:ext cx="7364730" cy="6760209"/>
          </a:xfrm>
          <a:prstGeom prst="rect">
            <a:avLst/>
          </a:prstGeom>
          <a:ln w="38099">
            <a:solidFill>
              <a:srgbClr val="0B7743"/>
            </a:solidFill>
          </a:ln>
        </p:spPr>
        <p:txBody>
          <a:bodyPr vert="horz" wrap="square" lIns="0" tIns="128905" rIns="0" bIns="0" rtlCol="0">
            <a:spAutoFit/>
          </a:bodyPr>
          <a:lstStyle/>
          <a:p>
            <a:pPr marL="842644">
              <a:lnSpc>
                <a:spcPct val="100000"/>
              </a:lnSpc>
              <a:spcBef>
                <a:spcPts val="1015"/>
              </a:spcBef>
            </a:pPr>
            <a:r>
              <a:rPr sz="3900" b="1" spc="-10" dirty="0">
                <a:latin typeface="Calibri"/>
                <a:cs typeface="Calibri"/>
              </a:rPr>
              <a:t>BENEFITS</a:t>
            </a:r>
            <a:endParaRPr sz="3900">
              <a:latin typeface="Calibri"/>
              <a:cs typeface="Calibri"/>
            </a:endParaRPr>
          </a:p>
          <a:p>
            <a:pPr marL="571500" indent="-459105">
              <a:lnSpc>
                <a:spcPct val="100000"/>
              </a:lnSpc>
              <a:spcBef>
                <a:spcPts val="3604"/>
              </a:spcBef>
              <a:buFont typeface="Arial MT"/>
              <a:buChar char="●"/>
              <a:tabLst>
                <a:tab pos="571500" algn="l"/>
              </a:tabLst>
            </a:pPr>
            <a:r>
              <a:rPr sz="3000" spc="-15" dirty="0">
                <a:latin typeface="Calibri"/>
                <a:cs typeface="Calibri"/>
              </a:rPr>
              <a:t>Real-</a:t>
            </a:r>
            <a:r>
              <a:rPr sz="3000" dirty="0">
                <a:latin typeface="Calibri"/>
                <a:cs typeface="Calibri"/>
              </a:rPr>
              <a:t>Time</a:t>
            </a:r>
            <a:r>
              <a:rPr sz="3000" spc="-5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Air</a:t>
            </a:r>
            <a:r>
              <a:rPr sz="3000" spc="-4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Quality</a:t>
            </a:r>
            <a:r>
              <a:rPr sz="3000" spc="-5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Index</a:t>
            </a:r>
            <a:r>
              <a:rPr sz="3000" spc="-4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Tracking</a:t>
            </a:r>
            <a:endParaRPr sz="3000">
              <a:latin typeface="Calibri"/>
              <a:cs typeface="Calibri"/>
            </a:endParaRPr>
          </a:p>
          <a:p>
            <a:pPr marL="571500" marR="1379220" indent="-459105">
              <a:lnSpc>
                <a:spcPct val="100000"/>
              </a:lnSpc>
              <a:buFont typeface="Arial MT"/>
              <a:buChar char="●"/>
              <a:tabLst>
                <a:tab pos="571500" algn="l"/>
              </a:tabLst>
            </a:pPr>
            <a:r>
              <a:rPr sz="3000" dirty="0">
                <a:latin typeface="Calibri"/>
                <a:cs typeface="Calibri"/>
              </a:rPr>
              <a:t>Monitors</a:t>
            </a:r>
            <a:r>
              <a:rPr sz="3000" spc="-4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AQI</a:t>
            </a:r>
            <a:r>
              <a:rPr sz="3000" spc="-4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in</a:t>
            </a:r>
            <a:r>
              <a:rPr sz="3000" spc="-45" dirty="0">
                <a:latin typeface="Calibri"/>
                <a:cs typeface="Calibri"/>
              </a:rPr>
              <a:t> </a:t>
            </a:r>
            <a:r>
              <a:rPr sz="3000" spc="-25" dirty="0">
                <a:latin typeface="Calibri"/>
                <a:cs typeface="Calibri"/>
              </a:rPr>
              <a:t>real-</a:t>
            </a:r>
            <a:r>
              <a:rPr sz="3000" dirty="0">
                <a:latin typeface="Calibri"/>
                <a:cs typeface="Calibri"/>
              </a:rPr>
              <a:t>time</a:t>
            </a:r>
            <a:r>
              <a:rPr sz="3000" spc="-4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using</a:t>
            </a:r>
            <a:r>
              <a:rPr sz="3000" spc="-45" dirty="0">
                <a:latin typeface="Calibri"/>
                <a:cs typeface="Calibri"/>
              </a:rPr>
              <a:t> </a:t>
            </a:r>
            <a:r>
              <a:rPr sz="3000" spc="-25" dirty="0">
                <a:latin typeface="Calibri"/>
                <a:cs typeface="Calibri"/>
              </a:rPr>
              <a:t>IoT </a:t>
            </a:r>
            <a:r>
              <a:rPr sz="3000" spc="-10" dirty="0">
                <a:latin typeface="Calibri"/>
                <a:cs typeface="Calibri"/>
              </a:rPr>
              <a:t>sensors.</a:t>
            </a:r>
            <a:endParaRPr sz="3000">
              <a:latin typeface="Calibri"/>
              <a:cs typeface="Calibri"/>
            </a:endParaRPr>
          </a:p>
          <a:p>
            <a:pPr marL="571500" indent="-459105">
              <a:lnSpc>
                <a:spcPct val="100000"/>
              </a:lnSpc>
              <a:buFont typeface="Arial MT"/>
              <a:buChar char="●"/>
              <a:tabLst>
                <a:tab pos="571500" algn="l"/>
              </a:tabLst>
            </a:pPr>
            <a:r>
              <a:rPr sz="3000" spc="-20" dirty="0">
                <a:latin typeface="Calibri"/>
                <a:cs typeface="Calibri"/>
              </a:rPr>
              <a:t>Hardware</a:t>
            </a:r>
            <a:r>
              <a:rPr sz="3000" spc="-9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and</a:t>
            </a:r>
            <a:r>
              <a:rPr sz="3000" spc="-8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Software</a:t>
            </a:r>
            <a:r>
              <a:rPr sz="3000" spc="-8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Integration</a:t>
            </a:r>
            <a:endParaRPr sz="3000">
              <a:latin typeface="Calibri"/>
              <a:cs typeface="Calibri"/>
            </a:endParaRPr>
          </a:p>
          <a:p>
            <a:pPr marL="571500" indent="-459105">
              <a:lnSpc>
                <a:spcPct val="100000"/>
              </a:lnSpc>
              <a:buFont typeface="Arial MT"/>
              <a:buChar char="●"/>
              <a:tabLst>
                <a:tab pos="571500" algn="l"/>
              </a:tabLst>
            </a:pPr>
            <a:r>
              <a:rPr sz="3000" spc="-45" dirty="0">
                <a:latin typeface="Calibri"/>
                <a:cs typeface="Calibri"/>
              </a:rPr>
              <a:t>Cost-</a:t>
            </a:r>
            <a:r>
              <a:rPr sz="3000" dirty="0">
                <a:latin typeface="Calibri"/>
                <a:cs typeface="Calibri"/>
              </a:rPr>
              <a:t>Competitive</a:t>
            </a:r>
            <a:r>
              <a:rPr sz="3000" spc="-4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and</a:t>
            </a:r>
            <a:r>
              <a:rPr sz="3000" spc="-3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Scalable</a:t>
            </a:r>
            <a:endParaRPr sz="3000">
              <a:latin typeface="Calibri"/>
              <a:cs typeface="Calibri"/>
            </a:endParaRPr>
          </a:p>
          <a:p>
            <a:pPr marL="571500" marR="1366520" indent="-459105">
              <a:lnSpc>
                <a:spcPct val="100000"/>
              </a:lnSpc>
              <a:buFont typeface="Arial MT"/>
              <a:buChar char="●"/>
              <a:tabLst>
                <a:tab pos="571500" algn="l"/>
              </a:tabLst>
            </a:pPr>
            <a:r>
              <a:rPr sz="3000" spc="-10" dirty="0">
                <a:latin typeface="Calibri"/>
                <a:cs typeface="Calibri"/>
              </a:rPr>
              <a:t>End-</a:t>
            </a:r>
            <a:r>
              <a:rPr sz="3000" spc="-20" dirty="0">
                <a:latin typeface="Calibri"/>
                <a:cs typeface="Calibri"/>
              </a:rPr>
              <a:t>to-</a:t>
            </a:r>
            <a:r>
              <a:rPr sz="3000" dirty="0">
                <a:latin typeface="Calibri"/>
                <a:cs typeface="Calibri"/>
              </a:rPr>
              <a:t>end</a:t>
            </a:r>
            <a:r>
              <a:rPr sz="3000" spc="-5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solution</a:t>
            </a:r>
            <a:r>
              <a:rPr sz="3000" spc="-5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that</a:t>
            </a:r>
            <a:r>
              <a:rPr sz="3000" spc="-5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integrates </a:t>
            </a:r>
            <a:r>
              <a:rPr sz="3000" spc="-20" dirty="0">
                <a:latin typeface="Calibri"/>
                <a:cs typeface="Calibri"/>
              </a:rPr>
              <a:t>hardware,</a:t>
            </a:r>
            <a:r>
              <a:rPr sz="3000" spc="-7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software,</a:t>
            </a:r>
            <a:r>
              <a:rPr sz="3000" spc="-7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and</a:t>
            </a:r>
            <a:r>
              <a:rPr sz="3000" spc="-7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analytics.</a:t>
            </a:r>
            <a:endParaRPr sz="3000">
              <a:latin typeface="Calibri"/>
              <a:cs typeface="Calibri"/>
            </a:endParaRPr>
          </a:p>
          <a:p>
            <a:pPr marL="571500" marR="733425" indent="-459105">
              <a:lnSpc>
                <a:spcPct val="100000"/>
              </a:lnSpc>
              <a:buFont typeface="Arial MT"/>
              <a:buChar char="●"/>
              <a:tabLst>
                <a:tab pos="571500" algn="l"/>
              </a:tabLst>
            </a:pPr>
            <a:r>
              <a:rPr sz="3000" dirty="0">
                <a:latin typeface="Calibri"/>
                <a:cs typeface="Calibri"/>
              </a:rPr>
              <a:t>Utilizes</a:t>
            </a:r>
            <a:r>
              <a:rPr sz="3000" spc="-75" dirty="0">
                <a:latin typeface="Calibri"/>
                <a:cs typeface="Calibri"/>
              </a:rPr>
              <a:t> </a:t>
            </a:r>
            <a:r>
              <a:rPr sz="3000" spc="-40" dirty="0">
                <a:latin typeface="Calibri"/>
                <a:cs typeface="Calibri"/>
              </a:rPr>
              <a:t>low-</a:t>
            </a:r>
            <a:r>
              <a:rPr sz="3000" dirty="0">
                <a:latin typeface="Calibri"/>
                <a:cs typeface="Calibri"/>
              </a:rPr>
              <a:t>cost</a:t>
            </a:r>
            <a:r>
              <a:rPr sz="3000" spc="-70" dirty="0">
                <a:latin typeface="Calibri"/>
                <a:cs typeface="Calibri"/>
              </a:rPr>
              <a:t> </a:t>
            </a:r>
            <a:r>
              <a:rPr sz="3000" spc="-20" dirty="0">
                <a:latin typeface="Calibri"/>
                <a:cs typeface="Calibri"/>
              </a:rPr>
              <a:t>hardware</a:t>
            </a:r>
            <a:r>
              <a:rPr sz="3000" spc="-7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and</a:t>
            </a:r>
            <a:r>
              <a:rPr sz="3000" spc="-7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scalable architecture.</a:t>
            </a:r>
            <a:endParaRPr sz="3000">
              <a:latin typeface="Calibri"/>
              <a:cs typeface="Calibri"/>
            </a:endParaRPr>
          </a:p>
          <a:p>
            <a:pPr marL="114300">
              <a:lnSpc>
                <a:spcPct val="100000"/>
              </a:lnSpc>
            </a:pPr>
            <a:r>
              <a:rPr sz="3000" spc="-50" dirty="0">
                <a:latin typeface="Calibri"/>
                <a:cs typeface="Calibri"/>
              </a:rPr>
              <a:t>Easy-</a:t>
            </a:r>
            <a:r>
              <a:rPr sz="3000" spc="-20" dirty="0">
                <a:latin typeface="Calibri"/>
                <a:cs typeface="Calibri"/>
              </a:rPr>
              <a:t>to-</a:t>
            </a:r>
            <a:r>
              <a:rPr sz="3000" dirty="0">
                <a:latin typeface="Calibri"/>
                <a:cs typeface="Calibri"/>
              </a:rPr>
              <a:t>Use</a:t>
            </a:r>
            <a:r>
              <a:rPr sz="3000" spc="-4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Data</a:t>
            </a:r>
            <a:r>
              <a:rPr sz="3000" spc="-4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Visualization</a:t>
            </a:r>
            <a:endParaRPr sz="3000">
              <a:latin typeface="Calibri"/>
              <a:cs typeface="Calibri"/>
            </a:endParaRPr>
          </a:p>
        </p:txBody>
      </p:sp>
      <p:pic>
        <p:nvPicPr>
          <p:cNvPr id="15" name="object 1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280925" y="2565924"/>
            <a:ext cx="3555072" cy="1136999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055900" y="2541387"/>
            <a:ext cx="3555074" cy="118606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92954" rIns="0" bIns="0" rtlCol="0">
            <a:spAutoFit/>
          </a:bodyPr>
          <a:lstStyle/>
          <a:p>
            <a:pPr marL="1188085">
              <a:lnSpc>
                <a:spcPct val="100000"/>
              </a:lnSpc>
              <a:spcBef>
                <a:spcPts val="120"/>
              </a:spcBef>
            </a:pPr>
            <a:r>
              <a:rPr dirty="0">
                <a:solidFill>
                  <a:srgbClr val="FFFFFF"/>
                </a:solidFill>
              </a:rPr>
              <a:t>FUTURE</a:t>
            </a:r>
            <a:r>
              <a:rPr spc="-55" dirty="0">
                <a:solidFill>
                  <a:srgbClr val="FFFFFF"/>
                </a:solidFill>
              </a:rPr>
              <a:t> </a:t>
            </a:r>
            <a:r>
              <a:rPr spc="-10" dirty="0">
                <a:solidFill>
                  <a:srgbClr val="FFFFFF"/>
                </a:solidFill>
              </a:rPr>
              <a:t>SCOPE</a:t>
            </a:r>
          </a:p>
        </p:txBody>
      </p:sp>
      <p:sp>
        <p:nvSpPr>
          <p:cNvPr id="3" name="object 3"/>
          <p:cNvSpPr/>
          <p:nvPr/>
        </p:nvSpPr>
        <p:spPr>
          <a:xfrm>
            <a:off x="1224149" y="2338800"/>
            <a:ext cx="15840075" cy="7357745"/>
          </a:xfrm>
          <a:custGeom>
            <a:avLst/>
            <a:gdLst/>
            <a:ahLst/>
            <a:cxnLst/>
            <a:rect l="l" t="t" r="r" b="b"/>
            <a:pathLst>
              <a:path w="15840075" h="7357745">
                <a:moveTo>
                  <a:pt x="15839699" y="7357499"/>
                </a:moveTo>
                <a:lnTo>
                  <a:pt x="0" y="7357499"/>
                </a:lnTo>
                <a:lnTo>
                  <a:pt x="0" y="0"/>
                </a:lnTo>
                <a:lnTo>
                  <a:pt x="15839699" y="0"/>
                </a:lnTo>
                <a:lnTo>
                  <a:pt x="15839699" y="7357499"/>
                </a:lnTo>
                <a:close/>
              </a:path>
            </a:pathLst>
          </a:custGeom>
          <a:solidFill>
            <a:srgbClr val="783E0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272636" y="3949541"/>
            <a:ext cx="15587980" cy="5054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94030" indent="-481330">
              <a:lnSpc>
                <a:spcPct val="100000"/>
              </a:lnSpc>
              <a:spcBef>
                <a:spcPts val="100"/>
              </a:spcBef>
              <a:buFont typeface="Arial MT"/>
              <a:buChar char="●"/>
              <a:tabLst>
                <a:tab pos="494030" algn="l"/>
              </a:tabLst>
            </a:pPr>
            <a:r>
              <a:rPr sz="3300" spc="-10" dirty="0">
                <a:solidFill>
                  <a:srgbClr val="FFFFFF"/>
                </a:solidFill>
                <a:latin typeface="Calibri"/>
                <a:cs typeface="Calibri"/>
              </a:rPr>
              <a:t>Intelligent</a:t>
            </a:r>
            <a:r>
              <a:rPr sz="3300" spc="-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300" spc="-10" dirty="0">
                <a:solidFill>
                  <a:srgbClr val="FFFFFF"/>
                </a:solidFill>
                <a:latin typeface="Calibri"/>
                <a:cs typeface="Calibri"/>
              </a:rPr>
              <a:t>Prediction</a:t>
            </a:r>
            <a:r>
              <a:rPr sz="3300" spc="-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300" dirty="0">
                <a:solidFill>
                  <a:srgbClr val="FFFFFF"/>
                </a:solidFill>
                <a:latin typeface="Calibri"/>
                <a:cs typeface="Calibri"/>
              </a:rPr>
              <a:t>&amp;</a:t>
            </a:r>
            <a:r>
              <a:rPr sz="33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300" spc="-10" dirty="0">
                <a:solidFill>
                  <a:srgbClr val="FFFFFF"/>
                </a:solidFill>
                <a:latin typeface="Calibri"/>
                <a:cs typeface="Calibri"/>
              </a:rPr>
              <a:t>Automation</a:t>
            </a:r>
            <a:endParaRPr sz="3300">
              <a:latin typeface="Calibri"/>
              <a:cs typeface="Calibri"/>
            </a:endParaRPr>
          </a:p>
          <a:p>
            <a:pPr marL="494030" marR="158115" indent="-481965">
              <a:lnSpc>
                <a:spcPct val="100000"/>
              </a:lnSpc>
              <a:buFont typeface="Arial MT"/>
              <a:buChar char="●"/>
              <a:tabLst>
                <a:tab pos="494030" algn="l"/>
              </a:tabLst>
            </a:pPr>
            <a:r>
              <a:rPr sz="3300" spc="-10" dirty="0">
                <a:solidFill>
                  <a:srgbClr val="FFFFFF"/>
                </a:solidFill>
                <a:latin typeface="Calibri"/>
                <a:cs typeface="Calibri"/>
              </a:rPr>
              <a:t>Improve</a:t>
            </a:r>
            <a:r>
              <a:rPr sz="3300" spc="-1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3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3300" spc="-1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300" dirty="0">
                <a:solidFill>
                  <a:srgbClr val="FFFFFF"/>
                </a:solidFill>
                <a:latin typeface="Calibri"/>
                <a:cs typeface="Calibri"/>
              </a:rPr>
              <a:t>system</a:t>
            </a:r>
            <a:r>
              <a:rPr sz="3300" spc="-1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300" dirty="0">
                <a:solidFill>
                  <a:srgbClr val="FFFFFF"/>
                </a:solidFill>
                <a:latin typeface="Calibri"/>
                <a:cs typeface="Calibri"/>
              </a:rPr>
              <a:t>by</a:t>
            </a:r>
            <a:r>
              <a:rPr sz="3300" spc="-9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300" spc="-10" dirty="0">
                <a:solidFill>
                  <a:srgbClr val="FFFFFF"/>
                </a:solidFill>
                <a:latin typeface="Calibri"/>
                <a:cs typeface="Calibri"/>
              </a:rPr>
              <a:t>incorporating</a:t>
            </a:r>
            <a:r>
              <a:rPr sz="3300" spc="-1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300" dirty="0">
                <a:solidFill>
                  <a:srgbClr val="FFFFFF"/>
                </a:solidFill>
                <a:latin typeface="Calibri"/>
                <a:cs typeface="Calibri"/>
              </a:rPr>
              <a:t>more</a:t>
            </a:r>
            <a:r>
              <a:rPr sz="3300" spc="-1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300" dirty="0">
                <a:solidFill>
                  <a:srgbClr val="FFFFFF"/>
                </a:solidFill>
                <a:latin typeface="Calibri"/>
                <a:cs typeface="Calibri"/>
              </a:rPr>
              <a:t>advanced</a:t>
            </a:r>
            <a:r>
              <a:rPr sz="3300" spc="-9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300" dirty="0">
                <a:solidFill>
                  <a:srgbClr val="FFFFFF"/>
                </a:solidFill>
                <a:latin typeface="Calibri"/>
                <a:cs typeface="Calibri"/>
              </a:rPr>
              <a:t>AI</a:t>
            </a:r>
            <a:r>
              <a:rPr sz="3300" spc="-1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300" dirty="0">
                <a:solidFill>
                  <a:srgbClr val="FFFFFF"/>
                </a:solidFill>
                <a:latin typeface="Calibri"/>
                <a:cs typeface="Calibri"/>
              </a:rPr>
              <a:t>algorithms</a:t>
            </a:r>
            <a:r>
              <a:rPr sz="3300" spc="-1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3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3300" spc="-9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300" dirty="0">
                <a:solidFill>
                  <a:srgbClr val="FFFFFF"/>
                </a:solidFill>
                <a:latin typeface="Calibri"/>
                <a:cs typeface="Calibri"/>
              </a:rPr>
              <a:t>pollution</a:t>
            </a:r>
            <a:r>
              <a:rPr sz="3300" spc="-1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300" spc="-10" dirty="0">
                <a:solidFill>
                  <a:srgbClr val="FFFFFF"/>
                </a:solidFill>
                <a:latin typeface="Calibri"/>
                <a:cs typeface="Calibri"/>
              </a:rPr>
              <a:t>hotspot prediction</a:t>
            </a:r>
            <a:r>
              <a:rPr sz="3300" spc="-1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3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3300" spc="-10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300" dirty="0">
                <a:solidFill>
                  <a:srgbClr val="FFFFFF"/>
                </a:solidFill>
                <a:latin typeface="Calibri"/>
                <a:cs typeface="Calibri"/>
              </a:rPr>
              <a:t>automated</a:t>
            </a:r>
            <a:r>
              <a:rPr sz="3300" spc="-10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300" spc="-10" dirty="0">
                <a:solidFill>
                  <a:srgbClr val="FFFFFF"/>
                </a:solidFill>
                <a:latin typeface="Calibri"/>
                <a:cs typeface="Calibri"/>
              </a:rPr>
              <a:t>action.</a:t>
            </a:r>
            <a:endParaRPr sz="3300">
              <a:latin typeface="Calibri"/>
              <a:cs typeface="Calibri"/>
            </a:endParaRPr>
          </a:p>
          <a:p>
            <a:pPr marL="494030" indent="-481330">
              <a:lnSpc>
                <a:spcPct val="100000"/>
              </a:lnSpc>
              <a:buFont typeface="Arial MT"/>
              <a:buChar char="●"/>
              <a:tabLst>
                <a:tab pos="494030" algn="l"/>
              </a:tabLst>
            </a:pPr>
            <a:r>
              <a:rPr sz="3300" spc="-30" dirty="0">
                <a:solidFill>
                  <a:srgbClr val="FFFFFF"/>
                </a:solidFill>
                <a:latin typeface="Calibri"/>
                <a:cs typeface="Calibri"/>
              </a:rPr>
              <a:t>City-</a:t>
            </a:r>
            <a:r>
              <a:rPr sz="3300" dirty="0">
                <a:solidFill>
                  <a:srgbClr val="FFFFFF"/>
                </a:solidFill>
                <a:latin typeface="Calibri"/>
                <a:cs typeface="Calibri"/>
              </a:rPr>
              <a:t>Wide</a:t>
            </a:r>
            <a:r>
              <a:rPr sz="33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300" dirty="0">
                <a:solidFill>
                  <a:srgbClr val="FFFFFF"/>
                </a:solidFill>
                <a:latin typeface="Calibri"/>
                <a:cs typeface="Calibri"/>
              </a:rPr>
              <a:t>Smart</a:t>
            </a:r>
            <a:r>
              <a:rPr sz="33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300" spc="-20" dirty="0">
                <a:solidFill>
                  <a:srgbClr val="FFFFFF"/>
                </a:solidFill>
                <a:latin typeface="Calibri"/>
                <a:cs typeface="Calibri"/>
              </a:rPr>
              <a:t>Infrastructure</a:t>
            </a:r>
            <a:r>
              <a:rPr sz="33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300" spc="-10" dirty="0">
                <a:solidFill>
                  <a:srgbClr val="FFFFFF"/>
                </a:solidFill>
                <a:latin typeface="Calibri"/>
                <a:cs typeface="Calibri"/>
              </a:rPr>
              <a:t>Integration</a:t>
            </a:r>
            <a:endParaRPr sz="3300">
              <a:latin typeface="Calibri"/>
              <a:cs typeface="Calibri"/>
            </a:endParaRPr>
          </a:p>
          <a:p>
            <a:pPr marL="494030" marR="873760" indent="-481965">
              <a:lnSpc>
                <a:spcPct val="100000"/>
              </a:lnSpc>
              <a:buFont typeface="Arial MT"/>
              <a:buChar char="●"/>
              <a:tabLst>
                <a:tab pos="494030" algn="l"/>
              </a:tabLst>
            </a:pPr>
            <a:r>
              <a:rPr sz="3300" dirty="0">
                <a:solidFill>
                  <a:srgbClr val="FFFFFF"/>
                </a:solidFill>
                <a:latin typeface="Calibri"/>
                <a:cs typeface="Calibri"/>
              </a:rPr>
              <a:t>Expand</a:t>
            </a:r>
            <a:r>
              <a:rPr sz="33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3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33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300" dirty="0">
                <a:solidFill>
                  <a:srgbClr val="FFFFFF"/>
                </a:solidFill>
                <a:latin typeface="Calibri"/>
                <a:cs typeface="Calibri"/>
              </a:rPr>
              <a:t>IoT</a:t>
            </a:r>
            <a:r>
              <a:rPr sz="33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300" dirty="0">
                <a:solidFill>
                  <a:srgbClr val="FFFFFF"/>
                </a:solidFill>
                <a:latin typeface="Calibri"/>
                <a:cs typeface="Calibri"/>
              </a:rPr>
              <a:t>sensor</a:t>
            </a:r>
            <a:r>
              <a:rPr sz="33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300" dirty="0">
                <a:solidFill>
                  <a:srgbClr val="FFFFFF"/>
                </a:solidFill>
                <a:latin typeface="Calibri"/>
                <a:cs typeface="Calibri"/>
              </a:rPr>
              <a:t>network</a:t>
            </a:r>
            <a:r>
              <a:rPr sz="33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3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33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300" dirty="0">
                <a:solidFill>
                  <a:srgbClr val="FFFFFF"/>
                </a:solidFill>
                <a:latin typeface="Calibri"/>
                <a:cs typeface="Calibri"/>
              </a:rPr>
              <a:t>cities</a:t>
            </a:r>
            <a:r>
              <a:rPr sz="33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3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33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300" spc="-10" dirty="0">
                <a:solidFill>
                  <a:srgbClr val="FFFFFF"/>
                </a:solidFill>
                <a:latin typeface="Calibri"/>
                <a:cs typeface="Calibri"/>
              </a:rPr>
              <a:t>integrate</a:t>
            </a:r>
            <a:r>
              <a:rPr sz="33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300" dirty="0">
                <a:solidFill>
                  <a:srgbClr val="FFFFFF"/>
                </a:solidFill>
                <a:latin typeface="Calibri"/>
                <a:cs typeface="Calibri"/>
              </a:rPr>
              <a:t>with</a:t>
            </a:r>
            <a:r>
              <a:rPr sz="33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300" dirty="0">
                <a:solidFill>
                  <a:srgbClr val="FFFFFF"/>
                </a:solidFill>
                <a:latin typeface="Calibri"/>
                <a:cs typeface="Calibri"/>
              </a:rPr>
              <a:t>smart</a:t>
            </a:r>
            <a:r>
              <a:rPr sz="33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300" dirty="0">
                <a:solidFill>
                  <a:srgbClr val="FFFFFF"/>
                </a:solidFill>
                <a:latin typeface="Calibri"/>
                <a:cs typeface="Calibri"/>
              </a:rPr>
              <a:t>city</a:t>
            </a:r>
            <a:r>
              <a:rPr sz="33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300" spc="-10" dirty="0">
                <a:solidFill>
                  <a:srgbClr val="FFFFFF"/>
                </a:solidFill>
                <a:latin typeface="Calibri"/>
                <a:cs typeface="Calibri"/>
              </a:rPr>
              <a:t>infrastructure, </a:t>
            </a:r>
            <a:r>
              <a:rPr sz="3300" dirty="0">
                <a:solidFill>
                  <a:srgbClr val="FFFFFF"/>
                </a:solidFill>
                <a:latin typeface="Calibri"/>
                <a:cs typeface="Calibri"/>
              </a:rPr>
              <a:t>traffic</a:t>
            </a:r>
            <a:r>
              <a:rPr sz="3300" spc="-1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300" dirty="0">
                <a:solidFill>
                  <a:srgbClr val="FFFFFF"/>
                </a:solidFill>
                <a:latin typeface="Calibri"/>
                <a:cs typeface="Calibri"/>
              </a:rPr>
              <a:t>management,</a:t>
            </a:r>
            <a:r>
              <a:rPr sz="3300" spc="-1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3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3300" spc="-1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300" dirty="0">
                <a:solidFill>
                  <a:srgbClr val="FFFFFF"/>
                </a:solidFill>
                <a:latin typeface="Calibri"/>
                <a:cs typeface="Calibri"/>
              </a:rPr>
              <a:t>city</a:t>
            </a:r>
            <a:r>
              <a:rPr sz="3300" spc="-9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300" dirty="0">
                <a:solidFill>
                  <a:srgbClr val="FFFFFF"/>
                </a:solidFill>
                <a:latin typeface="Calibri"/>
                <a:cs typeface="Calibri"/>
              </a:rPr>
              <a:t>governance</a:t>
            </a:r>
            <a:r>
              <a:rPr sz="3300" spc="-1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300" spc="-10" dirty="0">
                <a:solidFill>
                  <a:srgbClr val="FFFFFF"/>
                </a:solidFill>
                <a:latin typeface="Calibri"/>
                <a:cs typeface="Calibri"/>
              </a:rPr>
              <a:t>systems.</a:t>
            </a:r>
            <a:endParaRPr sz="3300">
              <a:latin typeface="Calibri"/>
              <a:cs typeface="Calibri"/>
            </a:endParaRPr>
          </a:p>
          <a:p>
            <a:pPr marL="494030" indent="-481330">
              <a:lnSpc>
                <a:spcPct val="100000"/>
              </a:lnSpc>
              <a:buFont typeface="Arial MT"/>
              <a:buChar char="●"/>
              <a:tabLst>
                <a:tab pos="494030" algn="l"/>
              </a:tabLst>
            </a:pPr>
            <a:r>
              <a:rPr sz="3300" dirty="0">
                <a:solidFill>
                  <a:srgbClr val="FFFFFF"/>
                </a:solidFill>
                <a:latin typeface="Calibri"/>
                <a:cs typeface="Calibri"/>
              </a:rPr>
              <a:t>Expanded</a:t>
            </a:r>
            <a:r>
              <a:rPr sz="33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300" spc="-25" dirty="0">
                <a:solidFill>
                  <a:srgbClr val="FFFFFF"/>
                </a:solidFill>
                <a:latin typeface="Calibri"/>
                <a:cs typeface="Calibri"/>
              </a:rPr>
              <a:t>Environmental</a:t>
            </a:r>
            <a:r>
              <a:rPr sz="33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300" dirty="0">
                <a:solidFill>
                  <a:srgbClr val="FFFFFF"/>
                </a:solidFill>
                <a:latin typeface="Calibri"/>
                <a:cs typeface="Calibri"/>
              </a:rPr>
              <a:t>&amp;</a:t>
            </a:r>
            <a:r>
              <a:rPr sz="33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300" dirty="0">
                <a:solidFill>
                  <a:srgbClr val="FFFFFF"/>
                </a:solidFill>
                <a:latin typeface="Calibri"/>
                <a:cs typeface="Calibri"/>
              </a:rPr>
              <a:t>Health</a:t>
            </a:r>
            <a:r>
              <a:rPr sz="33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300" spc="-10" dirty="0">
                <a:solidFill>
                  <a:srgbClr val="FFFFFF"/>
                </a:solidFill>
                <a:latin typeface="Calibri"/>
                <a:cs typeface="Calibri"/>
              </a:rPr>
              <a:t>Monitoring</a:t>
            </a:r>
            <a:endParaRPr sz="3300">
              <a:latin typeface="Calibri"/>
              <a:cs typeface="Calibri"/>
            </a:endParaRPr>
          </a:p>
          <a:p>
            <a:pPr marL="494030" indent="-481330">
              <a:lnSpc>
                <a:spcPct val="100000"/>
              </a:lnSpc>
              <a:buFont typeface="Arial MT"/>
              <a:buChar char="●"/>
              <a:tabLst>
                <a:tab pos="494030" algn="l"/>
              </a:tabLst>
            </a:pPr>
            <a:r>
              <a:rPr sz="3300" dirty="0">
                <a:solidFill>
                  <a:srgbClr val="FFFFFF"/>
                </a:solidFill>
                <a:latin typeface="Calibri"/>
                <a:cs typeface="Calibri"/>
              </a:rPr>
              <a:t>Scalable,</a:t>
            </a:r>
            <a:r>
              <a:rPr sz="33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300" spc="-10" dirty="0">
                <a:solidFill>
                  <a:srgbClr val="FFFFFF"/>
                </a:solidFill>
                <a:latin typeface="Calibri"/>
                <a:cs typeface="Calibri"/>
              </a:rPr>
              <a:t>Sustainable</a:t>
            </a:r>
            <a:r>
              <a:rPr sz="33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300" dirty="0">
                <a:solidFill>
                  <a:srgbClr val="FFFFFF"/>
                </a:solidFill>
                <a:latin typeface="Calibri"/>
                <a:cs typeface="Calibri"/>
              </a:rPr>
              <a:t>&amp;</a:t>
            </a:r>
            <a:r>
              <a:rPr sz="33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300" spc="-35" dirty="0">
                <a:solidFill>
                  <a:srgbClr val="FFFFFF"/>
                </a:solidFill>
                <a:latin typeface="Calibri"/>
                <a:cs typeface="Calibri"/>
              </a:rPr>
              <a:t>Citizen-</a:t>
            </a:r>
            <a:r>
              <a:rPr sz="3300" dirty="0">
                <a:solidFill>
                  <a:srgbClr val="FFFFFF"/>
                </a:solidFill>
                <a:latin typeface="Calibri"/>
                <a:cs typeface="Calibri"/>
              </a:rPr>
              <a:t>Centric</a:t>
            </a:r>
            <a:r>
              <a:rPr sz="33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300" spc="-10" dirty="0">
                <a:solidFill>
                  <a:srgbClr val="FFFFFF"/>
                </a:solidFill>
                <a:latin typeface="Calibri"/>
                <a:cs typeface="Calibri"/>
              </a:rPr>
              <a:t>Deployment</a:t>
            </a:r>
            <a:endParaRPr sz="3300">
              <a:latin typeface="Calibri"/>
              <a:cs typeface="Calibri"/>
            </a:endParaRPr>
          </a:p>
          <a:p>
            <a:pPr marL="494030" marR="5080" indent="-481965">
              <a:lnSpc>
                <a:spcPct val="100000"/>
              </a:lnSpc>
              <a:buFont typeface="Arial MT"/>
              <a:buChar char="●"/>
              <a:tabLst>
                <a:tab pos="494030" algn="l"/>
              </a:tabLst>
            </a:pPr>
            <a:r>
              <a:rPr sz="3300" dirty="0">
                <a:solidFill>
                  <a:srgbClr val="FFFFFF"/>
                </a:solidFill>
                <a:latin typeface="Calibri"/>
                <a:cs typeface="Calibri"/>
              </a:rPr>
              <a:t>Use</a:t>
            </a:r>
            <a:r>
              <a:rPr sz="33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300" spc="-30" dirty="0">
                <a:solidFill>
                  <a:srgbClr val="FFFFFF"/>
                </a:solidFill>
                <a:latin typeface="Calibri"/>
                <a:cs typeface="Calibri"/>
              </a:rPr>
              <a:t>energy-</a:t>
            </a:r>
            <a:r>
              <a:rPr sz="3300" spc="-10" dirty="0">
                <a:solidFill>
                  <a:srgbClr val="FFFFFF"/>
                </a:solidFill>
                <a:latin typeface="Calibri"/>
                <a:cs typeface="Calibri"/>
              </a:rPr>
              <a:t>efficient</a:t>
            </a:r>
            <a:r>
              <a:rPr sz="33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300" dirty="0">
                <a:solidFill>
                  <a:srgbClr val="FFFFFF"/>
                </a:solidFill>
                <a:latin typeface="Calibri"/>
                <a:cs typeface="Calibri"/>
              </a:rPr>
              <a:t>sensor</a:t>
            </a:r>
            <a:r>
              <a:rPr sz="33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300" dirty="0">
                <a:solidFill>
                  <a:srgbClr val="FFFFFF"/>
                </a:solidFill>
                <a:latin typeface="Calibri"/>
                <a:cs typeface="Calibri"/>
              </a:rPr>
              <a:t>nodes</a:t>
            </a:r>
            <a:r>
              <a:rPr sz="33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300" dirty="0">
                <a:solidFill>
                  <a:srgbClr val="FFFFFF"/>
                </a:solidFill>
                <a:latin typeface="Calibri"/>
                <a:cs typeface="Calibri"/>
              </a:rPr>
              <a:t>with</a:t>
            </a:r>
            <a:r>
              <a:rPr sz="33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300" dirty="0">
                <a:solidFill>
                  <a:srgbClr val="FFFFFF"/>
                </a:solidFill>
                <a:latin typeface="Calibri"/>
                <a:cs typeface="Calibri"/>
              </a:rPr>
              <a:t>cloud</a:t>
            </a:r>
            <a:r>
              <a:rPr sz="33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3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33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300" dirty="0">
                <a:solidFill>
                  <a:srgbClr val="FFFFFF"/>
                </a:solidFill>
                <a:latin typeface="Calibri"/>
                <a:cs typeface="Calibri"/>
              </a:rPr>
              <a:t>mobile</a:t>
            </a:r>
            <a:r>
              <a:rPr sz="33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300" dirty="0">
                <a:solidFill>
                  <a:srgbClr val="FFFFFF"/>
                </a:solidFill>
                <a:latin typeface="Calibri"/>
                <a:cs typeface="Calibri"/>
              </a:rPr>
              <a:t>connectivity</a:t>
            </a:r>
            <a:r>
              <a:rPr sz="33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3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33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300" spc="-20" dirty="0">
                <a:solidFill>
                  <a:srgbClr val="FFFFFF"/>
                </a:solidFill>
                <a:latin typeface="Calibri"/>
                <a:cs typeface="Calibri"/>
              </a:rPr>
              <a:t>real-</a:t>
            </a:r>
            <a:r>
              <a:rPr sz="3300" dirty="0">
                <a:solidFill>
                  <a:srgbClr val="FFFFFF"/>
                </a:solidFill>
                <a:latin typeface="Calibri"/>
                <a:cs typeface="Calibri"/>
              </a:rPr>
              <a:t>time</a:t>
            </a:r>
            <a:r>
              <a:rPr sz="33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300" spc="-10" dirty="0">
                <a:solidFill>
                  <a:srgbClr val="FFFFFF"/>
                </a:solidFill>
                <a:latin typeface="Calibri"/>
                <a:cs typeface="Calibri"/>
              </a:rPr>
              <a:t>alerts </a:t>
            </a:r>
            <a:r>
              <a:rPr sz="33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33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300" spc="-10" dirty="0">
                <a:solidFill>
                  <a:srgbClr val="FFFFFF"/>
                </a:solidFill>
                <a:latin typeface="Calibri"/>
                <a:cs typeface="Calibri"/>
              </a:rPr>
              <a:t>transparency.</a:t>
            </a:r>
            <a:endParaRPr sz="33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929025" y="421900"/>
            <a:ext cx="2469693" cy="1606499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1723500" y="2633425"/>
            <a:ext cx="16564610" cy="7653655"/>
            <a:chOff x="1723500" y="2633425"/>
            <a:chExt cx="16564610" cy="7653655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23500" y="2633425"/>
              <a:ext cx="6825277" cy="103182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026648" y="8965300"/>
              <a:ext cx="2261349" cy="132170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149825" y="5023325"/>
              <a:ext cx="1031824" cy="103182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908526" y="1407345"/>
            <a:ext cx="8719185" cy="8890"/>
          </a:xfrm>
          <a:custGeom>
            <a:avLst/>
            <a:gdLst/>
            <a:ahLst/>
            <a:cxnLst/>
            <a:rect l="l" t="t" r="r" b="b"/>
            <a:pathLst>
              <a:path w="8719185" h="8890">
                <a:moveTo>
                  <a:pt x="0" y="8699"/>
                </a:moveTo>
                <a:lnTo>
                  <a:pt x="8718600" y="0"/>
                </a:lnTo>
              </a:path>
            </a:pathLst>
          </a:custGeom>
          <a:ln w="3809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688464">
              <a:lnSpc>
                <a:spcPct val="100000"/>
              </a:lnSpc>
              <a:spcBef>
                <a:spcPts val="120"/>
              </a:spcBef>
            </a:pPr>
            <a:r>
              <a:rPr b="1" spc="10" dirty="0">
                <a:solidFill>
                  <a:srgbClr val="FFFFFF"/>
                </a:solidFill>
                <a:latin typeface="Times New Roman"/>
                <a:cs typeface="Times New Roman"/>
              </a:rPr>
              <a:t>MONETIZ</a:t>
            </a:r>
            <a:r>
              <a:rPr b="1" spc="-555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b="1" spc="10" dirty="0">
                <a:solidFill>
                  <a:srgbClr val="FFFFFF"/>
                </a:solidFill>
                <a:latin typeface="Times New Roman"/>
                <a:cs typeface="Times New Roman"/>
              </a:rPr>
              <a:t>TION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4291367" y="2207905"/>
            <a:ext cx="9271635" cy="7934959"/>
            <a:chOff x="4291367" y="2207905"/>
            <a:chExt cx="9271635" cy="7934959"/>
          </a:xfrm>
        </p:grpSpPr>
        <p:sp>
          <p:nvSpPr>
            <p:cNvPr id="5" name="object 5"/>
            <p:cNvSpPr/>
            <p:nvPr/>
          </p:nvSpPr>
          <p:spPr>
            <a:xfrm>
              <a:off x="5372277" y="3721925"/>
              <a:ext cx="7109459" cy="4629785"/>
            </a:xfrm>
            <a:custGeom>
              <a:avLst/>
              <a:gdLst/>
              <a:ahLst/>
              <a:cxnLst/>
              <a:rect l="l" t="t" r="r" b="b"/>
              <a:pathLst>
                <a:path w="7109459" h="4629784">
                  <a:moveTo>
                    <a:pt x="5036375" y="491159"/>
                  </a:moveTo>
                  <a:lnTo>
                    <a:pt x="3544684" y="0"/>
                  </a:lnTo>
                  <a:lnTo>
                    <a:pt x="2028101" y="491159"/>
                  </a:lnTo>
                  <a:lnTo>
                    <a:pt x="3525926" y="1045984"/>
                  </a:lnTo>
                  <a:lnTo>
                    <a:pt x="5036375" y="491159"/>
                  </a:lnTo>
                  <a:close/>
                </a:path>
                <a:path w="7109459" h="4629784">
                  <a:moveTo>
                    <a:pt x="7109434" y="3302736"/>
                  </a:moveTo>
                  <a:lnTo>
                    <a:pt x="6005195" y="2955988"/>
                  </a:lnTo>
                  <a:lnTo>
                    <a:pt x="6609982" y="2735821"/>
                  </a:lnTo>
                  <a:lnTo>
                    <a:pt x="4941595" y="2205812"/>
                  </a:lnTo>
                  <a:lnTo>
                    <a:pt x="5969393" y="1824177"/>
                  </a:lnTo>
                  <a:lnTo>
                    <a:pt x="3535007" y="1064602"/>
                  </a:lnTo>
                  <a:lnTo>
                    <a:pt x="1081824" y="1824177"/>
                  </a:lnTo>
                  <a:lnTo>
                    <a:pt x="2105431" y="2203297"/>
                  </a:lnTo>
                  <a:lnTo>
                    <a:pt x="441833" y="2729369"/>
                  </a:lnTo>
                  <a:lnTo>
                    <a:pt x="1085367" y="2964523"/>
                  </a:lnTo>
                  <a:lnTo>
                    <a:pt x="0" y="3302736"/>
                  </a:lnTo>
                  <a:lnTo>
                    <a:pt x="3559276" y="4629442"/>
                  </a:lnTo>
                  <a:lnTo>
                    <a:pt x="7109434" y="3302736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291367" y="7052708"/>
              <a:ext cx="4625975" cy="3089910"/>
            </a:xfrm>
            <a:custGeom>
              <a:avLst/>
              <a:gdLst/>
              <a:ahLst/>
              <a:cxnLst/>
              <a:rect l="l" t="t" r="r" b="b"/>
              <a:pathLst>
                <a:path w="4625975" h="3089909">
                  <a:moveTo>
                    <a:pt x="4625427" y="3089586"/>
                  </a:moveTo>
                  <a:lnTo>
                    <a:pt x="0" y="1319848"/>
                  </a:lnTo>
                  <a:lnTo>
                    <a:pt x="1064656" y="0"/>
                  </a:lnTo>
                  <a:lnTo>
                    <a:pt x="4625427" y="1305158"/>
                  </a:lnTo>
                  <a:lnTo>
                    <a:pt x="4625427" y="3089586"/>
                  </a:lnTo>
                  <a:close/>
                </a:path>
              </a:pathLst>
            </a:custGeom>
            <a:solidFill>
              <a:srgbClr val="55146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91650" y="5546100"/>
              <a:ext cx="2913724" cy="1640262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8899293" y="5546100"/>
              <a:ext cx="2914015" cy="1640839"/>
            </a:xfrm>
            <a:custGeom>
              <a:avLst/>
              <a:gdLst/>
              <a:ahLst/>
              <a:cxnLst/>
              <a:rect l="l" t="t" r="r" b="b"/>
              <a:pathLst>
                <a:path w="2914015" h="1640840">
                  <a:moveTo>
                    <a:pt x="0" y="1640262"/>
                  </a:moveTo>
                  <a:lnTo>
                    <a:pt x="0" y="906247"/>
                  </a:lnTo>
                  <a:lnTo>
                    <a:pt x="2446791" y="0"/>
                  </a:lnTo>
                  <a:lnTo>
                    <a:pt x="2913724" y="580789"/>
                  </a:lnTo>
                  <a:lnTo>
                    <a:pt x="0" y="1640262"/>
                  </a:lnTo>
                  <a:close/>
                </a:path>
              </a:pathLst>
            </a:custGeom>
            <a:solidFill>
              <a:srgbClr val="F4B4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620469" y="4212029"/>
              <a:ext cx="2285365" cy="1812925"/>
            </a:xfrm>
            <a:custGeom>
              <a:avLst/>
              <a:gdLst/>
              <a:ahLst/>
              <a:cxnLst/>
              <a:rect l="l" t="t" r="r" b="b"/>
              <a:pathLst>
                <a:path w="2285365" h="1812925">
                  <a:moveTo>
                    <a:pt x="2284924" y="1812752"/>
                  </a:moveTo>
                  <a:lnTo>
                    <a:pt x="0" y="970209"/>
                  </a:lnTo>
                  <a:lnTo>
                    <a:pt x="784527" y="0"/>
                  </a:lnTo>
                  <a:lnTo>
                    <a:pt x="2284924" y="555359"/>
                  </a:lnTo>
                  <a:lnTo>
                    <a:pt x="2284924" y="1812752"/>
                  </a:lnTo>
                  <a:close/>
                </a:path>
              </a:pathLst>
            </a:custGeom>
            <a:solidFill>
              <a:srgbClr val="55146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899274" y="4212029"/>
              <a:ext cx="2285365" cy="1812925"/>
            </a:xfrm>
            <a:custGeom>
              <a:avLst/>
              <a:gdLst/>
              <a:ahLst/>
              <a:cxnLst/>
              <a:rect l="l" t="t" r="r" b="b"/>
              <a:pathLst>
                <a:path w="2285365" h="1812925">
                  <a:moveTo>
                    <a:pt x="0" y="1812752"/>
                  </a:moveTo>
                  <a:lnTo>
                    <a:pt x="0" y="555359"/>
                  </a:lnTo>
                  <a:lnTo>
                    <a:pt x="1500397" y="0"/>
                  </a:lnTo>
                  <a:lnTo>
                    <a:pt x="2284924" y="970209"/>
                  </a:lnTo>
                  <a:lnTo>
                    <a:pt x="0" y="1812752"/>
                  </a:lnTo>
                  <a:close/>
                </a:path>
              </a:pathLst>
            </a:custGeom>
            <a:solidFill>
              <a:srgbClr val="771E8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573031" y="2207905"/>
              <a:ext cx="1332865" cy="2145030"/>
            </a:xfrm>
            <a:custGeom>
              <a:avLst/>
              <a:gdLst/>
              <a:ahLst/>
              <a:cxnLst/>
              <a:rect l="l" t="t" r="r" b="b"/>
              <a:pathLst>
                <a:path w="1332865" h="2145029">
                  <a:moveTo>
                    <a:pt x="1332392" y="2144503"/>
                  </a:moveTo>
                  <a:lnTo>
                    <a:pt x="0" y="1633968"/>
                  </a:lnTo>
                  <a:lnTo>
                    <a:pt x="1332392" y="0"/>
                  </a:lnTo>
                  <a:lnTo>
                    <a:pt x="1332392" y="2144503"/>
                  </a:lnTo>
                  <a:close/>
                </a:path>
              </a:pathLst>
            </a:custGeom>
            <a:solidFill>
              <a:srgbClr val="55146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899243" y="2207905"/>
              <a:ext cx="1332865" cy="2145030"/>
            </a:xfrm>
            <a:custGeom>
              <a:avLst/>
              <a:gdLst/>
              <a:ahLst/>
              <a:cxnLst/>
              <a:rect l="l" t="t" r="r" b="b"/>
              <a:pathLst>
                <a:path w="1332865" h="2145029">
                  <a:moveTo>
                    <a:pt x="0" y="2144503"/>
                  </a:moveTo>
                  <a:lnTo>
                    <a:pt x="0" y="0"/>
                  </a:lnTo>
                  <a:lnTo>
                    <a:pt x="1332392" y="1633968"/>
                  </a:lnTo>
                  <a:lnTo>
                    <a:pt x="0" y="2144503"/>
                  </a:lnTo>
                  <a:close/>
                </a:path>
              </a:pathLst>
            </a:custGeom>
            <a:solidFill>
              <a:srgbClr val="701B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493372" y="5405533"/>
              <a:ext cx="3372485" cy="2378075"/>
            </a:xfrm>
            <a:custGeom>
              <a:avLst/>
              <a:gdLst/>
              <a:ahLst/>
              <a:cxnLst/>
              <a:rect l="l" t="t" r="r" b="b"/>
              <a:pathLst>
                <a:path w="3372484" h="2378075">
                  <a:moveTo>
                    <a:pt x="3372076" y="2377793"/>
                  </a:moveTo>
                  <a:lnTo>
                    <a:pt x="0" y="1128894"/>
                  </a:lnTo>
                  <a:lnTo>
                    <a:pt x="926211" y="0"/>
                  </a:lnTo>
                  <a:lnTo>
                    <a:pt x="3372076" y="894394"/>
                  </a:lnTo>
                  <a:lnTo>
                    <a:pt x="3372076" y="2377793"/>
                  </a:lnTo>
                  <a:close/>
                </a:path>
              </a:pathLst>
            </a:custGeom>
            <a:solidFill>
              <a:srgbClr val="55146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865437" y="5405534"/>
              <a:ext cx="3372485" cy="2378075"/>
            </a:xfrm>
            <a:custGeom>
              <a:avLst/>
              <a:gdLst/>
              <a:ahLst/>
              <a:cxnLst/>
              <a:rect l="l" t="t" r="r" b="b"/>
              <a:pathLst>
                <a:path w="3372484" h="2378075">
                  <a:moveTo>
                    <a:pt x="0" y="2377793"/>
                  </a:moveTo>
                  <a:lnTo>
                    <a:pt x="0" y="894394"/>
                  </a:lnTo>
                  <a:lnTo>
                    <a:pt x="2445865" y="0"/>
                  </a:lnTo>
                  <a:lnTo>
                    <a:pt x="3372076" y="1128894"/>
                  </a:lnTo>
                  <a:lnTo>
                    <a:pt x="0" y="2377793"/>
                  </a:lnTo>
                  <a:close/>
                </a:path>
              </a:pathLst>
            </a:custGeom>
            <a:solidFill>
              <a:srgbClr val="80209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937231" y="7052708"/>
              <a:ext cx="4625975" cy="3089910"/>
            </a:xfrm>
            <a:custGeom>
              <a:avLst/>
              <a:gdLst/>
              <a:ahLst/>
              <a:cxnLst/>
              <a:rect l="l" t="t" r="r" b="b"/>
              <a:pathLst>
                <a:path w="4625975" h="3089909">
                  <a:moveTo>
                    <a:pt x="0" y="3089586"/>
                  </a:moveTo>
                  <a:lnTo>
                    <a:pt x="0" y="1305158"/>
                  </a:lnTo>
                  <a:lnTo>
                    <a:pt x="3560772" y="0"/>
                  </a:lnTo>
                  <a:lnTo>
                    <a:pt x="4625428" y="1319848"/>
                  </a:lnTo>
                  <a:lnTo>
                    <a:pt x="0" y="3089586"/>
                  </a:lnTo>
                  <a:close/>
                </a:path>
              </a:pathLst>
            </a:custGeom>
            <a:solidFill>
              <a:srgbClr val="9325A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465958" y="2575715"/>
              <a:ext cx="2205990" cy="60960"/>
            </a:xfrm>
            <a:custGeom>
              <a:avLst/>
              <a:gdLst/>
              <a:ahLst/>
              <a:cxnLst/>
              <a:rect l="l" t="t" r="r" b="b"/>
              <a:pathLst>
                <a:path w="2205990" h="60960">
                  <a:moveTo>
                    <a:pt x="2205686" y="60601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C1C1C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374662" y="2277344"/>
              <a:ext cx="686435" cy="572770"/>
            </a:xfrm>
            <a:custGeom>
              <a:avLst/>
              <a:gdLst/>
              <a:ahLst/>
              <a:cxnLst/>
              <a:rect l="l" t="t" r="r" b="b"/>
              <a:pathLst>
                <a:path w="686434" h="572769">
                  <a:moveTo>
                    <a:pt x="342921" y="572254"/>
                  </a:moveTo>
                  <a:lnTo>
                    <a:pt x="292247" y="569151"/>
                  </a:lnTo>
                  <a:lnTo>
                    <a:pt x="243881" y="560139"/>
                  </a:lnTo>
                  <a:lnTo>
                    <a:pt x="198354" y="545660"/>
                  </a:lnTo>
                  <a:lnTo>
                    <a:pt x="156197" y="526157"/>
                  </a:lnTo>
                  <a:lnTo>
                    <a:pt x="117940" y="502071"/>
                  </a:lnTo>
                  <a:lnTo>
                    <a:pt x="84113" y="473847"/>
                  </a:lnTo>
                  <a:lnTo>
                    <a:pt x="55246" y="441926"/>
                  </a:lnTo>
                  <a:lnTo>
                    <a:pt x="31872" y="406750"/>
                  </a:lnTo>
                  <a:lnTo>
                    <a:pt x="14518" y="368764"/>
                  </a:lnTo>
                  <a:lnTo>
                    <a:pt x="3718" y="328408"/>
                  </a:lnTo>
                  <a:lnTo>
                    <a:pt x="0" y="286126"/>
                  </a:lnTo>
                  <a:lnTo>
                    <a:pt x="3718" y="243845"/>
                  </a:lnTo>
                  <a:lnTo>
                    <a:pt x="14518" y="203489"/>
                  </a:lnTo>
                  <a:lnTo>
                    <a:pt x="31872" y="165503"/>
                  </a:lnTo>
                  <a:lnTo>
                    <a:pt x="55246" y="130327"/>
                  </a:lnTo>
                  <a:lnTo>
                    <a:pt x="84113" y="98406"/>
                  </a:lnTo>
                  <a:lnTo>
                    <a:pt x="117940" y="70182"/>
                  </a:lnTo>
                  <a:lnTo>
                    <a:pt x="156197" y="46096"/>
                  </a:lnTo>
                  <a:lnTo>
                    <a:pt x="198354" y="26593"/>
                  </a:lnTo>
                  <a:lnTo>
                    <a:pt x="243881" y="12114"/>
                  </a:lnTo>
                  <a:lnTo>
                    <a:pt x="292247" y="3102"/>
                  </a:lnTo>
                  <a:lnTo>
                    <a:pt x="342921" y="0"/>
                  </a:lnTo>
                  <a:lnTo>
                    <a:pt x="393596" y="3102"/>
                  </a:lnTo>
                  <a:lnTo>
                    <a:pt x="441962" y="12114"/>
                  </a:lnTo>
                  <a:lnTo>
                    <a:pt x="487489" y="26593"/>
                  </a:lnTo>
                  <a:lnTo>
                    <a:pt x="529647" y="46096"/>
                  </a:lnTo>
                  <a:lnTo>
                    <a:pt x="567904" y="70182"/>
                  </a:lnTo>
                  <a:lnTo>
                    <a:pt x="601731" y="98406"/>
                  </a:lnTo>
                  <a:lnTo>
                    <a:pt x="630597" y="130327"/>
                  </a:lnTo>
                  <a:lnTo>
                    <a:pt x="653972" y="165503"/>
                  </a:lnTo>
                  <a:lnTo>
                    <a:pt x="671325" y="203489"/>
                  </a:lnTo>
                  <a:lnTo>
                    <a:pt x="682126" y="243845"/>
                  </a:lnTo>
                  <a:lnTo>
                    <a:pt x="685844" y="286126"/>
                  </a:lnTo>
                  <a:lnTo>
                    <a:pt x="682126" y="328408"/>
                  </a:lnTo>
                  <a:lnTo>
                    <a:pt x="671325" y="368764"/>
                  </a:lnTo>
                  <a:lnTo>
                    <a:pt x="653972" y="406750"/>
                  </a:lnTo>
                  <a:lnTo>
                    <a:pt x="630597" y="441926"/>
                  </a:lnTo>
                  <a:lnTo>
                    <a:pt x="601731" y="473847"/>
                  </a:lnTo>
                  <a:lnTo>
                    <a:pt x="567904" y="502071"/>
                  </a:lnTo>
                  <a:lnTo>
                    <a:pt x="529647" y="526157"/>
                  </a:lnTo>
                  <a:lnTo>
                    <a:pt x="487489" y="545660"/>
                  </a:lnTo>
                  <a:lnTo>
                    <a:pt x="441962" y="560139"/>
                  </a:lnTo>
                  <a:lnTo>
                    <a:pt x="393596" y="569151"/>
                  </a:lnTo>
                  <a:lnTo>
                    <a:pt x="342921" y="572254"/>
                  </a:lnTo>
                  <a:close/>
                </a:path>
              </a:pathLst>
            </a:custGeom>
            <a:solidFill>
              <a:srgbClr val="771E8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6622517" y="2335741"/>
            <a:ext cx="190500" cy="3778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00" spc="-50" dirty="0">
                <a:solidFill>
                  <a:srgbClr val="FFFFFF"/>
                </a:solidFill>
                <a:latin typeface="Roboto"/>
                <a:cs typeface="Roboto"/>
              </a:rPr>
              <a:t>1</a:t>
            </a:r>
            <a:endParaRPr sz="2300">
              <a:latin typeface="Roboto"/>
              <a:cs typeface="Roboto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196562" y="1562987"/>
            <a:ext cx="6098540" cy="2776855"/>
            <a:chOff x="196562" y="1562987"/>
            <a:chExt cx="6098540" cy="2776855"/>
          </a:xfrm>
        </p:grpSpPr>
        <p:sp>
          <p:nvSpPr>
            <p:cNvPr id="20" name="object 20"/>
            <p:cNvSpPr/>
            <p:nvPr/>
          </p:nvSpPr>
          <p:spPr>
            <a:xfrm>
              <a:off x="201324" y="1567749"/>
              <a:ext cx="6089015" cy="2767330"/>
            </a:xfrm>
            <a:custGeom>
              <a:avLst/>
              <a:gdLst/>
              <a:ahLst/>
              <a:cxnLst/>
              <a:rect l="l" t="t" r="r" b="b"/>
              <a:pathLst>
                <a:path w="6089015" h="2767329">
                  <a:moveTo>
                    <a:pt x="5627590" y="2767199"/>
                  </a:moveTo>
                  <a:lnTo>
                    <a:pt x="1217014" y="2767199"/>
                  </a:lnTo>
                  <a:lnTo>
                    <a:pt x="1169226" y="2766278"/>
                  </a:lnTo>
                  <a:lnTo>
                    <a:pt x="1121905" y="2763538"/>
                  </a:lnTo>
                  <a:lnTo>
                    <a:pt x="1075084" y="2759012"/>
                  </a:lnTo>
                  <a:lnTo>
                    <a:pt x="1028798" y="2752734"/>
                  </a:lnTo>
                  <a:lnTo>
                    <a:pt x="983080" y="2744738"/>
                  </a:lnTo>
                  <a:lnTo>
                    <a:pt x="937964" y="2735057"/>
                  </a:lnTo>
                  <a:lnTo>
                    <a:pt x="893483" y="2723727"/>
                  </a:lnTo>
                  <a:lnTo>
                    <a:pt x="849673" y="2710779"/>
                  </a:lnTo>
                  <a:lnTo>
                    <a:pt x="806565" y="2696249"/>
                  </a:lnTo>
                  <a:lnTo>
                    <a:pt x="764195" y="2680170"/>
                  </a:lnTo>
                  <a:lnTo>
                    <a:pt x="722596" y="2662576"/>
                  </a:lnTo>
                  <a:lnTo>
                    <a:pt x="681802" y="2643501"/>
                  </a:lnTo>
                  <a:lnTo>
                    <a:pt x="641846" y="2622978"/>
                  </a:lnTo>
                  <a:lnTo>
                    <a:pt x="602764" y="2601041"/>
                  </a:lnTo>
                  <a:lnTo>
                    <a:pt x="564587" y="2577725"/>
                  </a:lnTo>
                  <a:lnTo>
                    <a:pt x="527351" y="2553062"/>
                  </a:lnTo>
                  <a:lnTo>
                    <a:pt x="491088" y="2527088"/>
                  </a:lnTo>
                  <a:lnTo>
                    <a:pt x="455834" y="2499835"/>
                  </a:lnTo>
                  <a:lnTo>
                    <a:pt x="421621" y="2471337"/>
                  </a:lnTo>
                  <a:lnTo>
                    <a:pt x="388483" y="2441629"/>
                  </a:lnTo>
                  <a:lnTo>
                    <a:pt x="356455" y="2410744"/>
                  </a:lnTo>
                  <a:lnTo>
                    <a:pt x="325570" y="2378716"/>
                  </a:lnTo>
                  <a:lnTo>
                    <a:pt x="295861" y="2345578"/>
                  </a:lnTo>
                  <a:lnTo>
                    <a:pt x="267364" y="2311365"/>
                  </a:lnTo>
                  <a:lnTo>
                    <a:pt x="240111" y="2276111"/>
                  </a:lnTo>
                  <a:lnTo>
                    <a:pt x="214136" y="2239848"/>
                  </a:lnTo>
                  <a:lnTo>
                    <a:pt x="189474" y="2202612"/>
                  </a:lnTo>
                  <a:lnTo>
                    <a:pt x="166158" y="2164435"/>
                  </a:lnTo>
                  <a:lnTo>
                    <a:pt x="144221" y="2125352"/>
                  </a:lnTo>
                  <a:lnTo>
                    <a:pt x="123698" y="2085397"/>
                  </a:lnTo>
                  <a:lnTo>
                    <a:pt x="104623" y="2044603"/>
                  </a:lnTo>
                  <a:lnTo>
                    <a:pt x="87029" y="2003004"/>
                  </a:lnTo>
                  <a:lnTo>
                    <a:pt x="70950" y="1960634"/>
                  </a:lnTo>
                  <a:lnTo>
                    <a:pt x="56420" y="1917526"/>
                  </a:lnTo>
                  <a:lnTo>
                    <a:pt x="43472" y="1873715"/>
                  </a:lnTo>
                  <a:lnTo>
                    <a:pt x="32142" y="1829235"/>
                  </a:lnTo>
                  <a:lnTo>
                    <a:pt x="22461" y="1784119"/>
                  </a:lnTo>
                  <a:lnTo>
                    <a:pt x="14465" y="1738401"/>
                  </a:lnTo>
                  <a:lnTo>
                    <a:pt x="8187" y="1692114"/>
                  </a:lnTo>
                  <a:lnTo>
                    <a:pt x="3661" y="1645294"/>
                  </a:lnTo>
                  <a:lnTo>
                    <a:pt x="921" y="1597973"/>
                  </a:lnTo>
                  <a:lnTo>
                    <a:pt x="0" y="1550185"/>
                  </a:lnTo>
                  <a:lnTo>
                    <a:pt x="0" y="461209"/>
                  </a:lnTo>
                  <a:lnTo>
                    <a:pt x="2381" y="414053"/>
                  </a:lnTo>
                  <a:lnTo>
                    <a:pt x="9370" y="368259"/>
                  </a:lnTo>
                  <a:lnTo>
                    <a:pt x="20735" y="324059"/>
                  </a:lnTo>
                  <a:lnTo>
                    <a:pt x="36244" y="281685"/>
                  </a:lnTo>
                  <a:lnTo>
                    <a:pt x="55665" y="241369"/>
                  </a:lnTo>
                  <a:lnTo>
                    <a:pt x="78767" y="203342"/>
                  </a:lnTo>
                  <a:lnTo>
                    <a:pt x="105317" y="167837"/>
                  </a:lnTo>
                  <a:lnTo>
                    <a:pt x="135085" y="135085"/>
                  </a:lnTo>
                  <a:lnTo>
                    <a:pt x="167837" y="105317"/>
                  </a:lnTo>
                  <a:lnTo>
                    <a:pt x="203342" y="78767"/>
                  </a:lnTo>
                  <a:lnTo>
                    <a:pt x="241369" y="55665"/>
                  </a:lnTo>
                  <a:lnTo>
                    <a:pt x="281685" y="36244"/>
                  </a:lnTo>
                  <a:lnTo>
                    <a:pt x="324059" y="20735"/>
                  </a:lnTo>
                  <a:lnTo>
                    <a:pt x="368259" y="9370"/>
                  </a:lnTo>
                  <a:lnTo>
                    <a:pt x="414053" y="2381"/>
                  </a:lnTo>
                  <a:lnTo>
                    <a:pt x="461209" y="0"/>
                  </a:lnTo>
                  <a:lnTo>
                    <a:pt x="4871785" y="0"/>
                  </a:lnTo>
                  <a:lnTo>
                    <a:pt x="4922629" y="1061"/>
                  </a:lnTo>
                  <a:lnTo>
                    <a:pt x="4973194" y="4229"/>
                  </a:lnTo>
                  <a:lnTo>
                    <a:pt x="5022380" y="9370"/>
                  </a:lnTo>
                  <a:lnTo>
                    <a:pt x="5022679" y="9370"/>
                  </a:lnTo>
                  <a:lnTo>
                    <a:pt x="5073248" y="16785"/>
                  </a:lnTo>
                  <a:lnTo>
                    <a:pt x="5122618" y="26124"/>
                  </a:lnTo>
                  <a:lnTo>
                    <a:pt x="5171470" y="37471"/>
                  </a:lnTo>
                  <a:lnTo>
                    <a:pt x="5219745" y="50801"/>
                  </a:lnTo>
                  <a:lnTo>
                    <a:pt x="5267383" y="66089"/>
                  </a:lnTo>
                  <a:lnTo>
                    <a:pt x="5314325" y="83311"/>
                  </a:lnTo>
                  <a:lnTo>
                    <a:pt x="5360511" y="102442"/>
                  </a:lnTo>
                  <a:lnTo>
                    <a:pt x="5405882" y="123457"/>
                  </a:lnTo>
                  <a:lnTo>
                    <a:pt x="5450377" y="146332"/>
                  </a:lnTo>
                  <a:lnTo>
                    <a:pt x="5493939" y="171042"/>
                  </a:lnTo>
                  <a:lnTo>
                    <a:pt x="5536506" y="197562"/>
                  </a:lnTo>
                  <a:lnTo>
                    <a:pt x="5578019" y="225868"/>
                  </a:lnTo>
                  <a:lnTo>
                    <a:pt x="5618419" y="255935"/>
                  </a:lnTo>
                  <a:lnTo>
                    <a:pt x="5657646" y="287738"/>
                  </a:lnTo>
                  <a:lnTo>
                    <a:pt x="5695641" y="321253"/>
                  </a:lnTo>
                  <a:lnTo>
                    <a:pt x="5732344" y="356455"/>
                  </a:lnTo>
                  <a:lnTo>
                    <a:pt x="5767546" y="393158"/>
                  </a:lnTo>
                  <a:lnTo>
                    <a:pt x="5801061" y="431152"/>
                  </a:lnTo>
                  <a:lnTo>
                    <a:pt x="5832864" y="470380"/>
                  </a:lnTo>
                  <a:lnTo>
                    <a:pt x="5862931" y="510780"/>
                  </a:lnTo>
                  <a:lnTo>
                    <a:pt x="5891237" y="552293"/>
                  </a:lnTo>
                  <a:lnTo>
                    <a:pt x="5917757" y="594860"/>
                  </a:lnTo>
                  <a:lnTo>
                    <a:pt x="5942467" y="638421"/>
                  </a:lnTo>
                  <a:lnTo>
                    <a:pt x="5965342" y="682917"/>
                  </a:lnTo>
                  <a:lnTo>
                    <a:pt x="5986357" y="728288"/>
                  </a:lnTo>
                  <a:lnTo>
                    <a:pt x="6005488" y="774474"/>
                  </a:lnTo>
                  <a:lnTo>
                    <a:pt x="6022710" y="821416"/>
                  </a:lnTo>
                  <a:lnTo>
                    <a:pt x="6037998" y="869054"/>
                  </a:lnTo>
                  <a:lnTo>
                    <a:pt x="6051328" y="917329"/>
                  </a:lnTo>
                  <a:lnTo>
                    <a:pt x="6062675" y="966181"/>
                  </a:lnTo>
                  <a:lnTo>
                    <a:pt x="6072014" y="1015551"/>
                  </a:lnTo>
                  <a:lnTo>
                    <a:pt x="6079321" y="1065379"/>
                  </a:lnTo>
                  <a:lnTo>
                    <a:pt x="6084570" y="1115605"/>
                  </a:lnTo>
                  <a:lnTo>
                    <a:pt x="6087738" y="1166170"/>
                  </a:lnTo>
                  <a:lnTo>
                    <a:pt x="6088799" y="1217014"/>
                  </a:lnTo>
                  <a:lnTo>
                    <a:pt x="6088799" y="2305990"/>
                  </a:lnTo>
                  <a:lnTo>
                    <a:pt x="6086418" y="2353146"/>
                  </a:lnTo>
                  <a:lnTo>
                    <a:pt x="6079429" y="2398940"/>
                  </a:lnTo>
                  <a:lnTo>
                    <a:pt x="6068064" y="2443140"/>
                  </a:lnTo>
                  <a:lnTo>
                    <a:pt x="6052555" y="2485514"/>
                  </a:lnTo>
                  <a:lnTo>
                    <a:pt x="6033134" y="2525830"/>
                  </a:lnTo>
                  <a:lnTo>
                    <a:pt x="6010032" y="2563857"/>
                  </a:lnTo>
                  <a:lnTo>
                    <a:pt x="5983482" y="2599362"/>
                  </a:lnTo>
                  <a:lnTo>
                    <a:pt x="5953714" y="2632114"/>
                  </a:lnTo>
                  <a:lnTo>
                    <a:pt x="5920962" y="2661882"/>
                  </a:lnTo>
                  <a:lnTo>
                    <a:pt x="5885457" y="2688432"/>
                  </a:lnTo>
                  <a:lnTo>
                    <a:pt x="5847430" y="2711534"/>
                  </a:lnTo>
                  <a:lnTo>
                    <a:pt x="5807114" y="2730955"/>
                  </a:lnTo>
                  <a:lnTo>
                    <a:pt x="5764740" y="2746464"/>
                  </a:lnTo>
                  <a:lnTo>
                    <a:pt x="5720540" y="2757829"/>
                  </a:lnTo>
                  <a:lnTo>
                    <a:pt x="5674746" y="2764818"/>
                  </a:lnTo>
                  <a:lnTo>
                    <a:pt x="5627590" y="27671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01324" y="1567749"/>
              <a:ext cx="6089015" cy="2767330"/>
            </a:xfrm>
            <a:custGeom>
              <a:avLst/>
              <a:gdLst/>
              <a:ahLst/>
              <a:cxnLst/>
              <a:rect l="l" t="t" r="r" b="b"/>
              <a:pathLst>
                <a:path w="6089015" h="2767329">
                  <a:moveTo>
                    <a:pt x="461209" y="0"/>
                  </a:moveTo>
                  <a:lnTo>
                    <a:pt x="4871785" y="0"/>
                  </a:lnTo>
                  <a:lnTo>
                    <a:pt x="4922629" y="1061"/>
                  </a:lnTo>
                  <a:lnTo>
                    <a:pt x="4973194" y="4229"/>
                  </a:lnTo>
                  <a:lnTo>
                    <a:pt x="5023420" y="9478"/>
                  </a:lnTo>
                  <a:lnTo>
                    <a:pt x="5073248" y="16785"/>
                  </a:lnTo>
                  <a:lnTo>
                    <a:pt x="5122618" y="26124"/>
                  </a:lnTo>
                  <a:lnTo>
                    <a:pt x="5171470" y="37471"/>
                  </a:lnTo>
                  <a:lnTo>
                    <a:pt x="5219745" y="50801"/>
                  </a:lnTo>
                  <a:lnTo>
                    <a:pt x="5267383" y="66089"/>
                  </a:lnTo>
                  <a:lnTo>
                    <a:pt x="5314325" y="83311"/>
                  </a:lnTo>
                  <a:lnTo>
                    <a:pt x="5360511" y="102442"/>
                  </a:lnTo>
                  <a:lnTo>
                    <a:pt x="5405882" y="123457"/>
                  </a:lnTo>
                  <a:lnTo>
                    <a:pt x="5450377" y="146332"/>
                  </a:lnTo>
                  <a:lnTo>
                    <a:pt x="5493939" y="171042"/>
                  </a:lnTo>
                  <a:lnTo>
                    <a:pt x="5536506" y="197562"/>
                  </a:lnTo>
                  <a:lnTo>
                    <a:pt x="5578019" y="225868"/>
                  </a:lnTo>
                  <a:lnTo>
                    <a:pt x="5618419" y="255935"/>
                  </a:lnTo>
                  <a:lnTo>
                    <a:pt x="5657646" y="287738"/>
                  </a:lnTo>
                  <a:lnTo>
                    <a:pt x="5695641" y="321253"/>
                  </a:lnTo>
                  <a:lnTo>
                    <a:pt x="5732344" y="356455"/>
                  </a:lnTo>
                  <a:lnTo>
                    <a:pt x="5767546" y="393158"/>
                  </a:lnTo>
                  <a:lnTo>
                    <a:pt x="5801061" y="431152"/>
                  </a:lnTo>
                  <a:lnTo>
                    <a:pt x="5832864" y="470380"/>
                  </a:lnTo>
                  <a:lnTo>
                    <a:pt x="5862931" y="510780"/>
                  </a:lnTo>
                  <a:lnTo>
                    <a:pt x="5891237" y="552293"/>
                  </a:lnTo>
                  <a:lnTo>
                    <a:pt x="5917757" y="594860"/>
                  </a:lnTo>
                  <a:lnTo>
                    <a:pt x="5942467" y="638421"/>
                  </a:lnTo>
                  <a:lnTo>
                    <a:pt x="5965342" y="682917"/>
                  </a:lnTo>
                  <a:lnTo>
                    <a:pt x="5986357" y="728288"/>
                  </a:lnTo>
                  <a:lnTo>
                    <a:pt x="6005488" y="774474"/>
                  </a:lnTo>
                  <a:lnTo>
                    <a:pt x="6022710" y="821416"/>
                  </a:lnTo>
                  <a:lnTo>
                    <a:pt x="6037998" y="869054"/>
                  </a:lnTo>
                  <a:lnTo>
                    <a:pt x="6051328" y="917329"/>
                  </a:lnTo>
                  <a:lnTo>
                    <a:pt x="6062675" y="966181"/>
                  </a:lnTo>
                  <a:lnTo>
                    <a:pt x="6072014" y="1015551"/>
                  </a:lnTo>
                  <a:lnTo>
                    <a:pt x="6079321" y="1065379"/>
                  </a:lnTo>
                  <a:lnTo>
                    <a:pt x="6084570" y="1115605"/>
                  </a:lnTo>
                  <a:lnTo>
                    <a:pt x="6087738" y="1166170"/>
                  </a:lnTo>
                  <a:lnTo>
                    <a:pt x="6088799" y="1217014"/>
                  </a:lnTo>
                  <a:lnTo>
                    <a:pt x="6088799" y="2305990"/>
                  </a:lnTo>
                  <a:lnTo>
                    <a:pt x="6086418" y="2353146"/>
                  </a:lnTo>
                  <a:lnTo>
                    <a:pt x="6079429" y="2398940"/>
                  </a:lnTo>
                  <a:lnTo>
                    <a:pt x="6068064" y="2443140"/>
                  </a:lnTo>
                  <a:lnTo>
                    <a:pt x="6052555" y="2485514"/>
                  </a:lnTo>
                  <a:lnTo>
                    <a:pt x="6033134" y="2525830"/>
                  </a:lnTo>
                  <a:lnTo>
                    <a:pt x="6010032" y="2563857"/>
                  </a:lnTo>
                  <a:lnTo>
                    <a:pt x="5983482" y="2599362"/>
                  </a:lnTo>
                  <a:lnTo>
                    <a:pt x="5953714" y="2632114"/>
                  </a:lnTo>
                  <a:lnTo>
                    <a:pt x="5920962" y="2661882"/>
                  </a:lnTo>
                  <a:lnTo>
                    <a:pt x="5885457" y="2688432"/>
                  </a:lnTo>
                  <a:lnTo>
                    <a:pt x="5847430" y="2711534"/>
                  </a:lnTo>
                  <a:lnTo>
                    <a:pt x="5807114" y="2730955"/>
                  </a:lnTo>
                  <a:lnTo>
                    <a:pt x="5764740" y="2746464"/>
                  </a:lnTo>
                  <a:lnTo>
                    <a:pt x="5720540" y="2757829"/>
                  </a:lnTo>
                  <a:lnTo>
                    <a:pt x="5674746" y="2764818"/>
                  </a:lnTo>
                  <a:lnTo>
                    <a:pt x="5627590" y="2767199"/>
                  </a:lnTo>
                  <a:lnTo>
                    <a:pt x="1217014" y="2767199"/>
                  </a:lnTo>
                  <a:lnTo>
                    <a:pt x="1169226" y="2766278"/>
                  </a:lnTo>
                  <a:lnTo>
                    <a:pt x="1121905" y="2763538"/>
                  </a:lnTo>
                  <a:lnTo>
                    <a:pt x="1075084" y="2759012"/>
                  </a:lnTo>
                  <a:lnTo>
                    <a:pt x="1028798" y="2752734"/>
                  </a:lnTo>
                  <a:lnTo>
                    <a:pt x="983080" y="2744738"/>
                  </a:lnTo>
                  <a:lnTo>
                    <a:pt x="937964" y="2735057"/>
                  </a:lnTo>
                  <a:lnTo>
                    <a:pt x="893483" y="2723727"/>
                  </a:lnTo>
                  <a:lnTo>
                    <a:pt x="849673" y="2710779"/>
                  </a:lnTo>
                  <a:lnTo>
                    <a:pt x="806565" y="2696249"/>
                  </a:lnTo>
                  <a:lnTo>
                    <a:pt x="764195" y="2680170"/>
                  </a:lnTo>
                  <a:lnTo>
                    <a:pt x="722596" y="2662576"/>
                  </a:lnTo>
                  <a:lnTo>
                    <a:pt x="681802" y="2643501"/>
                  </a:lnTo>
                  <a:lnTo>
                    <a:pt x="641846" y="2622978"/>
                  </a:lnTo>
                  <a:lnTo>
                    <a:pt x="602764" y="2601041"/>
                  </a:lnTo>
                  <a:lnTo>
                    <a:pt x="564587" y="2577725"/>
                  </a:lnTo>
                  <a:lnTo>
                    <a:pt x="527351" y="2553063"/>
                  </a:lnTo>
                  <a:lnTo>
                    <a:pt x="491088" y="2527088"/>
                  </a:lnTo>
                  <a:lnTo>
                    <a:pt x="455834" y="2499835"/>
                  </a:lnTo>
                  <a:lnTo>
                    <a:pt x="421621" y="2471337"/>
                  </a:lnTo>
                  <a:lnTo>
                    <a:pt x="388483" y="2441629"/>
                  </a:lnTo>
                  <a:lnTo>
                    <a:pt x="356455" y="2410744"/>
                  </a:lnTo>
                  <a:lnTo>
                    <a:pt x="325570" y="2378716"/>
                  </a:lnTo>
                  <a:lnTo>
                    <a:pt x="295861" y="2345578"/>
                  </a:lnTo>
                  <a:lnTo>
                    <a:pt x="267364" y="2311365"/>
                  </a:lnTo>
                  <a:lnTo>
                    <a:pt x="240111" y="2276111"/>
                  </a:lnTo>
                  <a:lnTo>
                    <a:pt x="214136" y="2239848"/>
                  </a:lnTo>
                  <a:lnTo>
                    <a:pt x="189474" y="2202612"/>
                  </a:lnTo>
                  <a:lnTo>
                    <a:pt x="166158" y="2164435"/>
                  </a:lnTo>
                  <a:lnTo>
                    <a:pt x="144221" y="2125352"/>
                  </a:lnTo>
                  <a:lnTo>
                    <a:pt x="123698" y="2085397"/>
                  </a:lnTo>
                  <a:lnTo>
                    <a:pt x="104623" y="2044603"/>
                  </a:lnTo>
                  <a:lnTo>
                    <a:pt x="87029" y="2003004"/>
                  </a:lnTo>
                  <a:lnTo>
                    <a:pt x="70950" y="1960634"/>
                  </a:lnTo>
                  <a:lnTo>
                    <a:pt x="56420" y="1917526"/>
                  </a:lnTo>
                  <a:lnTo>
                    <a:pt x="43472" y="1873715"/>
                  </a:lnTo>
                  <a:lnTo>
                    <a:pt x="32142" y="1829235"/>
                  </a:lnTo>
                  <a:lnTo>
                    <a:pt x="22461" y="1784119"/>
                  </a:lnTo>
                  <a:lnTo>
                    <a:pt x="14465" y="1738401"/>
                  </a:lnTo>
                  <a:lnTo>
                    <a:pt x="8187" y="1692114"/>
                  </a:lnTo>
                  <a:lnTo>
                    <a:pt x="3661" y="1645294"/>
                  </a:lnTo>
                  <a:lnTo>
                    <a:pt x="921" y="1597973"/>
                  </a:lnTo>
                  <a:lnTo>
                    <a:pt x="0" y="1550185"/>
                  </a:lnTo>
                  <a:lnTo>
                    <a:pt x="0" y="461209"/>
                  </a:lnTo>
                  <a:lnTo>
                    <a:pt x="2381" y="414053"/>
                  </a:lnTo>
                  <a:lnTo>
                    <a:pt x="9370" y="368259"/>
                  </a:lnTo>
                  <a:lnTo>
                    <a:pt x="20735" y="324059"/>
                  </a:lnTo>
                  <a:lnTo>
                    <a:pt x="36244" y="281685"/>
                  </a:lnTo>
                  <a:lnTo>
                    <a:pt x="55665" y="241369"/>
                  </a:lnTo>
                  <a:lnTo>
                    <a:pt x="78767" y="203342"/>
                  </a:lnTo>
                  <a:lnTo>
                    <a:pt x="105317" y="167837"/>
                  </a:lnTo>
                  <a:lnTo>
                    <a:pt x="135085" y="135085"/>
                  </a:lnTo>
                  <a:lnTo>
                    <a:pt x="167837" y="105317"/>
                  </a:lnTo>
                  <a:lnTo>
                    <a:pt x="203342" y="78767"/>
                  </a:lnTo>
                  <a:lnTo>
                    <a:pt x="241369" y="55665"/>
                  </a:lnTo>
                  <a:lnTo>
                    <a:pt x="281685" y="36244"/>
                  </a:lnTo>
                  <a:lnTo>
                    <a:pt x="324059" y="20735"/>
                  </a:lnTo>
                  <a:lnTo>
                    <a:pt x="368259" y="9370"/>
                  </a:lnTo>
                  <a:lnTo>
                    <a:pt x="414053" y="2381"/>
                  </a:lnTo>
                  <a:lnTo>
                    <a:pt x="461209" y="0"/>
                  </a:lnTo>
                  <a:close/>
                </a:path>
              </a:pathLst>
            </a:custGeom>
            <a:ln w="9524">
              <a:solidFill>
                <a:srgbClr val="EEEE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3501" y="1884356"/>
              <a:ext cx="521828" cy="491132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3501" y="2390596"/>
              <a:ext cx="411014" cy="386836"/>
            </a:xfrm>
            <a:prstGeom prst="rect">
              <a:avLst/>
            </a:prstGeom>
          </p:spPr>
        </p:pic>
      </p:grpSp>
      <p:sp>
        <p:nvSpPr>
          <p:cNvPr id="24" name="object 24"/>
          <p:cNvSpPr txBox="1"/>
          <p:nvPr/>
        </p:nvSpPr>
        <p:spPr>
          <a:xfrm>
            <a:off x="630801" y="1879469"/>
            <a:ext cx="5216525" cy="21653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64210">
              <a:lnSpc>
                <a:spcPct val="100000"/>
              </a:lnSpc>
              <a:spcBef>
                <a:spcPts val="100"/>
              </a:spcBef>
            </a:pPr>
            <a:r>
              <a:rPr sz="3000" b="1" spc="-10" dirty="0">
                <a:latin typeface="Calibri"/>
                <a:cs typeface="Calibri"/>
              </a:rPr>
              <a:t>Monetization</a:t>
            </a:r>
            <a:r>
              <a:rPr sz="3000" b="1" spc="-85" dirty="0">
                <a:latin typeface="Calibri"/>
                <a:cs typeface="Calibri"/>
              </a:rPr>
              <a:t> </a:t>
            </a:r>
            <a:r>
              <a:rPr sz="3000" b="1" dirty="0">
                <a:latin typeface="Calibri"/>
                <a:cs typeface="Calibri"/>
              </a:rPr>
              <a:t>&amp;</a:t>
            </a:r>
            <a:r>
              <a:rPr sz="3000" b="1" spc="-80" dirty="0">
                <a:latin typeface="Calibri"/>
                <a:cs typeface="Calibri"/>
              </a:rPr>
              <a:t> </a:t>
            </a:r>
            <a:r>
              <a:rPr sz="3000" b="1" spc="-10" dirty="0">
                <a:latin typeface="Calibri"/>
                <a:cs typeface="Calibri"/>
              </a:rPr>
              <a:t>Feasibility</a:t>
            </a:r>
            <a:r>
              <a:rPr sz="3000" b="1" spc="-80" dirty="0">
                <a:latin typeface="Calibri"/>
                <a:cs typeface="Calibri"/>
              </a:rPr>
              <a:t> </a:t>
            </a:r>
            <a:r>
              <a:rPr sz="3000" b="1" spc="-50" dirty="0">
                <a:latin typeface="Calibri"/>
                <a:cs typeface="Calibri"/>
              </a:rPr>
              <a:t>:</a:t>
            </a:r>
            <a:endParaRPr sz="3000">
              <a:latin typeface="Calibri"/>
              <a:cs typeface="Calibri"/>
            </a:endParaRPr>
          </a:p>
          <a:p>
            <a:pPr marL="497840">
              <a:lnSpc>
                <a:spcPct val="100000"/>
              </a:lnSpc>
              <a:spcBef>
                <a:spcPts val="135"/>
              </a:spcBef>
            </a:pPr>
            <a:r>
              <a:rPr sz="2600" dirty="0">
                <a:latin typeface="Calibri"/>
                <a:cs typeface="Calibri"/>
              </a:rPr>
              <a:t>Cost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Structure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(Per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City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/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Pilot)</a:t>
            </a:r>
            <a:endParaRPr sz="2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2600" dirty="0">
                <a:latin typeface="Calibri"/>
                <a:cs typeface="Calibri"/>
              </a:rPr>
              <a:t>IoT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Hardware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(per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unit):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b="1" dirty="0">
                <a:latin typeface="Arial"/>
                <a:cs typeface="Arial"/>
              </a:rPr>
              <a:t>₹</a:t>
            </a:r>
            <a:r>
              <a:rPr sz="2600" b="1" dirty="0">
                <a:latin typeface="Calibri"/>
                <a:cs typeface="Calibri"/>
              </a:rPr>
              <a:t>2.5K</a:t>
            </a:r>
            <a:r>
              <a:rPr sz="2600" b="1" spc="-40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–</a:t>
            </a:r>
            <a:r>
              <a:rPr sz="2600" b="1" spc="-35" dirty="0">
                <a:latin typeface="Calibri"/>
                <a:cs typeface="Calibri"/>
              </a:rPr>
              <a:t> </a:t>
            </a:r>
            <a:r>
              <a:rPr sz="2600" b="1" spc="-10" dirty="0">
                <a:latin typeface="Arial"/>
                <a:cs typeface="Arial"/>
              </a:rPr>
              <a:t>₹</a:t>
            </a:r>
            <a:r>
              <a:rPr sz="2600" b="1" spc="-10" dirty="0">
                <a:latin typeface="Calibri"/>
                <a:cs typeface="Calibri"/>
              </a:rPr>
              <a:t>3.5K</a:t>
            </a:r>
            <a:endParaRPr sz="2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2600" dirty="0">
                <a:latin typeface="Calibri"/>
                <a:cs typeface="Calibri"/>
              </a:rPr>
              <a:t>Cloud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&amp;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Software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(monthly):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b="1" spc="-10" dirty="0">
                <a:latin typeface="Calibri"/>
                <a:cs typeface="Calibri"/>
              </a:rPr>
              <a:t>~</a:t>
            </a:r>
            <a:r>
              <a:rPr sz="2600" b="1" spc="-10" dirty="0">
                <a:latin typeface="Arial"/>
                <a:cs typeface="Arial"/>
              </a:rPr>
              <a:t>₹</a:t>
            </a:r>
            <a:r>
              <a:rPr sz="2600" b="1" spc="-10" dirty="0">
                <a:latin typeface="Calibri"/>
                <a:cs typeface="Calibri"/>
              </a:rPr>
              <a:t>2.5K</a:t>
            </a:r>
            <a:endParaRPr sz="2600">
              <a:latin typeface="Calibri"/>
              <a:cs typeface="Calibri"/>
            </a:endParaRPr>
          </a:p>
          <a:p>
            <a:pPr marL="101600">
              <a:lnSpc>
                <a:spcPct val="100000"/>
              </a:lnSpc>
              <a:spcBef>
                <a:spcPts val="210"/>
              </a:spcBef>
            </a:pPr>
            <a:r>
              <a:rPr sz="2900" dirty="0">
                <a:latin typeface="Calibri"/>
                <a:cs typeface="Calibri"/>
              </a:rPr>
              <a:t>Annual</a:t>
            </a:r>
            <a:r>
              <a:rPr sz="2900" spc="-80" dirty="0">
                <a:latin typeface="Calibri"/>
                <a:cs typeface="Calibri"/>
              </a:rPr>
              <a:t> </a:t>
            </a:r>
            <a:r>
              <a:rPr sz="2900" spc="-10" dirty="0">
                <a:latin typeface="Calibri"/>
                <a:cs typeface="Calibri"/>
              </a:rPr>
              <a:t>Operational</a:t>
            </a:r>
            <a:r>
              <a:rPr sz="2900" spc="-75" dirty="0">
                <a:latin typeface="Calibri"/>
                <a:cs typeface="Calibri"/>
              </a:rPr>
              <a:t> </a:t>
            </a:r>
            <a:r>
              <a:rPr sz="2900" dirty="0">
                <a:latin typeface="Calibri"/>
                <a:cs typeface="Calibri"/>
              </a:rPr>
              <a:t>Cost:</a:t>
            </a:r>
            <a:r>
              <a:rPr sz="2900" spc="-75" dirty="0">
                <a:latin typeface="Calibri"/>
                <a:cs typeface="Calibri"/>
              </a:rPr>
              <a:t> </a:t>
            </a:r>
            <a:r>
              <a:rPr sz="2900" spc="-10" dirty="0">
                <a:latin typeface="Calibri"/>
                <a:cs typeface="Calibri"/>
              </a:rPr>
              <a:t>~</a:t>
            </a:r>
            <a:r>
              <a:rPr sz="2900" b="1" spc="-10" dirty="0">
                <a:latin typeface="Arial"/>
                <a:cs typeface="Arial"/>
              </a:rPr>
              <a:t>₹</a:t>
            </a:r>
            <a:r>
              <a:rPr sz="2900" b="1" spc="-10" dirty="0">
                <a:latin typeface="Calibri"/>
                <a:cs typeface="Calibri"/>
              </a:rPr>
              <a:t>30K</a:t>
            </a:r>
            <a:endParaRPr sz="2900">
              <a:latin typeface="Calibri"/>
              <a:cs typeface="Calibri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12497137" y="3001187"/>
            <a:ext cx="5481955" cy="2408555"/>
            <a:chOff x="12497137" y="3001187"/>
            <a:chExt cx="5481955" cy="2408555"/>
          </a:xfrm>
        </p:grpSpPr>
        <p:sp>
          <p:nvSpPr>
            <p:cNvPr id="26" name="object 26"/>
            <p:cNvSpPr/>
            <p:nvPr/>
          </p:nvSpPr>
          <p:spPr>
            <a:xfrm>
              <a:off x="12501899" y="3005950"/>
              <a:ext cx="5472430" cy="2399030"/>
            </a:xfrm>
            <a:custGeom>
              <a:avLst/>
              <a:gdLst/>
              <a:ahLst/>
              <a:cxnLst/>
              <a:rect l="l" t="t" r="r" b="b"/>
              <a:pathLst>
                <a:path w="5472430" h="2399029">
                  <a:moveTo>
                    <a:pt x="5072492" y="2398799"/>
                  </a:moveTo>
                  <a:lnTo>
                    <a:pt x="949324" y="2398799"/>
                  </a:lnTo>
                  <a:lnTo>
                    <a:pt x="900472" y="2397564"/>
                  </a:lnTo>
                  <a:lnTo>
                    <a:pt x="852262" y="2393898"/>
                  </a:lnTo>
                  <a:lnTo>
                    <a:pt x="804752" y="2387861"/>
                  </a:lnTo>
                  <a:lnTo>
                    <a:pt x="758002" y="2379513"/>
                  </a:lnTo>
                  <a:lnTo>
                    <a:pt x="712073" y="2368912"/>
                  </a:lnTo>
                  <a:lnTo>
                    <a:pt x="667024" y="2356120"/>
                  </a:lnTo>
                  <a:lnTo>
                    <a:pt x="622915" y="2341195"/>
                  </a:lnTo>
                  <a:lnTo>
                    <a:pt x="579804" y="2324197"/>
                  </a:lnTo>
                  <a:lnTo>
                    <a:pt x="537753" y="2305186"/>
                  </a:lnTo>
                  <a:lnTo>
                    <a:pt x="496820" y="2284221"/>
                  </a:lnTo>
                  <a:lnTo>
                    <a:pt x="457065" y="2261362"/>
                  </a:lnTo>
                  <a:lnTo>
                    <a:pt x="418548" y="2236670"/>
                  </a:lnTo>
                  <a:lnTo>
                    <a:pt x="381328" y="2210202"/>
                  </a:lnTo>
                  <a:lnTo>
                    <a:pt x="345466" y="2182020"/>
                  </a:lnTo>
                  <a:lnTo>
                    <a:pt x="311020" y="2152182"/>
                  </a:lnTo>
                  <a:lnTo>
                    <a:pt x="278050" y="2120749"/>
                  </a:lnTo>
                  <a:lnTo>
                    <a:pt x="246617" y="2087779"/>
                  </a:lnTo>
                  <a:lnTo>
                    <a:pt x="216779" y="2053333"/>
                  </a:lnTo>
                  <a:lnTo>
                    <a:pt x="188597" y="2017471"/>
                  </a:lnTo>
                  <a:lnTo>
                    <a:pt x="162129" y="1980251"/>
                  </a:lnTo>
                  <a:lnTo>
                    <a:pt x="137437" y="1941734"/>
                  </a:lnTo>
                  <a:lnTo>
                    <a:pt x="114578" y="1901979"/>
                  </a:lnTo>
                  <a:lnTo>
                    <a:pt x="93613" y="1861046"/>
                  </a:lnTo>
                  <a:lnTo>
                    <a:pt x="74602" y="1818995"/>
                  </a:lnTo>
                  <a:lnTo>
                    <a:pt x="57604" y="1775884"/>
                  </a:lnTo>
                  <a:lnTo>
                    <a:pt x="42679" y="1731775"/>
                  </a:lnTo>
                  <a:lnTo>
                    <a:pt x="29887" y="1686726"/>
                  </a:lnTo>
                  <a:lnTo>
                    <a:pt x="19286" y="1640797"/>
                  </a:lnTo>
                  <a:lnTo>
                    <a:pt x="10938" y="1594047"/>
                  </a:lnTo>
                  <a:lnTo>
                    <a:pt x="4901" y="1546537"/>
                  </a:lnTo>
                  <a:lnTo>
                    <a:pt x="1235" y="1498327"/>
                  </a:lnTo>
                  <a:lnTo>
                    <a:pt x="0" y="1449474"/>
                  </a:lnTo>
                  <a:lnTo>
                    <a:pt x="0" y="399807"/>
                  </a:lnTo>
                  <a:lnTo>
                    <a:pt x="2689" y="353181"/>
                  </a:lnTo>
                  <a:lnTo>
                    <a:pt x="10559" y="308135"/>
                  </a:lnTo>
                  <a:lnTo>
                    <a:pt x="23308" y="264969"/>
                  </a:lnTo>
                  <a:lnTo>
                    <a:pt x="40636" y="223982"/>
                  </a:lnTo>
                  <a:lnTo>
                    <a:pt x="62245" y="185475"/>
                  </a:lnTo>
                  <a:lnTo>
                    <a:pt x="87833" y="149748"/>
                  </a:lnTo>
                  <a:lnTo>
                    <a:pt x="117100" y="117101"/>
                  </a:lnTo>
                  <a:lnTo>
                    <a:pt x="149748" y="87833"/>
                  </a:lnTo>
                  <a:lnTo>
                    <a:pt x="185475" y="62245"/>
                  </a:lnTo>
                  <a:lnTo>
                    <a:pt x="223982" y="40636"/>
                  </a:lnTo>
                  <a:lnTo>
                    <a:pt x="264968" y="23308"/>
                  </a:lnTo>
                  <a:lnTo>
                    <a:pt x="308135" y="10559"/>
                  </a:lnTo>
                  <a:lnTo>
                    <a:pt x="353181" y="2689"/>
                  </a:lnTo>
                  <a:lnTo>
                    <a:pt x="399807" y="0"/>
                  </a:lnTo>
                  <a:lnTo>
                    <a:pt x="4522974" y="0"/>
                  </a:lnTo>
                  <a:lnTo>
                    <a:pt x="4573177" y="1327"/>
                  </a:lnTo>
                  <a:lnTo>
                    <a:pt x="4623009" y="5282"/>
                  </a:lnTo>
                  <a:lnTo>
                    <a:pt x="4672378" y="11826"/>
                  </a:lnTo>
                  <a:lnTo>
                    <a:pt x="4721188" y="20919"/>
                  </a:lnTo>
                  <a:lnTo>
                    <a:pt x="4769346" y="32524"/>
                  </a:lnTo>
                  <a:lnTo>
                    <a:pt x="4816757" y="46600"/>
                  </a:lnTo>
                  <a:lnTo>
                    <a:pt x="4863325" y="63108"/>
                  </a:lnTo>
                  <a:lnTo>
                    <a:pt x="4908958" y="82010"/>
                  </a:lnTo>
                  <a:lnTo>
                    <a:pt x="4953561" y="103266"/>
                  </a:lnTo>
                  <a:lnTo>
                    <a:pt x="4997038" y="126837"/>
                  </a:lnTo>
                  <a:lnTo>
                    <a:pt x="5039297" y="152684"/>
                  </a:lnTo>
                  <a:lnTo>
                    <a:pt x="5080241" y="180768"/>
                  </a:lnTo>
                  <a:lnTo>
                    <a:pt x="5119778" y="211050"/>
                  </a:lnTo>
                  <a:lnTo>
                    <a:pt x="5157811" y="243490"/>
                  </a:lnTo>
                  <a:lnTo>
                    <a:pt x="5194248" y="278050"/>
                  </a:lnTo>
                  <a:lnTo>
                    <a:pt x="5228808" y="314487"/>
                  </a:lnTo>
                  <a:lnTo>
                    <a:pt x="5261249" y="352521"/>
                  </a:lnTo>
                  <a:lnTo>
                    <a:pt x="5291530" y="392057"/>
                  </a:lnTo>
                  <a:lnTo>
                    <a:pt x="5319614" y="433002"/>
                  </a:lnTo>
                  <a:lnTo>
                    <a:pt x="5345462" y="475260"/>
                  </a:lnTo>
                  <a:lnTo>
                    <a:pt x="5369033" y="518738"/>
                  </a:lnTo>
                  <a:lnTo>
                    <a:pt x="5390289" y="563340"/>
                  </a:lnTo>
                  <a:lnTo>
                    <a:pt x="5409191" y="608973"/>
                  </a:lnTo>
                  <a:lnTo>
                    <a:pt x="5425699" y="655542"/>
                  </a:lnTo>
                  <a:lnTo>
                    <a:pt x="5439775" y="702953"/>
                  </a:lnTo>
                  <a:lnTo>
                    <a:pt x="5451380" y="751110"/>
                  </a:lnTo>
                  <a:lnTo>
                    <a:pt x="5460473" y="799921"/>
                  </a:lnTo>
                  <a:lnTo>
                    <a:pt x="5467017" y="849290"/>
                  </a:lnTo>
                  <a:lnTo>
                    <a:pt x="5470972" y="899122"/>
                  </a:lnTo>
                  <a:lnTo>
                    <a:pt x="5472299" y="949324"/>
                  </a:lnTo>
                  <a:lnTo>
                    <a:pt x="5472299" y="1998992"/>
                  </a:lnTo>
                  <a:lnTo>
                    <a:pt x="5469610" y="2045618"/>
                  </a:lnTo>
                  <a:lnTo>
                    <a:pt x="5461740" y="2090664"/>
                  </a:lnTo>
                  <a:lnTo>
                    <a:pt x="5448991" y="2133830"/>
                  </a:lnTo>
                  <a:lnTo>
                    <a:pt x="5431663" y="2174817"/>
                  </a:lnTo>
                  <a:lnTo>
                    <a:pt x="5410054" y="2213324"/>
                  </a:lnTo>
                  <a:lnTo>
                    <a:pt x="5384466" y="2249051"/>
                  </a:lnTo>
                  <a:lnTo>
                    <a:pt x="5355199" y="2281699"/>
                  </a:lnTo>
                  <a:lnTo>
                    <a:pt x="5322551" y="2310966"/>
                  </a:lnTo>
                  <a:lnTo>
                    <a:pt x="5286824" y="2336554"/>
                  </a:lnTo>
                  <a:lnTo>
                    <a:pt x="5248317" y="2358163"/>
                  </a:lnTo>
                  <a:lnTo>
                    <a:pt x="5207331" y="2375491"/>
                  </a:lnTo>
                  <a:lnTo>
                    <a:pt x="5164164" y="2388240"/>
                  </a:lnTo>
                  <a:lnTo>
                    <a:pt x="5119118" y="2396110"/>
                  </a:lnTo>
                  <a:lnTo>
                    <a:pt x="5072492" y="23987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2501899" y="3005950"/>
              <a:ext cx="5472430" cy="2399030"/>
            </a:xfrm>
            <a:custGeom>
              <a:avLst/>
              <a:gdLst/>
              <a:ahLst/>
              <a:cxnLst/>
              <a:rect l="l" t="t" r="r" b="b"/>
              <a:pathLst>
                <a:path w="5472430" h="2399029">
                  <a:moveTo>
                    <a:pt x="399807" y="0"/>
                  </a:moveTo>
                  <a:lnTo>
                    <a:pt x="4522974" y="0"/>
                  </a:lnTo>
                  <a:lnTo>
                    <a:pt x="4573177" y="1327"/>
                  </a:lnTo>
                  <a:lnTo>
                    <a:pt x="4623009" y="5282"/>
                  </a:lnTo>
                  <a:lnTo>
                    <a:pt x="4672378" y="11826"/>
                  </a:lnTo>
                  <a:lnTo>
                    <a:pt x="4721188" y="20919"/>
                  </a:lnTo>
                  <a:lnTo>
                    <a:pt x="4769346" y="32524"/>
                  </a:lnTo>
                  <a:lnTo>
                    <a:pt x="4816757" y="46600"/>
                  </a:lnTo>
                  <a:lnTo>
                    <a:pt x="4863325" y="63108"/>
                  </a:lnTo>
                  <a:lnTo>
                    <a:pt x="4908958" y="82010"/>
                  </a:lnTo>
                  <a:lnTo>
                    <a:pt x="4953561" y="103266"/>
                  </a:lnTo>
                  <a:lnTo>
                    <a:pt x="4997038" y="126837"/>
                  </a:lnTo>
                  <a:lnTo>
                    <a:pt x="5039297" y="152684"/>
                  </a:lnTo>
                  <a:lnTo>
                    <a:pt x="5080241" y="180768"/>
                  </a:lnTo>
                  <a:lnTo>
                    <a:pt x="5119778" y="211050"/>
                  </a:lnTo>
                  <a:lnTo>
                    <a:pt x="5157811" y="243490"/>
                  </a:lnTo>
                  <a:lnTo>
                    <a:pt x="5194248" y="278050"/>
                  </a:lnTo>
                  <a:lnTo>
                    <a:pt x="5228808" y="314487"/>
                  </a:lnTo>
                  <a:lnTo>
                    <a:pt x="5261249" y="352521"/>
                  </a:lnTo>
                  <a:lnTo>
                    <a:pt x="5291530" y="392057"/>
                  </a:lnTo>
                  <a:lnTo>
                    <a:pt x="5319614" y="433002"/>
                  </a:lnTo>
                  <a:lnTo>
                    <a:pt x="5345462" y="475260"/>
                  </a:lnTo>
                  <a:lnTo>
                    <a:pt x="5369033" y="518738"/>
                  </a:lnTo>
                  <a:lnTo>
                    <a:pt x="5390289" y="563340"/>
                  </a:lnTo>
                  <a:lnTo>
                    <a:pt x="5409191" y="608973"/>
                  </a:lnTo>
                  <a:lnTo>
                    <a:pt x="5425699" y="655542"/>
                  </a:lnTo>
                  <a:lnTo>
                    <a:pt x="5439775" y="702953"/>
                  </a:lnTo>
                  <a:lnTo>
                    <a:pt x="5451380" y="751110"/>
                  </a:lnTo>
                  <a:lnTo>
                    <a:pt x="5460473" y="799921"/>
                  </a:lnTo>
                  <a:lnTo>
                    <a:pt x="5467017" y="849290"/>
                  </a:lnTo>
                  <a:lnTo>
                    <a:pt x="5470972" y="899122"/>
                  </a:lnTo>
                  <a:lnTo>
                    <a:pt x="5472299" y="949324"/>
                  </a:lnTo>
                  <a:lnTo>
                    <a:pt x="5472299" y="1998992"/>
                  </a:lnTo>
                  <a:lnTo>
                    <a:pt x="5469610" y="2045618"/>
                  </a:lnTo>
                  <a:lnTo>
                    <a:pt x="5461740" y="2090664"/>
                  </a:lnTo>
                  <a:lnTo>
                    <a:pt x="5448991" y="2133830"/>
                  </a:lnTo>
                  <a:lnTo>
                    <a:pt x="5431663" y="2174817"/>
                  </a:lnTo>
                  <a:lnTo>
                    <a:pt x="5410054" y="2213324"/>
                  </a:lnTo>
                  <a:lnTo>
                    <a:pt x="5384466" y="2249051"/>
                  </a:lnTo>
                  <a:lnTo>
                    <a:pt x="5355199" y="2281699"/>
                  </a:lnTo>
                  <a:lnTo>
                    <a:pt x="5322551" y="2310966"/>
                  </a:lnTo>
                  <a:lnTo>
                    <a:pt x="5286824" y="2336554"/>
                  </a:lnTo>
                  <a:lnTo>
                    <a:pt x="5248317" y="2358163"/>
                  </a:lnTo>
                  <a:lnTo>
                    <a:pt x="5207331" y="2375491"/>
                  </a:lnTo>
                  <a:lnTo>
                    <a:pt x="5164164" y="2388240"/>
                  </a:lnTo>
                  <a:lnTo>
                    <a:pt x="5119118" y="2396110"/>
                  </a:lnTo>
                  <a:lnTo>
                    <a:pt x="5072492" y="2398799"/>
                  </a:lnTo>
                  <a:lnTo>
                    <a:pt x="949324" y="2398799"/>
                  </a:lnTo>
                  <a:lnTo>
                    <a:pt x="900472" y="2397564"/>
                  </a:lnTo>
                  <a:lnTo>
                    <a:pt x="852262" y="2393898"/>
                  </a:lnTo>
                  <a:lnTo>
                    <a:pt x="804752" y="2387861"/>
                  </a:lnTo>
                  <a:lnTo>
                    <a:pt x="758002" y="2379513"/>
                  </a:lnTo>
                  <a:lnTo>
                    <a:pt x="712073" y="2368912"/>
                  </a:lnTo>
                  <a:lnTo>
                    <a:pt x="667024" y="2356120"/>
                  </a:lnTo>
                  <a:lnTo>
                    <a:pt x="622915" y="2341195"/>
                  </a:lnTo>
                  <a:lnTo>
                    <a:pt x="579804" y="2324197"/>
                  </a:lnTo>
                  <a:lnTo>
                    <a:pt x="537753" y="2305186"/>
                  </a:lnTo>
                  <a:lnTo>
                    <a:pt x="496820" y="2284221"/>
                  </a:lnTo>
                  <a:lnTo>
                    <a:pt x="457065" y="2261362"/>
                  </a:lnTo>
                  <a:lnTo>
                    <a:pt x="418548" y="2236670"/>
                  </a:lnTo>
                  <a:lnTo>
                    <a:pt x="381328" y="2210202"/>
                  </a:lnTo>
                  <a:lnTo>
                    <a:pt x="345466" y="2182020"/>
                  </a:lnTo>
                  <a:lnTo>
                    <a:pt x="311020" y="2152182"/>
                  </a:lnTo>
                  <a:lnTo>
                    <a:pt x="278050" y="2120749"/>
                  </a:lnTo>
                  <a:lnTo>
                    <a:pt x="246617" y="2087779"/>
                  </a:lnTo>
                  <a:lnTo>
                    <a:pt x="216779" y="2053333"/>
                  </a:lnTo>
                  <a:lnTo>
                    <a:pt x="188597" y="2017471"/>
                  </a:lnTo>
                  <a:lnTo>
                    <a:pt x="162129" y="1980251"/>
                  </a:lnTo>
                  <a:lnTo>
                    <a:pt x="137437" y="1941734"/>
                  </a:lnTo>
                  <a:lnTo>
                    <a:pt x="114578" y="1901979"/>
                  </a:lnTo>
                  <a:lnTo>
                    <a:pt x="93613" y="1861046"/>
                  </a:lnTo>
                  <a:lnTo>
                    <a:pt x="74602" y="1818995"/>
                  </a:lnTo>
                  <a:lnTo>
                    <a:pt x="57604" y="1775884"/>
                  </a:lnTo>
                  <a:lnTo>
                    <a:pt x="42679" y="1731775"/>
                  </a:lnTo>
                  <a:lnTo>
                    <a:pt x="29887" y="1686726"/>
                  </a:lnTo>
                  <a:lnTo>
                    <a:pt x="19286" y="1640797"/>
                  </a:lnTo>
                  <a:lnTo>
                    <a:pt x="10938" y="1594047"/>
                  </a:lnTo>
                  <a:lnTo>
                    <a:pt x="4901" y="1546537"/>
                  </a:lnTo>
                  <a:lnTo>
                    <a:pt x="1235" y="1498327"/>
                  </a:lnTo>
                  <a:lnTo>
                    <a:pt x="0" y="1449474"/>
                  </a:lnTo>
                  <a:lnTo>
                    <a:pt x="0" y="399807"/>
                  </a:lnTo>
                  <a:lnTo>
                    <a:pt x="2689" y="353181"/>
                  </a:lnTo>
                  <a:lnTo>
                    <a:pt x="10559" y="308135"/>
                  </a:lnTo>
                  <a:lnTo>
                    <a:pt x="23308" y="264969"/>
                  </a:lnTo>
                  <a:lnTo>
                    <a:pt x="40636" y="223982"/>
                  </a:lnTo>
                  <a:lnTo>
                    <a:pt x="62245" y="185475"/>
                  </a:lnTo>
                  <a:lnTo>
                    <a:pt x="87833" y="149748"/>
                  </a:lnTo>
                  <a:lnTo>
                    <a:pt x="117100" y="117101"/>
                  </a:lnTo>
                  <a:lnTo>
                    <a:pt x="149748" y="87833"/>
                  </a:lnTo>
                  <a:lnTo>
                    <a:pt x="185475" y="62245"/>
                  </a:lnTo>
                  <a:lnTo>
                    <a:pt x="223982" y="40636"/>
                  </a:lnTo>
                  <a:lnTo>
                    <a:pt x="264968" y="23308"/>
                  </a:lnTo>
                  <a:lnTo>
                    <a:pt x="308135" y="10559"/>
                  </a:lnTo>
                  <a:lnTo>
                    <a:pt x="353181" y="2689"/>
                  </a:lnTo>
                  <a:lnTo>
                    <a:pt x="399807" y="0"/>
                  </a:lnTo>
                  <a:close/>
                </a:path>
              </a:pathLst>
            </a:custGeom>
            <a:ln w="9524">
              <a:solidFill>
                <a:srgbClr val="EEEE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865672" y="3018613"/>
              <a:ext cx="411014" cy="386836"/>
            </a:xfrm>
            <a:prstGeom prst="rect">
              <a:avLst/>
            </a:prstGeom>
          </p:spPr>
        </p:pic>
      </p:grpSp>
      <p:sp>
        <p:nvSpPr>
          <p:cNvPr id="29" name="object 29"/>
          <p:cNvSpPr txBox="1"/>
          <p:nvPr/>
        </p:nvSpPr>
        <p:spPr>
          <a:xfrm>
            <a:off x="12852972" y="2969259"/>
            <a:ext cx="4208145" cy="2441575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700" marR="5080" indent="485140">
              <a:lnSpc>
                <a:spcPts val="3229"/>
              </a:lnSpc>
              <a:spcBef>
                <a:spcPts val="215"/>
              </a:spcBef>
            </a:pPr>
            <a:r>
              <a:rPr sz="2700" b="1" dirty="0">
                <a:latin typeface="Calibri"/>
                <a:cs typeface="Calibri"/>
              </a:rPr>
              <a:t>Profit</a:t>
            </a:r>
            <a:r>
              <a:rPr sz="2700" b="1" spc="-75" dirty="0">
                <a:latin typeface="Calibri"/>
                <a:cs typeface="Calibri"/>
              </a:rPr>
              <a:t> </a:t>
            </a:r>
            <a:r>
              <a:rPr sz="2700" b="1" dirty="0">
                <a:latin typeface="Calibri"/>
                <a:cs typeface="Calibri"/>
              </a:rPr>
              <a:t>Snapshot</a:t>
            </a:r>
            <a:r>
              <a:rPr sz="2700" b="1" spc="-75" dirty="0">
                <a:latin typeface="Calibri"/>
                <a:cs typeface="Calibri"/>
              </a:rPr>
              <a:t> </a:t>
            </a:r>
            <a:r>
              <a:rPr sz="2700" b="1" dirty="0">
                <a:latin typeface="Calibri"/>
                <a:cs typeface="Calibri"/>
              </a:rPr>
              <a:t>(Per</a:t>
            </a:r>
            <a:r>
              <a:rPr sz="2700" b="1" spc="-70" dirty="0">
                <a:latin typeface="Calibri"/>
                <a:cs typeface="Calibri"/>
              </a:rPr>
              <a:t> </a:t>
            </a:r>
            <a:r>
              <a:rPr sz="2700" b="1" dirty="0">
                <a:latin typeface="Calibri"/>
                <a:cs typeface="Calibri"/>
              </a:rPr>
              <a:t>City</a:t>
            </a:r>
            <a:r>
              <a:rPr sz="2700" b="1" spc="-75" dirty="0">
                <a:latin typeface="Calibri"/>
                <a:cs typeface="Calibri"/>
              </a:rPr>
              <a:t> </a:t>
            </a:r>
            <a:r>
              <a:rPr sz="2700" b="1" spc="-50" dirty="0">
                <a:latin typeface="Calibri"/>
                <a:cs typeface="Calibri"/>
              </a:rPr>
              <a:t>/ </a:t>
            </a:r>
            <a:r>
              <a:rPr sz="2700" b="1" spc="-10" dirty="0">
                <a:latin typeface="Calibri"/>
                <a:cs typeface="Calibri"/>
              </a:rPr>
              <a:t>Year)</a:t>
            </a:r>
            <a:endParaRPr sz="2700">
              <a:latin typeface="Calibri"/>
              <a:cs typeface="Calibri"/>
            </a:endParaRPr>
          </a:p>
          <a:p>
            <a:pPr marL="12700">
              <a:lnSpc>
                <a:spcPts val="3000"/>
              </a:lnSpc>
            </a:pPr>
            <a:r>
              <a:rPr sz="2600" dirty="0">
                <a:latin typeface="Calibri"/>
                <a:cs typeface="Calibri"/>
              </a:rPr>
              <a:t>Revenue: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~</a:t>
            </a:r>
            <a:r>
              <a:rPr sz="2600" b="1" spc="-80" dirty="0">
                <a:latin typeface="Calibri"/>
                <a:cs typeface="Calibri"/>
              </a:rPr>
              <a:t> </a:t>
            </a:r>
            <a:r>
              <a:rPr sz="2600" b="1" spc="-25" dirty="0">
                <a:latin typeface="Arial"/>
                <a:cs typeface="Arial"/>
              </a:rPr>
              <a:t>₹</a:t>
            </a:r>
            <a:r>
              <a:rPr sz="2600" b="1" spc="-25" dirty="0">
                <a:latin typeface="Calibri"/>
                <a:cs typeface="Calibri"/>
              </a:rPr>
              <a:t>2L</a:t>
            </a:r>
            <a:endParaRPr sz="2600">
              <a:latin typeface="Calibri"/>
              <a:cs typeface="Calibri"/>
            </a:endParaRPr>
          </a:p>
          <a:p>
            <a:pPr marL="12700" marR="1488440">
              <a:lnSpc>
                <a:spcPts val="3150"/>
              </a:lnSpc>
              <a:spcBef>
                <a:spcPts val="100"/>
              </a:spcBef>
              <a:tabLst>
                <a:tab pos="2012950" algn="l"/>
              </a:tabLst>
            </a:pPr>
            <a:r>
              <a:rPr sz="2600" dirty="0">
                <a:latin typeface="Calibri"/>
                <a:cs typeface="Calibri"/>
              </a:rPr>
              <a:t>Cost: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~</a:t>
            </a:r>
            <a:r>
              <a:rPr sz="2600" b="1" dirty="0">
                <a:latin typeface="Arial"/>
                <a:cs typeface="Arial"/>
              </a:rPr>
              <a:t>₹</a:t>
            </a:r>
            <a:r>
              <a:rPr sz="2600" b="1" dirty="0">
                <a:latin typeface="Calibri"/>
                <a:cs typeface="Calibri"/>
              </a:rPr>
              <a:t>30K</a:t>
            </a:r>
            <a:r>
              <a:rPr sz="2600" b="1" spc="-80" dirty="0">
                <a:latin typeface="Calibri"/>
                <a:cs typeface="Calibri"/>
              </a:rPr>
              <a:t> </a:t>
            </a:r>
            <a:r>
              <a:rPr sz="2600" b="1" spc="-50" dirty="0">
                <a:latin typeface="Calibri"/>
                <a:cs typeface="Calibri"/>
              </a:rPr>
              <a:t>–</a:t>
            </a:r>
            <a:r>
              <a:rPr sz="2600" b="1" dirty="0">
                <a:latin typeface="Calibri"/>
                <a:cs typeface="Calibri"/>
              </a:rPr>
              <a:t>	</a:t>
            </a:r>
            <a:r>
              <a:rPr sz="2600" b="1" spc="-20" dirty="0">
                <a:latin typeface="Arial"/>
                <a:cs typeface="Arial"/>
              </a:rPr>
              <a:t>₹</a:t>
            </a:r>
            <a:r>
              <a:rPr sz="2600" b="1" spc="-20" dirty="0">
                <a:latin typeface="Calibri"/>
                <a:cs typeface="Calibri"/>
              </a:rPr>
              <a:t>40K </a:t>
            </a:r>
            <a:r>
              <a:rPr sz="2600" dirty="0">
                <a:latin typeface="Calibri"/>
                <a:cs typeface="Calibri"/>
              </a:rPr>
              <a:t>Net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Profit: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~</a:t>
            </a:r>
            <a:r>
              <a:rPr sz="2600" b="1" spc="-65" dirty="0">
                <a:latin typeface="Calibri"/>
                <a:cs typeface="Calibri"/>
              </a:rPr>
              <a:t> </a:t>
            </a:r>
            <a:r>
              <a:rPr sz="2600" b="1" spc="-10" dirty="0">
                <a:latin typeface="Arial"/>
                <a:cs typeface="Arial"/>
              </a:rPr>
              <a:t>₹</a:t>
            </a:r>
            <a:r>
              <a:rPr sz="2600" b="1" spc="-10" dirty="0">
                <a:latin typeface="Calibri"/>
                <a:cs typeface="Calibri"/>
              </a:rPr>
              <a:t>1.6L </a:t>
            </a:r>
            <a:r>
              <a:rPr sz="2600" spc="-10" dirty="0">
                <a:latin typeface="Calibri"/>
                <a:cs typeface="Calibri"/>
              </a:rPr>
              <a:t>Margin: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~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b="1" spc="-10" dirty="0">
                <a:latin typeface="Calibri"/>
                <a:cs typeface="Calibri"/>
              </a:rPr>
              <a:t>75–80%</a:t>
            </a:r>
            <a:endParaRPr sz="2600">
              <a:latin typeface="Calibri"/>
              <a:cs typeface="Calibri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12497137" y="6924450"/>
            <a:ext cx="1576070" cy="683260"/>
            <a:chOff x="12497137" y="6924450"/>
            <a:chExt cx="1576070" cy="683260"/>
          </a:xfrm>
        </p:grpSpPr>
        <p:sp>
          <p:nvSpPr>
            <p:cNvPr id="31" name="object 31"/>
            <p:cNvSpPr/>
            <p:nvPr/>
          </p:nvSpPr>
          <p:spPr>
            <a:xfrm>
              <a:off x="12501899" y="7256381"/>
              <a:ext cx="882650" cy="19050"/>
            </a:xfrm>
            <a:custGeom>
              <a:avLst/>
              <a:gdLst/>
              <a:ahLst/>
              <a:cxnLst/>
              <a:rect l="l" t="t" r="r" b="b"/>
              <a:pathLst>
                <a:path w="882650" h="19050">
                  <a:moveTo>
                    <a:pt x="0" y="18856"/>
                  </a:moveTo>
                  <a:lnTo>
                    <a:pt x="882274" y="0"/>
                  </a:lnTo>
                </a:path>
              </a:pathLst>
            </a:custGeom>
            <a:ln w="9524">
              <a:solidFill>
                <a:srgbClr val="C1C1C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3384174" y="6924450"/>
              <a:ext cx="688975" cy="683260"/>
            </a:xfrm>
            <a:custGeom>
              <a:avLst/>
              <a:gdLst/>
              <a:ahLst/>
              <a:cxnLst/>
              <a:rect l="l" t="t" r="r" b="b"/>
              <a:pathLst>
                <a:path w="688975" h="683259">
                  <a:moveTo>
                    <a:pt x="344273" y="682731"/>
                  </a:moveTo>
                  <a:lnTo>
                    <a:pt x="297557" y="679614"/>
                  </a:lnTo>
                  <a:lnTo>
                    <a:pt x="252751" y="670537"/>
                  </a:lnTo>
                  <a:lnTo>
                    <a:pt x="210266" y="655904"/>
                  </a:lnTo>
                  <a:lnTo>
                    <a:pt x="170511" y="636124"/>
                  </a:lnTo>
                  <a:lnTo>
                    <a:pt x="133898" y="611603"/>
                  </a:lnTo>
                  <a:lnTo>
                    <a:pt x="100835" y="582747"/>
                  </a:lnTo>
                  <a:lnTo>
                    <a:pt x="71733" y="549963"/>
                  </a:lnTo>
                  <a:lnTo>
                    <a:pt x="47003" y="513659"/>
                  </a:lnTo>
                  <a:lnTo>
                    <a:pt x="27054" y="474240"/>
                  </a:lnTo>
                  <a:lnTo>
                    <a:pt x="12297" y="432113"/>
                  </a:lnTo>
                  <a:lnTo>
                    <a:pt x="3142" y="387686"/>
                  </a:lnTo>
                  <a:lnTo>
                    <a:pt x="0" y="341365"/>
                  </a:lnTo>
                  <a:lnTo>
                    <a:pt x="3142" y="295044"/>
                  </a:lnTo>
                  <a:lnTo>
                    <a:pt x="12297" y="250617"/>
                  </a:lnTo>
                  <a:lnTo>
                    <a:pt x="27054" y="208490"/>
                  </a:lnTo>
                  <a:lnTo>
                    <a:pt x="47003" y="169071"/>
                  </a:lnTo>
                  <a:lnTo>
                    <a:pt x="71733" y="132767"/>
                  </a:lnTo>
                  <a:lnTo>
                    <a:pt x="100835" y="99983"/>
                  </a:lnTo>
                  <a:lnTo>
                    <a:pt x="133898" y="71127"/>
                  </a:lnTo>
                  <a:lnTo>
                    <a:pt x="170511" y="46606"/>
                  </a:lnTo>
                  <a:lnTo>
                    <a:pt x="210266" y="26826"/>
                  </a:lnTo>
                  <a:lnTo>
                    <a:pt x="252751" y="12193"/>
                  </a:lnTo>
                  <a:lnTo>
                    <a:pt x="297557" y="3116"/>
                  </a:lnTo>
                  <a:lnTo>
                    <a:pt x="344273" y="0"/>
                  </a:lnTo>
                  <a:lnTo>
                    <a:pt x="398455" y="4252"/>
                  </a:lnTo>
                  <a:lnTo>
                    <a:pt x="450814" y="16756"/>
                  </a:lnTo>
                  <a:lnTo>
                    <a:pt x="500426" y="37133"/>
                  </a:lnTo>
                  <a:lnTo>
                    <a:pt x="546367" y="65002"/>
                  </a:lnTo>
                  <a:lnTo>
                    <a:pt x="587712" y="99983"/>
                  </a:lnTo>
                  <a:lnTo>
                    <a:pt x="622992" y="140979"/>
                  </a:lnTo>
                  <a:lnTo>
                    <a:pt x="651098" y="186531"/>
                  </a:lnTo>
                  <a:lnTo>
                    <a:pt x="671648" y="235725"/>
                  </a:lnTo>
                  <a:lnTo>
                    <a:pt x="684259" y="287641"/>
                  </a:lnTo>
                  <a:lnTo>
                    <a:pt x="688548" y="341365"/>
                  </a:lnTo>
                  <a:lnTo>
                    <a:pt x="685405" y="387686"/>
                  </a:lnTo>
                  <a:lnTo>
                    <a:pt x="676250" y="432113"/>
                  </a:lnTo>
                  <a:lnTo>
                    <a:pt x="661493" y="474240"/>
                  </a:lnTo>
                  <a:lnTo>
                    <a:pt x="641544" y="513659"/>
                  </a:lnTo>
                  <a:lnTo>
                    <a:pt x="616814" y="549963"/>
                  </a:lnTo>
                  <a:lnTo>
                    <a:pt x="587712" y="582747"/>
                  </a:lnTo>
                  <a:lnTo>
                    <a:pt x="554649" y="611603"/>
                  </a:lnTo>
                  <a:lnTo>
                    <a:pt x="518035" y="636124"/>
                  </a:lnTo>
                  <a:lnTo>
                    <a:pt x="478280" y="655904"/>
                  </a:lnTo>
                  <a:lnTo>
                    <a:pt x="435795" y="670537"/>
                  </a:lnTo>
                  <a:lnTo>
                    <a:pt x="390989" y="679614"/>
                  </a:lnTo>
                  <a:lnTo>
                    <a:pt x="344273" y="682731"/>
                  </a:lnTo>
                  <a:close/>
                </a:path>
              </a:pathLst>
            </a:custGeom>
            <a:solidFill>
              <a:srgbClr val="771E8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13662810" y="7065218"/>
            <a:ext cx="187960" cy="375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spc="-50" dirty="0">
                <a:solidFill>
                  <a:srgbClr val="FFFFFF"/>
                </a:solidFill>
                <a:latin typeface="Arial MT"/>
                <a:cs typeface="Arial MT"/>
              </a:rPr>
              <a:t>4</a:t>
            </a:r>
            <a:endParaRPr sz="2300">
              <a:latin typeface="Arial MT"/>
              <a:cs typeface="Arial MT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84937" y="5687287"/>
            <a:ext cx="6098540" cy="2776855"/>
            <a:chOff x="84937" y="5687287"/>
            <a:chExt cx="6098540" cy="2776855"/>
          </a:xfrm>
        </p:grpSpPr>
        <p:sp>
          <p:nvSpPr>
            <p:cNvPr id="35" name="object 35"/>
            <p:cNvSpPr/>
            <p:nvPr/>
          </p:nvSpPr>
          <p:spPr>
            <a:xfrm>
              <a:off x="89699" y="5692049"/>
              <a:ext cx="6089015" cy="2767330"/>
            </a:xfrm>
            <a:custGeom>
              <a:avLst/>
              <a:gdLst/>
              <a:ahLst/>
              <a:cxnLst/>
              <a:rect l="l" t="t" r="r" b="b"/>
              <a:pathLst>
                <a:path w="6089015" h="2767329">
                  <a:moveTo>
                    <a:pt x="5666525" y="2767199"/>
                  </a:moveTo>
                  <a:lnTo>
                    <a:pt x="1383599" y="2767199"/>
                  </a:lnTo>
                  <a:lnTo>
                    <a:pt x="1335026" y="2766363"/>
                  </a:lnTo>
                  <a:lnTo>
                    <a:pt x="1286872" y="2763871"/>
                  </a:lnTo>
                  <a:lnTo>
                    <a:pt x="1239166" y="2759751"/>
                  </a:lnTo>
                  <a:lnTo>
                    <a:pt x="1191936" y="2754032"/>
                  </a:lnTo>
                  <a:lnTo>
                    <a:pt x="1145209" y="2746739"/>
                  </a:lnTo>
                  <a:lnTo>
                    <a:pt x="1099011" y="2737901"/>
                  </a:lnTo>
                  <a:lnTo>
                    <a:pt x="1053371" y="2727546"/>
                  </a:lnTo>
                  <a:lnTo>
                    <a:pt x="1008316" y="2715699"/>
                  </a:lnTo>
                  <a:lnTo>
                    <a:pt x="963874" y="2702390"/>
                  </a:lnTo>
                  <a:lnTo>
                    <a:pt x="920072" y="2687645"/>
                  </a:lnTo>
                  <a:lnTo>
                    <a:pt x="876937" y="2671492"/>
                  </a:lnTo>
                  <a:lnTo>
                    <a:pt x="834497" y="2653958"/>
                  </a:lnTo>
                  <a:lnTo>
                    <a:pt x="792779" y="2635071"/>
                  </a:lnTo>
                  <a:lnTo>
                    <a:pt x="751810" y="2614858"/>
                  </a:lnTo>
                  <a:lnTo>
                    <a:pt x="711619" y="2593346"/>
                  </a:lnTo>
                  <a:lnTo>
                    <a:pt x="672232" y="2570564"/>
                  </a:lnTo>
                  <a:lnTo>
                    <a:pt x="633678" y="2546538"/>
                  </a:lnTo>
                  <a:lnTo>
                    <a:pt x="595982" y="2521296"/>
                  </a:lnTo>
                  <a:lnTo>
                    <a:pt x="559174" y="2494865"/>
                  </a:lnTo>
                  <a:lnTo>
                    <a:pt x="523280" y="2467273"/>
                  </a:lnTo>
                  <a:lnTo>
                    <a:pt x="488327" y="2438547"/>
                  </a:lnTo>
                  <a:lnTo>
                    <a:pt x="454344" y="2408715"/>
                  </a:lnTo>
                  <a:lnTo>
                    <a:pt x="421358" y="2377804"/>
                  </a:lnTo>
                  <a:lnTo>
                    <a:pt x="389395" y="2345842"/>
                  </a:lnTo>
                  <a:lnTo>
                    <a:pt x="358484" y="2312855"/>
                  </a:lnTo>
                  <a:lnTo>
                    <a:pt x="328652" y="2278872"/>
                  </a:lnTo>
                  <a:lnTo>
                    <a:pt x="299926" y="2243919"/>
                  </a:lnTo>
                  <a:lnTo>
                    <a:pt x="272334" y="2208025"/>
                  </a:lnTo>
                  <a:lnTo>
                    <a:pt x="245903" y="2171217"/>
                  </a:lnTo>
                  <a:lnTo>
                    <a:pt x="220661" y="2133522"/>
                  </a:lnTo>
                  <a:lnTo>
                    <a:pt x="196635" y="2094967"/>
                  </a:lnTo>
                  <a:lnTo>
                    <a:pt x="173853" y="2055580"/>
                  </a:lnTo>
                  <a:lnTo>
                    <a:pt x="152341" y="2015389"/>
                  </a:lnTo>
                  <a:lnTo>
                    <a:pt x="132128" y="1974421"/>
                  </a:lnTo>
                  <a:lnTo>
                    <a:pt x="113241" y="1932703"/>
                  </a:lnTo>
                  <a:lnTo>
                    <a:pt x="95707" y="1890262"/>
                  </a:lnTo>
                  <a:lnTo>
                    <a:pt x="79554" y="1847127"/>
                  </a:lnTo>
                  <a:lnTo>
                    <a:pt x="64809" y="1803325"/>
                  </a:lnTo>
                  <a:lnTo>
                    <a:pt x="51500" y="1758883"/>
                  </a:lnTo>
                  <a:lnTo>
                    <a:pt x="39653" y="1713828"/>
                  </a:lnTo>
                  <a:lnTo>
                    <a:pt x="29298" y="1668188"/>
                  </a:lnTo>
                  <a:lnTo>
                    <a:pt x="20460" y="1621991"/>
                  </a:lnTo>
                  <a:lnTo>
                    <a:pt x="13167" y="1575263"/>
                  </a:lnTo>
                  <a:lnTo>
                    <a:pt x="7448" y="1528033"/>
                  </a:lnTo>
                  <a:lnTo>
                    <a:pt x="3328" y="1480327"/>
                  </a:lnTo>
                  <a:lnTo>
                    <a:pt x="836" y="1432173"/>
                  </a:lnTo>
                  <a:lnTo>
                    <a:pt x="0" y="1383599"/>
                  </a:lnTo>
                  <a:lnTo>
                    <a:pt x="0" y="422274"/>
                  </a:lnTo>
                  <a:lnTo>
                    <a:pt x="2840" y="373028"/>
                  </a:lnTo>
                  <a:lnTo>
                    <a:pt x="11152" y="325450"/>
                  </a:lnTo>
                  <a:lnTo>
                    <a:pt x="24618" y="279858"/>
                  </a:lnTo>
                  <a:lnTo>
                    <a:pt x="42920" y="236568"/>
                  </a:lnTo>
                  <a:lnTo>
                    <a:pt x="65743" y="195898"/>
                  </a:lnTo>
                  <a:lnTo>
                    <a:pt x="92769" y="158163"/>
                  </a:lnTo>
                  <a:lnTo>
                    <a:pt x="123681" y="123681"/>
                  </a:lnTo>
                  <a:lnTo>
                    <a:pt x="158163" y="92769"/>
                  </a:lnTo>
                  <a:lnTo>
                    <a:pt x="195898" y="65743"/>
                  </a:lnTo>
                  <a:lnTo>
                    <a:pt x="236568" y="42920"/>
                  </a:lnTo>
                  <a:lnTo>
                    <a:pt x="279858" y="24618"/>
                  </a:lnTo>
                  <a:lnTo>
                    <a:pt x="325450" y="11152"/>
                  </a:lnTo>
                  <a:lnTo>
                    <a:pt x="373028" y="2840"/>
                  </a:lnTo>
                  <a:lnTo>
                    <a:pt x="422274" y="0"/>
                  </a:lnTo>
                  <a:lnTo>
                    <a:pt x="4705199" y="0"/>
                  </a:lnTo>
                  <a:lnTo>
                    <a:pt x="4755138" y="900"/>
                  </a:lnTo>
                  <a:lnTo>
                    <a:pt x="4804847" y="3590"/>
                  </a:lnTo>
                  <a:lnTo>
                    <a:pt x="4854282" y="8050"/>
                  </a:lnTo>
                  <a:lnTo>
                    <a:pt x="4903400" y="14263"/>
                  </a:lnTo>
                  <a:lnTo>
                    <a:pt x="4952157" y="22212"/>
                  </a:lnTo>
                  <a:lnTo>
                    <a:pt x="5000510" y="31877"/>
                  </a:lnTo>
                  <a:lnTo>
                    <a:pt x="5048415" y="43240"/>
                  </a:lnTo>
                  <a:lnTo>
                    <a:pt x="5095828" y="56284"/>
                  </a:lnTo>
                  <a:lnTo>
                    <a:pt x="5142705" y="70991"/>
                  </a:lnTo>
                  <a:lnTo>
                    <a:pt x="5189004" y="87342"/>
                  </a:lnTo>
                  <a:lnTo>
                    <a:pt x="5234680" y="105320"/>
                  </a:lnTo>
                  <a:lnTo>
                    <a:pt x="5279690" y="124906"/>
                  </a:lnTo>
                  <a:lnTo>
                    <a:pt x="5323990" y="146082"/>
                  </a:lnTo>
                  <a:lnTo>
                    <a:pt x="5367537" y="168830"/>
                  </a:lnTo>
                  <a:lnTo>
                    <a:pt x="5410287" y="193133"/>
                  </a:lnTo>
                  <a:lnTo>
                    <a:pt x="5452196" y="218971"/>
                  </a:lnTo>
                  <a:lnTo>
                    <a:pt x="5493221" y="246327"/>
                  </a:lnTo>
                  <a:lnTo>
                    <a:pt x="5533317" y="275184"/>
                  </a:lnTo>
                  <a:lnTo>
                    <a:pt x="5572443" y="305522"/>
                  </a:lnTo>
                  <a:lnTo>
                    <a:pt x="5610553" y="337324"/>
                  </a:lnTo>
                  <a:lnTo>
                    <a:pt x="5647604" y="370571"/>
                  </a:lnTo>
                  <a:lnTo>
                    <a:pt x="5683552" y="405246"/>
                  </a:lnTo>
                  <a:lnTo>
                    <a:pt x="5718228" y="441195"/>
                  </a:lnTo>
                  <a:lnTo>
                    <a:pt x="5751475" y="478246"/>
                  </a:lnTo>
                  <a:lnTo>
                    <a:pt x="5783277" y="516356"/>
                  </a:lnTo>
                  <a:lnTo>
                    <a:pt x="5813615" y="555482"/>
                  </a:lnTo>
                  <a:lnTo>
                    <a:pt x="5842471" y="595578"/>
                  </a:lnTo>
                  <a:lnTo>
                    <a:pt x="5869828" y="636603"/>
                  </a:lnTo>
                  <a:lnTo>
                    <a:pt x="5895666" y="678512"/>
                  </a:lnTo>
                  <a:lnTo>
                    <a:pt x="5919969" y="721262"/>
                  </a:lnTo>
                  <a:lnTo>
                    <a:pt x="5942717" y="764808"/>
                  </a:lnTo>
                  <a:lnTo>
                    <a:pt x="5963893" y="809108"/>
                  </a:lnTo>
                  <a:lnTo>
                    <a:pt x="5983479" y="854118"/>
                  </a:lnTo>
                  <a:lnTo>
                    <a:pt x="6001457" y="899795"/>
                  </a:lnTo>
                  <a:lnTo>
                    <a:pt x="6017808" y="946093"/>
                  </a:lnTo>
                  <a:lnTo>
                    <a:pt x="6032515" y="992971"/>
                  </a:lnTo>
                  <a:lnTo>
                    <a:pt x="6045559" y="1040384"/>
                  </a:lnTo>
                  <a:lnTo>
                    <a:pt x="6056922" y="1088289"/>
                  </a:lnTo>
                  <a:lnTo>
                    <a:pt x="6066587" y="1136641"/>
                  </a:lnTo>
                  <a:lnTo>
                    <a:pt x="6074535" y="1185399"/>
                  </a:lnTo>
                  <a:lnTo>
                    <a:pt x="6080749" y="1234517"/>
                  </a:lnTo>
                  <a:lnTo>
                    <a:pt x="6085209" y="1283952"/>
                  </a:lnTo>
                  <a:lnTo>
                    <a:pt x="6087899" y="1333661"/>
                  </a:lnTo>
                  <a:lnTo>
                    <a:pt x="6088799" y="1383599"/>
                  </a:lnTo>
                  <a:lnTo>
                    <a:pt x="6088747" y="2345842"/>
                  </a:lnTo>
                  <a:lnTo>
                    <a:pt x="6085959" y="2394171"/>
                  </a:lnTo>
                  <a:lnTo>
                    <a:pt x="6077647" y="2441748"/>
                  </a:lnTo>
                  <a:lnTo>
                    <a:pt x="6064181" y="2487341"/>
                  </a:lnTo>
                  <a:lnTo>
                    <a:pt x="6045879" y="2530631"/>
                  </a:lnTo>
                  <a:lnTo>
                    <a:pt x="6023056" y="2571301"/>
                  </a:lnTo>
                  <a:lnTo>
                    <a:pt x="5996030" y="2609036"/>
                  </a:lnTo>
                  <a:lnTo>
                    <a:pt x="5965118" y="2643518"/>
                  </a:lnTo>
                  <a:lnTo>
                    <a:pt x="5930636" y="2674431"/>
                  </a:lnTo>
                  <a:lnTo>
                    <a:pt x="5892901" y="2701456"/>
                  </a:lnTo>
                  <a:lnTo>
                    <a:pt x="5852230" y="2724279"/>
                  </a:lnTo>
                  <a:lnTo>
                    <a:pt x="5808941" y="2742581"/>
                  </a:lnTo>
                  <a:lnTo>
                    <a:pt x="5763349" y="2756047"/>
                  </a:lnTo>
                  <a:lnTo>
                    <a:pt x="5715771" y="2764359"/>
                  </a:lnTo>
                  <a:lnTo>
                    <a:pt x="5666525" y="27671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89699" y="5692049"/>
              <a:ext cx="6089015" cy="2767330"/>
            </a:xfrm>
            <a:custGeom>
              <a:avLst/>
              <a:gdLst/>
              <a:ahLst/>
              <a:cxnLst/>
              <a:rect l="l" t="t" r="r" b="b"/>
              <a:pathLst>
                <a:path w="6089015" h="2767329">
                  <a:moveTo>
                    <a:pt x="422274" y="0"/>
                  </a:moveTo>
                  <a:lnTo>
                    <a:pt x="4705199" y="0"/>
                  </a:lnTo>
                  <a:lnTo>
                    <a:pt x="4755138" y="900"/>
                  </a:lnTo>
                  <a:lnTo>
                    <a:pt x="4804847" y="3590"/>
                  </a:lnTo>
                  <a:lnTo>
                    <a:pt x="4854282" y="8050"/>
                  </a:lnTo>
                  <a:lnTo>
                    <a:pt x="4903400" y="14263"/>
                  </a:lnTo>
                  <a:lnTo>
                    <a:pt x="4952157" y="22212"/>
                  </a:lnTo>
                  <a:lnTo>
                    <a:pt x="5000510" y="31877"/>
                  </a:lnTo>
                  <a:lnTo>
                    <a:pt x="5048415" y="43240"/>
                  </a:lnTo>
                  <a:lnTo>
                    <a:pt x="5095828" y="56284"/>
                  </a:lnTo>
                  <a:lnTo>
                    <a:pt x="5142705" y="70991"/>
                  </a:lnTo>
                  <a:lnTo>
                    <a:pt x="5189004" y="87342"/>
                  </a:lnTo>
                  <a:lnTo>
                    <a:pt x="5234680" y="105320"/>
                  </a:lnTo>
                  <a:lnTo>
                    <a:pt x="5279690" y="124906"/>
                  </a:lnTo>
                  <a:lnTo>
                    <a:pt x="5323991" y="146082"/>
                  </a:lnTo>
                  <a:lnTo>
                    <a:pt x="5367537" y="168830"/>
                  </a:lnTo>
                  <a:lnTo>
                    <a:pt x="5410287" y="193133"/>
                  </a:lnTo>
                  <a:lnTo>
                    <a:pt x="5452196" y="218971"/>
                  </a:lnTo>
                  <a:lnTo>
                    <a:pt x="5493221" y="246327"/>
                  </a:lnTo>
                  <a:lnTo>
                    <a:pt x="5533317" y="275184"/>
                  </a:lnTo>
                  <a:lnTo>
                    <a:pt x="5572443" y="305522"/>
                  </a:lnTo>
                  <a:lnTo>
                    <a:pt x="5610553" y="337324"/>
                  </a:lnTo>
                  <a:lnTo>
                    <a:pt x="5647604" y="370571"/>
                  </a:lnTo>
                  <a:lnTo>
                    <a:pt x="5683552" y="405246"/>
                  </a:lnTo>
                  <a:lnTo>
                    <a:pt x="5718228" y="441195"/>
                  </a:lnTo>
                  <a:lnTo>
                    <a:pt x="5751475" y="478246"/>
                  </a:lnTo>
                  <a:lnTo>
                    <a:pt x="5783277" y="516356"/>
                  </a:lnTo>
                  <a:lnTo>
                    <a:pt x="5813615" y="555482"/>
                  </a:lnTo>
                  <a:lnTo>
                    <a:pt x="5842472" y="595578"/>
                  </a:lnTo>
                  <a:lnTo>
                    <a:pt x="5869828" y="636603"/>
                  </a:lnTo>
                  <a:lnTo>
                    <a:pt x="5895666" y="678512"/>
                  </a:lnTo>
                  <a:lnTo>
                    <a:pt x="5919969" y="721262"/>
                  </a:lnTo>
                  <a:lnTo>
                    <a:pt x="5942717" y="764808"/>
                  </a:lnTo>
                  <a:lnTo>
                    <a:pt x="5963893" y="809108"/>
                  </a:lnTo>
                  <a:lnTo>
                    <a:pt x="5983479" y="854118"/>
                  </a:lnTo>
                  <a:lnTo>
                    <a:pt x="6001457" y="899795"/>
                  </a:lnTo>
                  <a:lnTo>
                    <a:pt x="6017808" y="946093"/>
                  </a:lnTo>
                  <a:lnTo>
                    <a:pt x="6032515" y="992971"/>
                  </a:lnTo>
                  <a:lnTo>
                    <a:pt x="6045559" y="1040384"/>
                  </a:lnTo>
                  <a:lnTo>
                    <a:pt x="6056922" y="1088289"/>
                  </a:lnTo>
                  <a:lnTo>
                    <a:pt x="6066587" y="1136641"/>
                  </a:lnTo>
                  <a:lnTo>
                    <a:pt x="6074536" y="1185399"/>
                  </a:lnTo>
                  <a:lnTo>
                    <a:pt x="6080749" y="1234517"/>
                  </a:lnTo>
                  <a:lnTo>
                    <a:pt x="6085209" y="1283952"/>
                  </a:lnTo>
                  <a:lnTo>
                    <a:pt x="6087899" y="1333661"/>
                  </a:lnTo>
                  <a:lnTo>
                    <a:pt x="6088799" y="1383599"/>
                  </a:lnTo>
                  <a:lnTo>
                    <a:pt x="6088799" y="2344924"/>
                  </a:lnTo>
                  <a:lnTo>
                    <a:pt x="6085959" y="2394171"/>
                  </a:lnTo>
                  <a:lnTo>
                    <a:pt x="6077647" y="2441748"/>
                  </a:lnTo>
                  <a:lnTo>
                    <a:pt x="6064181" y="2487341"/>
                  </a:lnTo>
                  <a:lnTo>
                    <a:pt x="6045879" y="2530631"/>
                  </a:lnTo>
                  <a:lnTo>
                    <a:pt x="6023056" y="2571301"/>
                  </a:lnTo>
                  <a:lnTo>
                    <a:pt x="5996030" y="2609036"/>
                  </a:lnTo>
                  <a:lnTo>
                    <a:pt x="5965118" y="2643518"/>
                  </a:lnTo>
                  <a:lnTo>
                    <a:pt x="5930636" y="2674431"/>
                  </a:lnTo>
                  <a:lnTo>
                    <a:pt x="5892901" y="2701456"/>
                  </a:lnTo>
                  <a:lnTo>
                    <a:pt x="5852230" y="2724279"/>
                  </a:lnTo>
                  <a:lnTo>
                    <a:pt x="5808941" y="2742581"/>
                  </a:lnTo>
                  <a:lnTo>
                    <a:pt x="5763349" y="2756047"/>
                  </a:lnTo>
                  <a:lnTo>
                    <a:pt x="5715771" y="2764359"/>
                  </a:lnTo>
                  <a:lnTo>
                    <a:pt x="5666525" y="2767199"/>
                  </a:lnTo>
                  <a:lnTo>
                    <a:pt x="1383599" y="2767199"/>
                  </a:lnTo>
                  <a:lnTo>
                    <a:pt x="1335026" y="2766363"/>
                  </a:lnTo>
                  <a:lnTo>
                    <a:pt x="1286872" y="2763871"/>
                  </a:lnTo>
                  <a:lnTo>
                    <a:pt x="1239166" y="2759751"/>
                  </a:lnTo>
                  <a:lnTo>
                    <a:pt x="1191936" y="2754032"/>
                  </a:lnTo>
                  <a:lnTo>
                    <a:pt x="1145209" y="2746739"/>
                  </a:lnTo>
                  <a:lnTo>
                    <a:pt x="1099011" y="2737901"/>
                  </a:lnTo>
                  <a:lnTo>
                    <a:pt x="1053371" y="2727546"/>
                  </a:lnTo>
                  <a:lnTo>
                    <a:pt x="1008316" y="2715699"/>
                  </a:lnTo>
                  <a:lnTo>
                    <a:pt x="963874" y="2702390"/>
                  </a:lnTo>
                  <a:lnTo>
                    <a:pt x="920072" y="2687645"/>
                  </a:lnTo>
                  <a:lnTo>
                    <a:pt x="876937" y="2671492"/>
                  </a:lnTo>
                  <a:lnTo>
                    <a:pt x="834497" y="2653958"/>
                  </a:lnTo>
                  <a:lnTo>
                    <a:pt x="792779" y="2635071"/>
                  </a:lnTo>
                  <a:lnTo>
                    <a:pt x="751810" y="2614858"/>
                  </a:lnTo>
                  <a:lnTo>
                    <a:pt x="711619" y="2593346"/>
                  </a:lnTo>
                  <a:lnTo>
                    <a:pt x="672232" y="2570564"/>
                  </a:lnTo>
                  <a:lnTo>
                    <a:pt x="633678" y="2546538"/>
                  </a:lnTo>
                  <a:lnTo>
                    <a:pt x="595982" y="2521296"/>
                  </a:lnTo>
                  <a:lnTo>
                    <a:pt x="559174" y="2494865"/>
                  </a:lnTo>
                  <a:lnTo>
                    <a:pt x="523280" y="2467273"/>
                  </a:lnTo>
                  <a:lnTo>
                    <a:pt x="488327" y="2438547"/>
                  </a:lnTo>
                  <a:lnTo>
                    <a:pt x="454344" y="2408715"/>
                  </a:lnTo>
                  <a:lnTo>
                    <a:pt x="421358" y="2377804"/>
                  </a:lnTo>
                  <a:lnTo>
                    <a:pt x="389395" y="2345842"/>
                  </a:lnTo>
                  <a:lnTo>
                    <a:pt x="358484" y="2312855"/>
                  </a:lnTo>
                  <a:lnTo>
                    <a:pt x="328652" y="2278872"/>
                  </a:lnTo>
                  <a:lnTo>
                    <a:pt x="299926" y="2243919"/>
                  </a:lnTo>
                  <a:lnTo>
                    <a:pt x="272334" y="2208025"/>
                  </a:lnTo>
                  <a:lnTo>
                    <a:pt x="245903" y="2171217"/>
                  </a:lnTo>
                  <a:lnTo>
                    <a:pt x="220661" y="2133522"/>
                  </a:lnTo>
                  <a:lnTo>
                    <a:pt x="196635" y="2094967"/>
                  </a:lnTo>
                  <a:lnTo>
                    <a:pt x="173853" y="2055580"/>
                  </a:lnTo>
                  <a:lnTo>
                    <a:pt x="152341" y="2015389"/>
                  </a:lnTo>
                  <a:lnTo>
                    <a:pt x="132128" y="1974421"/>
                  </a:lnTo>
                  <a:lnTo>
                    <a:pt x="113241" y="1932703"/>
                  </a:lnTo>
                  <a:lnTo>
                    <a:pt x="95707" y="1890262"/>
                  </a:lnTo>
                  <a:lnTo>
                    <a:pt x="79554" y="1847127"/>
                  </a:lnTo>
                  <a:lnTo>
                    <a:pt x="64809" y="1803325"/>
                  </a:lnTo>
                  <a:lnTo>
                    <a:pt x="51500" y="1758883"/>
                  </a:lnTo>
                  <a:lnTo>
                    <a:pt x="39653" y="1713828"/>
                  </a:lnTo>
                  <a:lnTo>
                    <a:pt x="29298" y="1668188"/>
                  </a:lnTo>
                  <a:lnTo>
                    <a:pt x="20460" y="1621991"/>
                  </a:lnTo>
                  <a:lnTo>
                    <a:pt x="13167" y="1575263"/>
                  </a:lnTo>
                  <a:lnTo>
                    <a:pt x="7448" y="1528033"/>
                  </a:lnTo>
                  <a:lnTo>
                    <a:pt x="3328" y="1480327"/>
                  </a:lnTo>
                  <a:lnTo>
                    <a:pt x="836" y="1432173"/>
                  </a:lnTo>
                  <a:lnTo>
                    <a:pt x="0" y="1383599"/>
                  </a:lnTo>
                  <a:lnTo>
                    <a:pt x="0" y="422274"/>
                  </a:lnTo>
                  <a:lnTo>
                    <a:pt x="2840" y="373028"/>
                  </a:lnTo>
                  <a:lnTo>
                    <a:pt x="11152" y="325450"/>
                  </a:lnTo>
                  <a:lnTo>
                    <a:pt x="24618" y="279858"/>
                  </a:lnTo>
                  <a:lnTo>
                    <a:pt x="42920" y="236568"/>
                  </a:lnTo>
                  <a:lnTo>
                    <a:pt x="65743" y="195898"/>
                  </a:lnTo>
                  <a:lnTo>
                    <a:pt x="92769" y="158163"/>
                  </a:lnTo>
                  <a:lnTo>
                    <a:pt x="123681" y="123681"/>
                  </a:lnTo>
                  <a:lnTo>
                    <a:pt x="158163" y="92769"/>
                  </a:lnTo>
                  <a:lnTo>
                    <a:pt x="195898" y="65743"/>
                  </a:lnTo>
                  <a:lnTo>
                    <a:pt x="236568" y="42920"/>
                  </a:lnTo>
                  <a:lnTo>
                    <a:pt x="279858" y="24618"/>
                  </a:lnTo>
                  <a:lnTo>
                    <a:pt x="325450" y="11152"/>
                  </a:lnTo>
                  <a:lnTo>
                    <a:pt x="373028" y="2840"/>
                  </a:lnTo>
                  <a:lnTo>
                    <a:pt x="422274" y="0"/>
                  </a:lnTo>
                  <a:close/>
                </a:path>
              </a:pathLst>
            </a:custGeom>
            <a:ln w="9524">
              <a:solidFill>
                <a:srgbClr val="EEEE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80667" y="5728541"/>
              <a:ext cx="347823" cy="327363"/>
            </a:xfrm>
            <a:prstGeom prst="rect">
              <a:avLst/>
            </a:prstGeom>
          </p:spPr>
        </p:pic>
      </p:grpSp>
      <p:sp>
        <p:nvSpPr>
          <p:cNvPr id="38" name="object 38"/>
          <p:cNvSpPr txBox="1"/>
          <p:nvPr/>
        </p:nvSpPr>
        <p:spPr>
          <a:xfrm>
            <a:off x="567967" y="6426362"/>
            <a:ext cx="4815840" cy="205041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500" spc="-25" dirty="0">
                <a:latin typeface="Calibri"/>
                <a:cs typeface="Calibri"/>
              </a:rPr>
              <a:t>Software-</a:t>
            </a:r>
            <a:r>
              <a:rPr sz="2500" dirty="0">
                <a:latin typeface="Calibri"/>
                <a:cs typeface="Calibri"/>
              </a:rPr>
              <a:t>driven</a:t>
            </a:r>
            <a:r>
              <a:rPr sz="2500" spc="-20" dirty="0">
                <a:latin typeface="Calibri"/>
                <a:cs typeface="Calibri"/>
              </a:rPr>
              <a:t> </a:t>
            </a:r>
            <a:r>
              <a:rPr sz="2500" dirty="0">
                <a:latin typeface="Arial MT"/>
                <a:cs typeface="Arial MT"/>
              </a:rPr>
              <a:t>→</a:t>
            </a:r>
            <a:r>
              <a:rPr sz="2500" spc="-165" dirty="0">
                <a:latin typeface="Arial MT"/>
                <a:cs typeface="Arial MT"/>
              </a:rPr>
              <a:t> </a:t>
            </a:r>
            <a:r>
              <a:rPr sz="2500" dirty="0">
                <a:latin typeface="Calibri"/>
                <a:cs typeface="Calibri"/>
              </a:rPr>
              <a:t>low</a:t>
            </a:r>
            <a:r>
              <a:rPr sz="2500" spc="-35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marginal</a:t>
            </a:r>
            <a:r>
              <a:rPr sz="2500" spc="-40" dirty="0">
                <a:latin typeface="Calibri"/>
                <a:cs typeface="Calibri"/>
              </a:rPr>
              <a:t> </a:t>
            </a:r>
            <a:r>
              <a:rPr sz="2500" spc="-20" dirty="0">
                <a:latin typeface="Calibri"/>
                <a:cs typeface="Calibri"/>
              </a:rPr>
              <a:t>cost </a:t>
            </a:r>
            <a:r>
              <a:rPr sz="2500" spc="-10" dirty="0">
                <a:latin typeface="Calibri"/>
                <a:cs typeface="Calibri"/>
              </a:rPr>
              <a:t>Mandatory</a:t>
            </a:r>
            <a:r>
              <a:rPr sz="2500" spc="-6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pollution</a:t>
            </a:r>
            <a:r>
              <a:rPr sz="2500" spc="-5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monitoring</a:t>
            </a:r>
            <a:r>
              <a:rPr sz="2500" spc="-30" dirty="0">
                <a:latin typeface="Calibri"/>
                <a:cs typeface="Calibri"/>
              </a:rPr>
              <a:t> </a:t>
            </a:r>
            <a:r>
              <a:rPr sz="2500" spc="-50" dirty="0">
                <a:latin typeface="Arial MT"/>
                <a:cs typeface="Arial MT"/>
              </a:rPr>
              <a:t>→ </a:t>
            </a:r>
            <a:r>
              <a:rPr sz="2500" dirty="0">
                <a:latin typeface="Calibri"/>
                <a:cs typeface="Calibri"/>
              </a:rPr>
              <a:t>high</a:t>
            </a:r>
            <a:r>
              <a:rPr sz="2500" spc="-20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demand</a:t>
            </a:r>
            <a:endParaRPr sz="2500">
              <a:latin typeface="Calibri"/>
              <a:cs typeface="Calibri"/>
            </a:endParaRPr>
          </a:p>
          <a:p>
            <a:pPr marL="655320">
              <a:lnSpc>
                <a:spcPts val="3810"/>
              </a:lnSpc>
            </a:pPr>
            <a:r>
              <a:rPr sz="3200" dirty="0">
                <a:latin typeface="Calibri"/>
                <a:cs typeface="Calibri"/>
              </a:rPr>
              <a:t>1</a:t>
            </a:r>
            <a:r>
              <a:rPr sz="2600" dirty="0">
                <a:latin typeface="Calibri"/>
                <a:cs typeface="Calibri"/>
              </a:rPr>
              <a:t>0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cities: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~</a:t>
            </a:r>
            <a:r>
              <a:rPr sz="2600" b="1" dirty="0">
                <a:latin typeface="Arial"/>
                <a:cs typeface="Arial"/>
              </a:rPr>
              <a:t>₹</a:t>
            </a:r>
            <a:r>
              <a:rPr sz="2600" b="1" dirty="0">
                <a:latin typeface="Calibri"/>
                <a:cs typeface="Calibri"/>
              </a:rPr>
              <a:t>16L</a:t>
            </a:r>
            <a:r>
              <a:rPr sz="2600" b="1" spc="-45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/</a:t>
            </a:r>
            <a:r>
              <a:rPr sz="2600" b="1" spc="-45" dirty="0">
                <a:latin typeface="Calibri"/>
                <a:cs typeface="Calibri"/>
              </a:rPr>
              <a:t> </a:t>
            </a:r>
            <a:r>
              <a:rPr sz="2600" b="1" spc="-20" dirty="0">
                <a:latin typeface="Calibri"/>
                <a:cs typeface="Calibri"/>
              </a:rPr>
              <a:t>year</a:t>
            </a:r>
            <a:endParaRPr sz="2600">
              <a:latin typeface="Calibri"/>
              <a:cs typeface="Calibri"/>
            </a:endParaRPr>
          </a:p>
          <a:p>
            <a:pPr marL="683895">
              <a:lnSpc>
                <a:spcPct val="100000"/>
              </a:lnSpc>
              <a:spcBef>
                <a:spcPts val="10"/>
              </a:spcBef>
            </a:pPr>
            <a:r>
              <a:rPr sz="2600" dirty="0">
                <a:latin typeface="Calibri"/>
                <a:cs typeface="Calibri"/>
              </a:rPr>
              <a:t>100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cities: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~</a:t>
            </a:r>
            <a:r>
              <a:rPr sz="2600" b="1" dirty="0">
                <a:latin typeface="Arial"/>
                <a:cs typeface="Arial"/>
              </a:rPr>
              <a:t>₹</a:t>
            </a:r>
            <a:r>
              <a:rPr sz="2600" b="1" dirty="0">
                <a:latin typeface="Calibri"/>
                <a:cs typeface="Calibri"/>
              </a:rPr>
              <a:t>1.6Cr</a:t>
            </a:r>
            <a:r>
              <a:rPr sz="2600" b="1" spc="-40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/</a:t>
            </a:r>
            <a:r>
              <a:rPr sz="2600" b="1" spc="-45" dirty="0">
                <a:latin typeface="Calibri"/>
                <a:cs typeface="Calibri"/>
              </a:rPr>
              <a:t> </a:t>
            </a:r>
            <a:r>
              <a:rPr sz="2600" b="1" spc="-20" dirty="0">
                <a:latin typeface="Calibri"/>
                <a:cs typeface="Calibri"/>
              </a:rPr>
              <a:t>year</a:t>
            </a:r>
            <a:endParaRPr sz="2600">
              <a:latin typeface="Calibri"/>
              <a:cs typeface="Calibri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4813691" y="5294973"/>
            <a:ext cx="1923414" cy="572770"/>
            <a:chOff x="4813691" y="5294973"/>
            <a:chExt cx="1923414" cy="572770"/>
          </a:xfrm>
        </p:grpSpPr>
        <p:sp>
          <p:nvSpPr>
            <p:cNvPr id="40" name="object 40"/>
            <p:cNvSpPr/>
            <p:nvPr/>
          </p:nvSpPr>
          <p:spPr>
            <a:xfrm>
              <a:off x="4889936" y="5593334"/>
              <a:ext cx="1842135" cy="60960"/>
            </a:xfrm>
            <a:custGeom>
              <a:avLst/>
              <a:gdLst/>
              <a:ahLst/>
              <a:cxnLst/>
              <a:rect l="l" t="t" r="r" b="b"/>
              <a:pathLst>
                <a:path w="1842134" h="60960">
                  <a:moveTo>
                    <a:pt x="1842074" y="60599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C1C1C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4813691" y="5294973"/>
              <a:ext cx="573405" cy="572770"/>
            </a:xfrm>
            <a:custGeom>
              <a:avLst/>
              <a:gdLst/>
              <a:ahLst/>
              <a:cxnLst/>
              <a:rect l="l" t="t" r="r" b="b"/>
              <a:pathLst>
                <a:path w="573404" h="572770">
                  <a:moveTo>
                    <a:pt x="286390" y="572234"/>
                  </a:moveTo>
                  <a:lnTo>
                    <a:pt x="239936" y="568489"/>
                  </a:lnTo>
                  <a:lnTo>
                    <a:pt x="195869" y="557648"/>
                  </a:lnTo>
                  <a:lnTo>
                    <a:pt x="154778" y="540298"/>
                  </a:lnTo>
                  <a:lnTo>
                    <a:pt x="117252" y="517030"/>
                  </a:lnTo>
                  <a:lnTo>
                    <a:pt x="83882" y="488432"/>
                  </a:lnTo>
                  <a:lnTo>
                    <a:pt x="55256" y="455094"/>
                  </a:lnTo>
                  <a:lnTo>
                    <a:pt x="31966" y="417604"/>
                  </a:lnTo>
                  <a:lnTo>
                    <a:pt x="14600" y="376552"/>
                  </a:lnTo>
                  <a:lnTo>
                    <a:pt x="3748" y="332527"/>
                  </a:lnTo>
                  <a:lnTo>
                    <a:pt x="0" y="286117"/>
                  </a:lnTo>
                  <a:lnTo>
                    <a:pt x="3636" y="241088"/>
                  </a:lnTo>
                  <a:lnTo>
                    <a:pt x="3748" y="239707"/>
                  </a:lnTo>
                  <a:lnTo>
                    <a:pt x="14600" y="195682"/>
                  </a:lnTo>
                  <a:lnTo>
                    <a:pt x="31966" y="154629"/>
                  </a:lnTo>
                  <a:lnTo>
                    <a:pt x="55256" y="117140"/>
                  </a:lnTo>
                  <a:lnTo>
                    <a:pt x="83882" y="83801"/>
                  </a:lnTo>
                  <a:lnTo>
                    <a:pt x="117252" y="55204"/>
                  </a:lnTo>
                  <a:lnTo>
                    <a:pt x="154778" y="31935"/>
                  </a:lnTo>
                  <a:lnTo>
                    <a:pt x="195869" y="14586"/>
                  </a:lnTo>
                  <a:lnTo>
                    <a:pt x="239936" y="3744"/>
                  </a:lnTo>
                  <a:lnTo>
                    <a:pt x="286390" y="0"/>
                  </a:lnTo>
                  <a:lnTo>
                    <a:pt x="331463" y="3564"/>
                  </a:lnTo>
                  <a:lnTo>
                    <a:pt x="375019" y="14044"/>
                  </a:lnTo>
                  <a:lnTo>
                    <a:pt x="416290" y="31123"/>
                  </a:lnTo>
                  <a:lnTo>
                    <a:pt x="454507" y="54482"/>
                  </a:lnTo>
                  <a:lnTo>
                    <a:pt x="488900" y="83801"/>
                  </a:lnTo>
                  <a:lnTo>
                    <a:pt x="518248" y="118162"/>
                  </a:lnTo>
                  <a:lnTo>
                    <a:pt x="541629" y="156342"/>
                  </a:lnTo>
                  <a:lnTo>
                    <a:pt x="558724" y="197574"/>
                  </a:lnTo>
                  <a:lnTo>
                    <a:pt x="569214" y="241088"/>
                  </a:lnTo>
                  <a:lnTo>
                    <a:pt x="572782" y="286117"/>
                  </a:lnTo>
                  <a:lnTo>
                    <a:pt x="569034" y="332527"/>
                  </a:lnTo>
                  <a:lnTo>
                    <a:pt x="558182" y="376552"/>
                  </a:lnTo>
                  <a:lnTo>
                    <a:pt x="540815" y="417604"/>
                  </a:lnTo>
                  <a:lnTo>
                    <a:pt x="517525" y="455094"/>
                  </a:lnTo>
                  <a:lnTo>
                    <a:pt x="488900" y="488432"/>
                  </a:lnTo>
                  <a:lnTo>
                    <a:pt x="455530" y="517030"/>
                  </a:lnTo>
                  <a:lnTo>
                    <a:pt x="418004" y="540298"/>
                  </a:lnTo>
                  <a:lnTo>
                    <a:pt x="376912" y="557648"/>
                  </a:lnTo>
                  <a:lnTo>
                    <a:pt x="332845" y="568489"/>
                  </a:lnTo>
                  <a:lnTo>
                    <a:pt x="286390" y="572234"/>
                  </a:lnTo>
                  <a:close/>
                </a:path>
              </a:pathLst>
            </a:custGeom>
            <a:solidFill>
              <a:srgbClr val="771E8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567967" y="5353376"/>
            <a:ext cx="4627245" cy="10985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5080" algn="r">
              <a:lnSpc>
                <a:spcPts val="2525"/>
              </a:lnSpc>
              <a:spcBef>
                <a:spcPts val="105"/>
              </a:spcBef>
            </a:pPr>
            <a:r>
              <a:rPr sz="2300" spc="-50" dirty="0">
                <a:solidFill>
                  <a:srgbClr val="FFFFFF"/>
                </a:solidFill>
                <a:latin typeface="Roboto"/>
                <a:cs typeface="Roboto"/>
              </a:rPr>
              <a:t>3</a:t>
            </a:r>
            <a:endParaRPr sz="2300">
              <a:latin typeface="Roboto"/>
              <a:cs typeface="Roboto"/>
            </a:endParaRPr>
          </a:p>
          <a:p>
            <a:pPr marL="423545">
              <a:lnSpc>
                <a:spcPts val="2885"/>
              </a:lnSpc>
            </a:pPr>
            <a:r>
              <a:rPr sz="2600" b="1" spc="-10" dirty="0">
                <a:latin typeface="Calibri"/>
                <a:cs typeface="Calibri"/>
              </a:rPr>
              <a:t>Feasibility</a:t>
            </a:r>
            <a:r>
              <a:rPr sz="2600" b="1" spc="-50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&amp;</a:t>
            </a:r>
            <a:r>
              <a:rPr sz="2600" b="1" spc="-45" dirty="0">
                <a:latin typeface="Calibri"/>
                <a:cs typeface="Calibri"/>
              </a:rPr>
              <a:t> </a:t>
            </a:r>
            <a:r>
              <a:rPr sz="2600" b="1" spc="-10" dirty="0">
                <a:latin typeface="Calibri"/>
                <a:cs typeface="Calibri"/>
              </a:rPr>
              <a:t>Scalability</a:t>
            </a:r>
            <a:r>
              <a:rPr sz="2600" b="1" spc="-50" dirty="0">
                <a:latin typeface="Calibri"/>
                <a:cs typeface="Calibri"/>
              </a:rPr>
              <a:t> :</a:t>
            </a:r>
            <a:endParaRPr sz="2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2500" spc="-35" dirty="0">
                <a:latin typeface="Calibri"/>
                <a:cs typeface="Calibri"/>
              </a:rPr>
              <a:t>Low-</a:t>
            </a:r>
            <a:r>
              <a:rPr sz="2500" dirty="0">
                <a:latin typeface="Calibri"/>
                <a:cs typeface="Calibri"/>
              </a:rPr>
              <a:t>cost</a:t>
            </a:r>
            <a:r>
              <a:rPr sz="2500" spc="-3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IoT</a:t>
            </a:r>
            <a:r>
              <a:rPr sz="2500" spc="-30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hardware</a:t>
            </a:r>
            <a:endParaRPr sz="2500">
              <a:latin typeface="Calibri"/>
              <a:cs typeface="Calibri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11642362" y="7602412"/>
            <a:ext cx="6530340" cy="2338705"/>
            <a:chOff x="11642362" y="7602412"/>
            <a:chExt cx="6530340" cy="2338705"/>
          </a:xfrm>
        </p:grpSpPr>
        <p:sp>
          <p:nvSpPr>
            <p:cNvPr id="44" name="object 44"/>
            <p:cNvSpPr/>
            <p:nvPr/>
          </p:nvSpPr>
          <p:spPr>
            <a:xfrm>
              <a:off x="11647124" y="7607175"/>
              <a:ext cx="6520815" cy="2329180"/>
            </a:xfrm>
            <a:custGeom>
              <a:avLst/>
              <a:gdLst/>
              <a:ahLst/>
              <a:cxnLst/>
              <a:rect l="l" t="t" r="r" b="b"/>
              <a:pathLst>
                <a:path w="6520815" h="2329179">
                  <a:moveTo>
                    <a:pt x="6243113" y="2328599"/>
                  </a:moveTo>
                  <a:lnTo>
                    <a:pt x="1164299" y="2328599"/>
                  </a:lnTo>
                  <a:lnTo>
                    <a:pt x="1116307" y="2327628"/>
                  </a:lnTo>
                  <a:lnTo>
                    <a:pt x="1068809" y="2324740"/>
                  </a:lnTo>
                  <a:lnTo>
                    <a:pt x="1021842" y="2319972"/>
                  </a:lnTo>
                  <a:lnTo>
                    <a:pt x="975444" y="2313361"/>
                  </a:lnTo>
                  <a:lnTo>
                    <a:pt x="929652" y="2304945"/>
                  </a:lnTo>
                  <a:lnTo>
                    <a:pt x="884505" y="2294762"/>
                  </a:lnTo>
                  <a:lnTo>
                    <a:pt x="840038" y="2282849"/>
                  </a:lnTo>
                  <a:lnTo>
                    <a:pt x="796291" y="2269243"/>
                  </a:lnTo>
                  <a:lnTo>
                    <a:pt x="753299" y="2253982"/>
                  </a:lnTo>
                  <a:lnTo>
                    <a:pt x="711101" y="2237103"/>
                  </a:lnTo>
                  <a:lnTo>
                    <a:pt x="669735" y="2218644"/>
                  </a:lnTo>
                  <a:lnTo>
                    <a:pt x="629237" y="2198642"/>
                  </a:lnTo>
                  <a:lnTo>
                    <a:pt x="589645" y="2177135"/>
                  </a:lnTo>
                  <a:lnTo>
                    <a:pt x="550996" y="2154161"/>
                  </a:lnTo>
                  <a:lnTo>
                    <a:pt x="513328" y="2129755"/>
                  </a:lnTo>
                  <a:lnTo>
                    <a:pt x="476679" y="2103957"/>
                  </a:lnTo>
                  <a:lnTo>
                    <a:pt x="441086" y="2076803"/>
                  </a:lnTo>
                  <a:lnTo>
                    <a:pt x="406586" y="2048332"/>
                  </a:lnTo>
                  <a:lnTo>
                    <a:pt x="373216" y="2018579"/>
                  </a:lnTo>
                  <a:lnTo>
                    <a:pt x="341015" y="1987584"/>
                  </a:lnTo>
                  <a:lnTo>
                    <a:pt x="310020" y="1955383"/>
                  </a:lnTo>
                  <a:lnTo>
                    <a:pt x="280267" y="1922013"/>
                  </a:lnTo>
                  <a:lnTo>
                    <a:pt x="251796" y="1887513"/>
                  </a:lnTo>
                  <a:lnTo>
                    <a:pt x="224642" y="1851920"/>
                  </a:lnTo>
                  <a:lnTo>
                    <a:pt x="198844" y="1815271"/>
                  </a:lnTo>
                  <a:lnTo>
                    <a:pt x="174438" y="1777603"/>
                  </a:lnTo>
                  <a:lnTo>
                    <a:pt x="151464" y="1738954"/>
                  </a:lnTo>
                  <a:lnTo>
                    <a:pt x="129957" y="1699362"/>
                  </a:lnTo>
                  <a:lnTo>
                    <a:pt x="109955" y="1658864"/>
                  </a:lnTo>
                  <a:lnTo>
                    <a:pt x="91496" y="1617498"/>
                  </a:lnTo>
                  <a:lnTo>
                    <a:pt x="74617" y="1575300"/>
                  </a:lnTo>
                  <a:lnTo>
                    <a:pt x="59356" y="1532308"/>
                  </a:lnTo>
                  <a:lnTo>
                    <a:pt x="45750" y="1488561"/>
                  </a:lnTo>
                  <a:lnTo>
                    <a:pt x="33837" y="1444094"/>
                  </a:lnTo>
                  <a:lnTo>
                    <a:pt x="23654" y="1398947"/>
                  </a:lnTo>
                  <a:lnTo>
                    <a:pt x="15238" y="1353155"/>
                  </a:lnTo>
                  <a:lnTo>
                    <a:pt x="8627" y="1306757"/>
                  </a:lnTo>
                  <a:lnTo>
                    <a:pt x="3859" y="1259790"/>
                  </a:lnTo>
                  <a:lnTo>
                    <a:pt x="971" y="1212292"/>
                  </a:lnTo>
                  <a:lnTo>
                    <a:pt x="0" y="1164299"/>
                  </a:lnTo>
                  <a:lnTo>
                    <a:pt x="0" y="277685"/>
                  </a:lnTo>
                  <a:lnTo>
                    <a:pt x="4473" y="227771"/>
                  </a:lnTo>
                  <a:lnTo>
                    <a:pt x="17372" y="180792"/>
                  </a:lnTo>
                  <a:lnTo>
                    <a:pt x="37912" y="137532"/>
                  </a:lnTo>
                  <a:lnTo>
                    <a:pt x="65308" y="98776"/>
                  </a:lnTo>
                  <a:lnTo>
                    <a:pt x="98776" y="65308"/>
                  </a:lnTo>
                  <a:lnTo>
                    <a:pt x="137532" y="37912"/>
                  </a:lnTo>
                  <a:lnTo>
                    <a:pt x="180792" y="17372"/>
                  </a:lnTo>
                  <a:lnTo>
                    <a:pt x="227771" y="4473"/>
                  </a:lnTo>
                  <a:lnTo>
                    <a:pt x="277685" y="0"/>
                  </a:lnTo>
                  <a:lnTo>
                    <a:pt x="5356499" y="0"/>
                  </a:lnTo>
                  <a:lnTo>
                    <a:pt x="5407837" y="1131"/>
                  </a:lnTo>
                  <a:lnTo>
                    <a:pt x="5458384" y="4473"/>
                  </a:lnTo>
                  <a:lnTo>
                    <a:pt x="5458579" y="4473"/>
                  </a:lnTo>
                  <a:lnTo>
                    <a:pt x="5509540" y="10097"/>
                  </a:lnTo>
                  <a:lnTo>
                    <a:pt x="5559772" y="17876"/>
                  </a:lnTo>
                  <a:lnTo>
                    <a:pt x="5609502" y="27816"/>
                  </a:lnTo>
                  <a:lnTo>
                    <a:pt x="5658663" y="39889"/>
                  </a:lnTo>
                  <a:lnTo>
                    <a:pt x="5707187" y="54067"/>
                  </a:lnTo>
                  <a:lnTo>
                    <a:pt x="5755008" y="70322"/>
                  </a:lnTo>
                  <a:lnTo>
                    <a:pt x="5802058" y="88627"/>
                  </a:lnTo>
                  <a:lnTo>
                    <a:pt x="5848271" y="108953"/>
                  </a:lnTo>
                  <a:lnTo>
                    <a:pt x="5893580" y="131273"/>
                  </a:lnTo>
                  <a:lnTo>
                    <a:pt x="5937917" y="155560"/>
                  </a:lnTo>
                  <a:lnTo>
                    <a:pt x="5981215" y="181785"/>
                  </a:lnTo>
                  <a:lnTo>
                    <a:pt x="6023408" y="209921"/>
                  </a:lnTo>
                  <a:lnTo>
                    <a:pt x="6064429" y="239939"/>
                  </a:lnTo>
                  <a:lnTo>
                    <a:pt x="6104210" y="271813"/>
                  </a:lnTo>
                  <a:lnTo>
                    <a:pt x="6142684" y="305514"/>
                  </a:lnTo>
                  <a:lnTo>
                    <a:pt x="6179784" y="341015"/>
                  </a:lnTo>
                  <a:lnTo>
                    <a:pt x="6215285" y="378116"/>
                  </a:lnTo>
                  <a:lnTo>
                    <a:pt x="6248986" y="416590"/>
                  </a:lnTo>
                  <a:lnTo>
                    <a:pt x="6280860" y="456371"/>
                  </a:lnTo>
                  <a:lnTo>
                    <a:pt x="6310878" y="497391"/>
                  </a:lnTo>
                  <a:lnTo>
                    <a:pt x="6339014" y="539584"/>
                  </a:lnTo>
                  <a:lnTo>
                    <a:pt x="6365239" y="582883"/>
                  </a:lnTo>
                  <a:lnTo>
                    <a:pt x="6389526" y="627220"/>
                  </a:lnTo>
                  <a:lnTo>
                    <a:pt x="6411846" y="672528"/>
                  </a:lnTo>
                  <a:lnTo>
                    <a:pt x="6432172" y="718741"/>
                  </a:lnTo>
                  <a:lnTo>
                    <a:pt x="6450477" y="765792"/>
                  </a:lnTo>
                  <a:lnTo>
                    <a:pt x="6466732" y="813612"/>
                  </a:lnTo>
                  <a:lnTo>
                    <a:pt x="6480910" y="862137"/>
                  </a:lnTo>
                  <a:lnTo>
                    <a:pt x="6492983" y="911297"/>
                  </a:lnTo>
                  <a:lnTo>
                    <a:pt x="6502923" y="961027"/>
                  </a:lnTo>
                  <a:lnTo>
                    <a:pt x="6510702" y="1011259"/>
                  </a:lnTo>
                  <a:lnTo>
                    <a:pt x="6516293" y="1061927"/>
                  </a:lnTo>
                  <a:lnTo>
                    <a:pt x="6519668" y="1112963"/>
                  </a:lnTo>
                  <a:lnTo>
                    <a:pt x="6520799" y="1164299"/>
                  </a:lnTo>
                  <a:lnTo>
                    <a:pt x="6520799" y="2050913"/>
                  </a:lnTo>
                  <a:lnTo>
                    <a:pt x="6516326" y="2100828"/>
                  </a:lnTo>
                  <a:lnTo>
                    <a:pt x="6503427" y="2147807"/>
                  </a:lnTo>
                  <a:lnTo>
                    <a:pt x="6482887" y="2191067"/>
                  </a:lnTo>
                  <a:lnTo>
                    <a:pt x="6455491" y="2229823"/>
                  </a:lnTo>
                  <a:lnTo>
                    <a:pt x="6422023" y="2263291"/>
                  </a:lnTo>
                  <a:lnTo>
                    <a:pt x="6383267" y="2290687"/>
                  </a:lnTo>
                  <a:lnTo>
                    <a:pt x="6340007" y="2311227"/>
                  </a:lnTo>
                  <a:lnTo>
                    <a:pt x="6293028" y="2324126"/>
                  </a:lnTo>
                  <a:lnTo>
                    <a:pt x="6243113" y="2328599"/>
                  </a:lnTo>
                  <a:close/>
                </a:path>
              </a:pathLst>
            </a:custGeom>
            <a:solidFill>
              <a:srgbClr val="EEEC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11647124" y="7607175"/>
              <a:ext cx="6520815" cy="2329180"/>
            </a:xfrm>
            <a:custGeom>
              <a:avLst/>
              <a:gdLst/>
              <a:ahLst/>
              <a:cxnLst/>
              <a:rect l="l" t="t" r="r" b="b"/>
              <a:pathLst>
                <a:path w="6520815" h="2329179">
                  <a:moveTo>
                    <a:pt x="277685" y="0"/>
                  </a:moveTo>
                  <a:lnTo>
                    <a:pt x="5356499" y="0"/>
                  </a:lnTo>
                  <a:lnTo>
                    <a:pt x="5407837" y="1131"/>
                  </a:lnTo>
                  <a:lnTo>
                    <a:pt x="5458872" y="4506"/>
                  </a:lnTo>
                  <a:lnTo>
                    <a:pt x="5509540" y="10097"/>
                  </a:lnTo>
                  <a:lnTo>
                    <a:pt x="5559772" y="17876"/>
                  </a:lnTo>
                  <a:lnTo>
                    <a:pt x="5609502" y="27816"/>
                  </a:lnTo>
                  <a:lnTo>
                    <a:pt x="5658663" y="39889"/>
                  </a:lnTo>
                  <a:lnTo>
                    <a:pt x="5707187" y="54067"/>
                  </a:lnTo>
                  <a:lnTo>
                    <a:pt x="5755008" y="70322"/>
                  </a:lnTo>
                  <a:lnTo>
                    <a:pt x="5802058" y="88627"/>
                  </a:lnTo>
                  <a:lnTo>
                    <a:pt x="5848271" y="108953"/>
                  </a:lnTo>
                  <a:lnTo>
                    <a:pt x="5893580" y="131273"/>
                  </a:lnTo>
                  <a:lnTo>
                    <a:pt x="5937917" y="155560"/>
                  </a:lnTo>
                  <a:lnTo>
                    <a:pt x="5981215" y="181785"/>
                  </a:lnTo>
                  <a:lnTo>
                    <a:pt x="6023408" y="209921"/>
                  </a:lnTo>
                  <a:lnTo>
                    <a:pt x="6064429" y="239939"/>
                  </a:lnTo>
                  <a:lnTo>
                    <a:pt x="6104210" y="271813"/>
                  </a:lnTo>
                  <a:lnTo>
                    <a:pt x="6142684" y="305514"/>
                  </a:lnTo>
                  <a:lnTo>
                    <a:pt x="6179784" y="341015"/>
                  </a:lnTo>
                  <a:lnTo>
                    <a:pt x="6215285" y="378116"/>
                  </a:lnTo>
                  <a:lnTo>
                    <a:pt x="6248986" y="416590"/>
                  </a:lnTo>
                  <a:lnTo>
                    <a:pt x="6280860" y="456371"/>
                  </a:lnTo>
                  <a:lnTo>
                    <a:pt x="6310879" y="497391"/>
                  </a:lnTo>
                  <a:lnTo>
                    <a:pt x="6339014" y="539584"/>
                  </a:lnTo>
                  <a:lnTo>
                    <a:pt x="6365239" y="582883"/>
                  </a:lnTo>
                  <a:lnTo>
                    <a:pt x="6389526" y="627220"/>
                  </a:lnTo>
                  <a:lnTo>
                    <a:pt x="6411846" y="672528"/>
                  </a:lnTo>
                  <a:lnTo>
                    <a:pt x="6432172" y="718741"/>
                  </a:lnTo>
                  <a:lnTo>
                    <a:pt x="6450477" y="765792"/>
                  </a:lnTo>
                  <a:lnTo>
                    <a:pt x="6466732" y="813612"/>
                  </a:lnTo>
                  <a:lnTo>
                    <a:pt x="6480910" y="862137"/>
                  </a:lnTo>
                  <a:lnTo>
                    <a:pt x="6492983" y="911297"/>
                  </a:lnTo>
                  <a:lnTo>
                    <a:pt x="6502923" y="961027"/>
                  </a:lnTo>
                  <a:lnTo>
                    <a:pt x="6510702" y="1011259"/>
                  </a:lnTo>
                  <a:lnTo>
                    <a:pt x="6516293" y="1061927"/>
                  </a:lnTo>
                  <a:lnTo>
                    <a:pt x="6519668" y="1112963"/>
                  </a:lnTo>
                  <a:lnTo>
                    <a:pt x="6520799" y="1164299"/>
                  </a:lnTo>
                  <a:lnTo>
                    <a:pt x="6520799" y="2050913"/>
                  </a:lnTo>
                  <a:lnTo>
                    <a:pt x="6516326" y="2100828"/>
                  </a:lnTo>
                  <a:lnTo>
                    <a:pt x="6503427" y="2147807"/>
                  </a:lnTo>
                  <a:lnTo>
                    <a:pt x="6482887" y="2191067"/>
                  </a:lnTo>
                  <a:lnTo>
                    <a:pt x="6455491" y="2229823"/>
                  </a:lnTo>
                  <a:lnTo>
                    <a:pt x="6422023" y="2263291"/>
                  </a:lnTo>
                  <a:lnTo>
                    <a:pt x="6383267" y="2290687"/>
                  </a:lnTo>
                  <a:lnTo>
                    <a:pt x="6340007" y="2311227"/>
                  </a:lnTo>
                  <a:lnTo>
                    <a:pt x="6293028" y="2324126"/>
                  </a:lnTo>
                  <a:lnTo>
                    <a:pt x="6243113" y="2328599"/>
                  </a:lnTo>
                  <a:lnTo>
                    <a:pt x="1164299" y="2328599"/>
                  </a:lnTo>
                  <a:lnTo>
                    <a:pt x="1116307" y="2327628"/>
                  </a:lnTo>
                  <a:lnTo>
                    <a:pt x="1068809" y="2324740"/>
                  </a:lnTo>
                  <a:lnTo>
                    <a:pt x="1021842" y="2319972"/>
                  </a:lnTo>
                  <a:lnTo>
                    <a:pt x="975444" y="2313361"/>
                  </a:lnTo>
                  <a:lnTo>
                    <a:pt x="929652" y="2304945"/>
                  </a:lnTo>
                  <a:lnTo>
                    <a:pt x="884505" y="2294762"/>
                  </a:lnTo>
                  <a:lnTo>
                    <a:pt x="840038" y="2282849"/>
                  </a:lnTo>
                  <a:lnTo>
                    <a:pt x="796291" y="2269243"/>
                  </a:lnTo>
                  <a:lnTo>
                    <a:pt x="753299" y="2253982"/>
                  </a:lnTo>
                  <a:lnTo>
                    <a:pt x="711101" y="2237103"/>
                  </a:lnTo>
                  <a:lnTo>
                    <a:pt x="669735" y="2218644"/>
                  </a:lnTo>
                  <a:lnTo>
                    <a:pt x="629237" y="2198642"/>
                  </a:lnTo>
                  <a:lnTo>
                    <a:pt x="589645" y="2177135"/>
                  </a:lnTo>
                  <a:lnTo>
                    <a:pt x="550996" y="2154161"/>
                  </a:lnTo>
                  <a:lnTo>
                    <a:pt x="513328" y="2129755"/>
                  </a:lnTo>
                  <a:lnTo>
                    <a:pt x="476679" y="2103957"/>
                  </a:lnTo>
                  <a:lnTo>
                    <a:pt x="441086" y="2076803"/>
                  </a:lnTo>
                  <a:lnTo>
                    <a:pt x="406586" y="2048332"/>
                  </a:lnTo>
                  <a:lnTo>
                    <a:pt x="373216" y="2018579"/>
                  </a:lnTo>
                  <a:lnTo>
                    <a:pt x="341015" y="1987584"/>
                  </a:lnTo>
                  <a:lnTo>
                    <a:pt x="310020" y="1955383"/>
                  </a:lnTo>
                  <a:lnTo>
                    <a:pt x="280267" y="1922013"/>
                  </a:lnTo>
                  <a:lnTo>
                    <a:pt x="251796" y="1887513"/>
                  </a:lnTo>
                  <a:lnTo>
                    <a:pt x="224642" y="1851920"/>
                  </a:lnTo>
                  <a:lnTo>
                    <a:pt x="198844" y="1815271"/>
                  </a:lnTo>
                  <a:lnTo>
                    <a:pt x="174438" y="1777603"/>
                  </a:lnTo>
                  <a:lnTo>
                    <a:pt x="151464" y="1738954"/>
                  </a:lnTo>
                  <a:lnTo>
                    <a:pt x="129957" y="1699362"/>
                  </a:lnTo>
                  <a:lnTo>
                    <a:pt x="109955" y="1658864"/>
                  </a:lnTo>
                  <a:lnTo>
                    <a:pt x="91496" y="1617498"/>
                  </a:lnTo>
                  <a:lnTo>
                    <a:pt x="74617" y="1575300"/>
                  </a:lnTo>
                  <a:lnTo>
                    <a:pt x="59356" y="1532308"/>
                  </a:lnTo>
                  <a:lnTo>
                    <a:pt x="45750" y="1488561"/>
                  </a:lnTo>
                  <a:lnTo>
                    <a:pt x="33837" y="1444094"/>
                  </a:lnTo>
                  <a:lnTo>
                    <a:pt x="23654" y="1398947"/>
                  </a:lnTo>
                  <a:lnTo>
                    <a:pt x="15238" y="1353155"/>
                  </a:lnTo>
                  <a:lnTo>
                    <a:pt x="8627" y="1306757"/>
                  </a:lnTo>
                  <a:lnTo>
                    <a:pt x="3859" y="1259790"/>
                  </a:lnTo>
                  <a:lnTo>
                    <a:pt x="971" y="1212292"/>
                  </a:lnTo>
                  <a:lnTo>
                    <a:pt x="0" y="1164299"/>
                  </a:lnTo>
                  <a:lnTo>
                    <a:pt x="0" y="277685"/>
                  </a:lnTo>
                  <a:lnTo>
                    <a:pt x="4473" y="227771"/>
                  </a:lnTo>
                  <a:lnTo>
                    <a:pt x="17372" y="180792"/>
                  </a:lnTo>
                  <a:lnTo>
                    <a:pt x="37912" y="137532"/>
                  </a:lnTo>
                  <a:lnTo>
                    <a:pt x="65308" y="98776"/>
                  </a:lnTo>
                  <a:lnTo>
                    <a:pt x="98776" y="65308"/>
                  </a:lnTo>
                  <a:lnTo>
                    <a:pt x="137532" y="37912"/>
                  </a:lnTo>
                  <a:lnTo>
                    <a:pt x="180792" y="17372"/>
                  </a:lnTo>
                  <a:lnTo>
                    <a:pt x="227771" y="4473"/>
                  </a:lnTo>
                  <a:lnTo>
                    <a:pt x="277685" y="0"/>
                  </a:lnTo>
                  <a:close/>
                </a:path>
              </a:pathLst>
            </a:custGeom>
            <a:ln w="9524">
              <a:solidFill>
                <a:srgbClr val="1F497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6" name="object 4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073861" y="7931858"/>
              <a:ext cx="347823" cy="327363"/>
            </a:xfrm>
            <a:prstGeom prst="rect">
              <a:avLst/>
            </a:prstGeom>
          </p:spPr>
        </p:pic>
      </p:grpSp>
      <p:sp>
        <p:nvSpPr>
          <p:cNvPr id="47" name="object 47"/>
          <p:cNvSpPr txBox="1"/>
          <p:nvPr/>
        </p:nvSpPr>
        <p:spPr>
          <a:xfrm>
            <a:off x="12061161" y="7835421"/>
            <a:ext cx="5414010" cy="1845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23545">
              <a:lnSpc>
                <a:spcPct val="100000"/>
              </a:lnSpc>
              <a:spcBef>
                <a:spcPts val="100"/>
              </a:spcBef>
            </a:pPr>
            <a:r>
              <a:rPr sz="2700" b="1" spc="-10" dirty="0">
                <a:latin typeface="Calibri"/>
                <a:cs typeface="Calibri"/>
              </a:rPr>
              <a:t>Revenue</a:t>
            </a:r>
            <a:r>
              <a:rPr sz="2700" b="1" spc="-110" dirty="0">
                <a:latin typeface="Calibri"/>
                <a:cs typeface="Calibri"/>
              </a:rPr>
              <a:t> </a:t>
            </a:r>
            <a:r>
              <a:rPr sz="2700" b="1" dirty="0">
                <a:latin typeface="Calibri"/>
                <a:cs typeface="Calibri"/>
              </a:rPr>
              <a:t>Model</a:t>
            </a:r>
            <a:r>
              <a:rPr sz="2700" b="1" spc="-110" dirty="0">
                <a:latin typeface="Calibri"/>
                <a:cs typeface="Calibri"/>
              </a:rPr>
              <a:t> </a:t>
            </a:r>
            <a:r>
              <a:rPr sz="2700" b="1" spc="-50" dirty="0">
                <a:latin typeface="Calibri"/>
                <a:cs typeface="Calibri"/>
              </a:rPr>
              <a:t>:</a:t>
            </a:r>
            <a:endParaRPr sz="2700">
              <a:latin typeface="Calibri"/>
              <a:cs typeface="Calibri"/>
            </a:endParaRPr>
          </a:p>
          <a:p>
            <a:pPr marL="12700" marR="5080">
              <a:lnSpc>
                <a:spcPts val="2780"/>
              </a:lnSpc>
              <a:spcBef>
                <a:spcPts val="65"/>
              </a:spcBef>
            </a:pPr>
            <a:r>
              <a:rPr sz="2300" dirty="0">
                <a:latin typeface="Calibri"/>
                <a:cs typeface="Calibri"/>
              </a:rPr>
              <a:t>City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/</a:t>
            </a:r>
            <a:r>
              <a:rPr sz="2300" spc="-2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Govt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Subscription</a:t>
            </a:r>
            <a:r>
              <a:rPr sz="2300" b="1" spc="-10" dirty="0">
                <a:latin typeface="Calibri"/>
                <a:cs typeface="Calibri"/>
              </a:rPr>
              <a:t>:</a:t>
            </a:r>
            <a:r>
              <a:rPr sz="2300" b="1" spc="-25" dirty="0">
                <a:latin typeface="Calibri"/>
                <a:cs typeface="Calibri"/>
              </a:rPr>
              <a:t> </a:t>
            </a:r>
            <a:r>
              <a:rPr sz="2300" b="1" dirty="0">
                <a:latin typeface="Arial"/>
                <a:cs typeface="Arial"/>
              </a:rPr>
              <a:t>₹</a:t>
            </a:r>
            <a:r>
              <a:rPr sz="2300" b="1" dirty="0">
                <a:latin typeface="Calibri"/>
                <a:cs typeface="Calibri"/>
              </a:rPr>
              <a:t>1.5L</a:t>
            </a:r>
            <a:r>
              <a:rPr sz="2300" b="1" spc="-25" dirty="0">
                <a:latin typeface="Calibri"/>
                <a:cs typeface="Calibri"/>
              </a:rPr>
              <a:t> </a:t>
            </a:r>
            <a:r>
              <a:rPr sz="2300" b="1" dirty="0">
                <a:latin typeface="Calibri"/>
                <a:cs typeface="Calibri"/>
              </a:rPr>
              <a:t>–</a:t>
            </a:r>
            <a:r>
              <a:rPr sz="2300" b="1" spc="-20" dirty="0">
                <a:latin typeface="Calibri"/>
                <a:cs typeface="Calibri"/>
              </a:rPr>
              <a:t> </a:t>
            </a:r>
            <a:r>
              <a:rPr sz="2300" b="1" dirty="0">
                <a:latin typeface="Arial"/>
                <a:cs typeface="Arial"/>
              </a:rPr>
              <a:t>₹</a:t>
            </a:r>
            <a:r>
              <a:rPr sz="2300" b="1" dirty="0">
                <a:latin typeface="Calibri"/>
                <a:cs typeface="Calibri"/>
              </a:rPr>
              <a:t>3L</a:t>
            </a:r>
            <a:r>
              <a:rPr sz="2300" b="1" spc="-25" dirty="0">
                <a:latin typeface="Calibri"/>
                <a:cs typeface="Calibri"/>
              </a:rPr>
              <a:t> </a:t>
            </a:r>
            <a:r>
              <a:rPr sz="2300" b="1" dirty="0">
                <a:latin typeface="Calibri"/>
                <a:cs typeface="Calibri"/>
              </a:rPr>
              <a:t>per</a:t>
            </a:r>
            <a:r>
              <a:rPr sz="2300" b="1" spc="-25" dirty="0">
                <a:latin typeface="Calibri"/>
                <a:cs typeface="Calibri"/>
              </a:rPr>
              <a:t> </a:t>
            </a:r>
            <a:r>
              <a:rPr sz="2300" b="1" spc="-20" dirty="0">
                <a:latin typeface="Calibri"/>
                <a:cs typeface="Calibri"/>
              </a:rPr>
              <a:t>year </a:t>
            </a:r>
            <a:r>
              <a:rPr sz="2300" spc="-25" dirty="0">
                <a:latin typeface="Calibri"/>
                <a:cs typeface="Calibri"/>
              </a:rPr>
              <a:t>One-</a:t>
            </a:r>
            <a:r>
              <a:rPr sz="2300" dirty="0">
                <a:latin typeface="Calibri"/>
                <a:cs typeface="Calibri"/>
              </a:rPr>
              <a:t>time</a:t>
            </a:r>
            <a:r>
              <a:rPr sz="2300" spc="-7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Deployment</a:t>
            </a:r>
            <a:r>
              <a:rPr sz="2300" spc="-7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&amp;</a:t>
            </a:r>
            <a:r>
              <a:rPr sz="2300" spc="-7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Integration: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b="1" spc="-20" dirty="0">
                <a:latin typeface="Arial"/>
                <a:cs typeface="Arial"/>
              </a:rPr>
              <a:t>₹</a:t>
            </a:r>
            <a:r>
              <a:rPr sz="2300" b="1" spc="-20" dirty="0">
                <a:latin typeface="Calibri"/>
                <a:cs typeface="Calibri"/>
              </a:rPr>
              <a:t>1L+ </a:t>
            </a:r>
            <a:r>
              <a:rPr sz="2300" dirty="0">
                <a:latin typeface="Calibri"/>
                <a:cs typeface="Calibri"/>
              </a:rPr>
              <a:t>Analytics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/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API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Access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(optional):</a:t>
            </a:r>
            <a:r>
              <a:rPr sz="2300" spc="-20" dirty="0">
                <a:latin typeface="Calibri"/>
                <a:cs typeface="Calibri"/>
              </a:rPr>
              <a:t> </a:t>
            </a:r>
            <a:r>
              <a:rPr sz="2300" b="1" dirty="0">
                <a:latin typeface="Arial"/>
                <a:cs typeface="Arial"/>
              </a:rPr>
              <a:t>₹</a:t>
            </a:r>
            <a:r>
              <a:rPr sz="2300" b="1" dirty="0">
                <a:latin typeface="Calibri"/>
                <a:cs typeface="Calibri"/>
              </a:rPr>
              <a:t>10K</a:t>
            </a:r>
            <a:r>
              <a:rPr sz="2300" b="1" spc="-40" dirty="0">
                <a:latin typeface="Calibri"/>
                <a:cs typeface="Calibri"/>
              </a:rPr>
              <a:t> </a:t>
            </a:r>
            <a:r>
              <a:rPr sz="2300" b="1" dirty="0">
                <a:latin typeface="Calibri"/>
                <a:cs typeface="Calibri"/>
              </a:rPr>
              <a:t>–</a:t>
            </a:r>
            <a:r>
              <a:rPr sz="2300" b="1" spc="-35" dirty="0">
                <a:latin typeface="Calibri"/>
                <a:cs typeface="Calibri"/>
              </a:rPr>
              <a:t> </a:t>
            </a:r>
            <a:r>
              <a:rPr sz="2300" b="1" spc="-25" dirty="0">
                <a:latin typeface="Calibri"/>
                <a:cs typeface="Calibri"/>
              </a:rPr>
              <a:t>25K </a:t>
            </a:r>
            <a:r>
              <a:rPr sz="2300" b="1" dirty="0">
                <a:latin typeface="Calibri"/>
                <a:cs typeface="Calibri"/>
              </a:rPr>
              <a:t>per</a:t>
            </a:r>
            <a:r>
              <a:rPr sz="2300" b="1" spc="-50" dirty="0">
                <a:latin typeface="Calibri"/>
                <a:cs typeface="Calibri"/>
              </a:rPr>
              <a:t> </a:t>
            </a:r>
            <a:r>
              <a:rPr sz="2300" b="1" spc="-25" dirty="0">
                <a:latin typeface="Calibri"/>
                <a:cs typeface="Calibri"/>
              </a:rPr>
              <a:t>yr</a:t>
            </a:r>
            <a:endParaRPr sz="2300">
              <a:latin typeface="Calibri"/>
              <a:cs typeface="Calibri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10488558" y="3981286"/>
            <a:ext cx="2101850" cy="683260"/>
            <a:chOff x="10488558" y="3981286"/>
            <a:chExt cx="2101850" cy="683260"/>
          </a:xfrm>
        </p:grpSpPr>
        <p:sp>
          <p:nvSpPr>
            <p:cNvPr id="49" name="object 49"/>
            <p:cNvSpPr/>
            <p:nvPr/>
          </p:nvSpPr>
          <p:spPr>
            <a:xfrm>
              <a:off x="10493320" y="4176559"/>
              <a:ext cx="1338580" cy="33020"/>
            </a:xfrm>
            <a:custGeom>
              <a:avLst/>
              <a:gdLst/>
              <a:ahLst/>
              <a:cxnLst/>
              <a:rect l="l" t="t" r="r" b="b"/>
              <a:pathLst>
                <a:path w="1338579" h="33020">
                  <a:moveTo>
                    <a:pt x="0" y="0"/>
                  </a:moveTo>
                  <a:lnTo>
                    <a:pt x="1338194" y="32510"/>
                  </a:lnTo>
                </a:path>
              </a:pathLst>
            </a:custGeom>
            <a:ln w="9524">
              <a:solidFill>
                <a:srgbClr val="C1C1C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11895524" y="3981286"/>
              <a:ext cx="695325" cy="683260"/>
            </a:xfrm>
            <a:custGeom>
              <a:avLst/>
              <a:gdLst/>
              <a:ahLst/>
              <a:cxnLst/>
              <a:rect l="l" t="t" r="r" b="b"/>
              <a:pathLst>
                <a:path w="695325" h="683260">
                  <a:moveTo>
                    <a:pt x="347385" y="682731"/>
                  </a:moveTo>
                  <a:lnTo>
                    <a:pt x="300247" y="679614"/>
                  </a:lnTo>
                  <a:lnTo>
                    <a:pt x="255037" y="670537"/>
                  </a:lnTo>
                  <a:lnTo>
                    <a:pt x="212167" y="655905"/>
                  </a:lnTo>
                  <a:lnTo>
                    <a:pt x="172053" y="636124"/>
                  </a:lnTo>
                  <a:lnTo>
                    <a:pt x="135108" y="611603"/>
                  </a:lnTo>
                  <a:lnTo>
                    <a:pt x="101746" y="582747"/>
                  </a:lnTo>
                  <a:lnTo>
                    <a:pt x="72382" y="549963"/>
                  </a:lnTo>
                  <a:lnTo>
                    <a:pt x="47428" y="513659"/>
                  </a:lnTo>
                  <a:lnTo>
                    <a:pt x="27299" y="474240"/>
                  </a:lnTo>
                  <a:lnTo>
                    <a:pt x="12408" y="432114"/>
                  </a:lnTo>
                  <a:lnTo>
                    <a:pt x="3171" y="387686"/>
                  </a:lnTo>
                  <a:lnTo>
                    <a:pt x="0" y="341365"/>
                  </a:lnTo>
                  <a:lnTo>
                    <a:pt x="3171" y="295044"/>
                  </a:lnTo>
                  <a:lnTo>
                    <a:pt x="12408" y="250617"/>
                  </a:lnTo>
                  <a:lnTo>
                    <a:pt x="27299" y="208490"/>
                  </a:lnTo>
                  <a:lnTo>
                    <a:pt x="47428" y="169072"/>
                  </a:lnTo>
                  <a:lnTo>
                    <a:pt x="72382" y="132767"/>
                  </a:lnTo>
                  <a:lnTo>
                    <a:pt x="101747" y="99983"/>
                  </a:lnTo>
                  <a:lnTo>
                    <a:pt x="135108" y="71127"/>
                  </a:lnTo>
                  <a:lnTo>
                    <a:pt x="172053" y="46606"/>
                  </a:lnTo>
                  <a:lnTo>
                    <a:pt x="212167" y="26826"/>
                  </a:lnTo>
                  <a:lnTo>
                    <a:pt x="255037" y="12193"/>
                  </a:lnTo>
                  <a:lnTo>
                    <a:pt x="300247" y="3116"/>
                  </a:lnTo>
                  <a:lnTo>
                    <a:pt x="347385" y="0"/>
                  </a:lnTo>
                  <a:lnTo>
                    <a:pt x="402057" y="4252"/>
                  </a:lnTo>
                  <a:lnTo>
                    <a:pt x="454889" y="16757"/>
                  </a:lnTo>
                  <a:lnTo>
                    <a:pt x="504950" y="37133"/>
                  </a:lnTo>
                  <a:lnTo>
                    <a:pt x="551306" y="65002"/>
                  </a:lnTo>
                  <a:lnTo>
                    <a:pt x="593024" y="99983"/>
                  </a:lnTo>
                  <a:lnTo>
                    <a:pt x="628623" y="140979"/>
                  </a:lnTo>
                  <a:lnTo>
                    <a:pt x="656983" y="186531"/>
                  </a:lnTo>
                  <a:lnTo>
                    <a:pt x="677719" y="235725"/>
                  </a:lnTo>
                  <a:lnTo>
                    <a:pt x="690444" y="287641"/>
                  </a:lnTo>
                  <a:lnTo>
                    <a:pt x="694771" y="341365"/>
                  </a:lnTo>
                  <a:lnTo>
                    <a:pt x="691600" y="387686"/>
                  </a:lnTo>
                  <a:lnTo>
                    <a:pt x="682363" y="432114"/>
                  </a:lnTo>
                  <a:lnTo>
                    <a:pt x="667472" y="474240"/>
                  </a:lnTo>
                  <a:lnTo>
                    <a:pt x="647343" y="513659"/>
                  </a:lnTo>
                  <a:lnTo>
                    <a:pt x="622389" y="549963"/>
                  </a:lnTo>
                  <a:lnTo>
                    <a:pt x="593025" y="582747"/>
                  </a:lnTo>
                  <a:lnTo>
                    <a:pt x="559663" y="611603"/>
                  </a:lnTo>
                  <a:lnTo>
                    <a:pt x="522718" y="636124"/>
                  </a:lnTo>
                  <a:lnTo>
                    <a:pt x="482604" y="655905"/>
                  </a:lnTo>
                  <a:lnTo>
                    <a:pt x="439735" y="670537"/>
                  </a:lnTo>
                  <a:lnTo>
                    <a:pt x="394524" y="679614"/>
                  </a:lnTo>
                  <a:lnTo>
                    <a:pt x="347385" y="682731"/>
                  </a:lnTo>
                  <a:close/>
                </a:path>
              </a:pathLst>
            </a:custGeom>
            <a:solidFill>
              <a:srgbClr val="771E8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1" name="object 51"/>
          <p:cNvSpPr txBox="1"/>
          <p:nvPr/>
        </p:nvSpPr>
        <p:spPr>
          <a:xfrm>
            <a:off x="12175073" y="4122056"/>
            <a:ext cx="187960" cy="375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spc="-50" dirty="0">
                <a:solidFill>
                  <a:srgbClr val="FFFFFF"/>
                </a:solidFill>
                <a:latin typeface="Arial MT"/>
                <a:cs typeface="Arial MT"/>
              </a:rPr>
              <a:t>2</a:t>
            </a:r>
            <a:endParaRPr sz="23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57499" y="4303501"/>
            <a:ext cx="1160462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Arial MT"/>
                <a:cs typeface="Arial MT"/>
              </a:rPr>
              <a:t>.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For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live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simulation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: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b="1" spc="-10" dirty="0">
                <a:latin typeface="Arial"/>
                <a:cs typeface="Arial"/>
              </a:rPr>
              <a:t>https://wokwi.com/projects/455039976760765441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1397635" algn="l"/>
              </a:tabLst>
            </a:pPr>
            <a:r>
              <a:rPr sz="3200" dirty="0">
                <a:solidFill>
                  <a:srgbClr val="000000"/>
                </a:solidFill>
                <a:latin typeface="Calibri"/>
                <a:cs typeface="Calibri"/>
              </a:rPr>
              <a:t>.</a:t>
            </a:r>
            <a:r>
              <a:rPr sz="3200" spc="-4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000000"/>
                </a:solidFill>
                <a:latin typeface="Calibri"/>
                <a:cs typeface="Calibri"/>
              </a:rPr>
              <a:t>This</a:t>
            </a:r>
            <a:r>
              <a:rPr sz="3200" spc="-4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3200" spc="-25" dirty="0">
                <a:solidFill>
                  <a:srgbClr val="000000"/>
                </a:solidFill>
                <a:latin typeface="Calibri"/>
                <a:cs typeface="Calibri"/>
              </a:rPr>
              <a:t>is</a:t>
            </a:r>
            <a:r>
              <a:rPr sz="3200" dirty="0">
                <a:solidFill>
                  <a:srgbClr val="000000"/>
                </a:solidFill>
                <a:latin typeface="Calibri"/>
                <a:cs typeface="Calibri"/>
              </a:rPr>
              <a:t>	a</a:t>
            </a:r>
            <a:r>
              <a:rPr sz="3200" spc="-7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000000"/>
                </a:solidFill>
                <a:latin typeface="Calibri"/>
                <a:cs typeface="Calibri"/>
              </a:rPr>
              <a:t>basic</a:t>
            </a:r>
            <a:r>
              <a:rPr sz="3200" spc="-7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rgbClr val="000000"/>
                </a:solidFill>
                <a:latin typeface="Calibri"/>
                <a:cs typeface="Calibri"/>
              </a:rPr>
              <a:t>simulation</a:t>
            </a:r>
            <a:r>
              <a:rPr sz="3200" spc="-7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000000"/>
                </a:solidFill>
                <a:latin typeface="Calibri"/>
                <a:cs typeface="Calibri"/>
              </a:rPr>
              <a:t>for</a:t>
            </a:r>
            <a:r>
              <a:rPr sz="3200" spc="-7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000000"/>
                </a:solidFill>
                <a:latin typeface="Calibri"/>
                <a:cs typeface="Calibri"/>
              </a:rPr>
              <a:t>checking</a:t>
            </a:r>
            <a:r>
              <a:rPr sz="3200" spc="-7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000000"/>
                </a:solidFill>
                <a:latin typeface="Calibri"/>
                <a:cs typeface="Calibri"/>
              </a:rPr>
              <a:t>the</a:t>
            </a:r>
            <a:r>
              <a:rPr sz="3200" spc="-7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000000"/>
                </a:solidFill>
                <a:latin typeface="Calibri"/>
                <a:cs typeface="Calibri"/>
              </a:rPr>
              <a:t>quality</a:t>
            </a:r>
            <a:r>
              <a:rPr sz="3200" spc="-7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000000"/>
                </a:solidFill>
                <a:latin typeface="Calibri"/>
                <a:cs typeface="Calibri"/>
              </a:rPr>
              <a:t>of</a:t>
            </a:r>
            <a:r>
              <a:rPr sz="3200" spc="-7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000000"/>
                </a:solidFill>
                <a:latin typeface="Calibri"/>
                <a:cs typeface="Calibri"/>
              </a:rPr>
              <a:t>air</a:t>
            </a:r>
            <a:r>
              <a:rPr sz="3200" spc="-7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000000"/>
                </a:solidFill>
                <a:latin typeface="Calibri"/>
                <a:cs typeface="Calibri"/>
              </a:rPr>
              <a:t>with</a:t>
            </a:r>
            <a:r>
              <a:rPr sz="3200" spc="-7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000000"/>
                </a:solidFill>
                <a:latin typeface="Calibri"/>
                <a:cs typeface="Calibri"/>
              </a:rPr>
              <a:t>the</a:t>
            </a:r>
            <a:r>
              <a:rPr sz="3200" spc="-7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000000"/>
                </a:solidFill>
                <a:latin typeface="Calibri"/>
                <a:cs typeface="Calibri"/>
              </a:rPr>
              <a:t>help</a:t>
            </a:r>
            <a:r>
              <a:rPr sz="3200" spc="-7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3200" spc="-25" dirty="0">
                <a:solidFill>
                  <a:srgbClr val="000000"/>
                </a:solidFill>
                <a:latin typeface="Calibri"/>
                <a:cs typeface="Calibri"/>
              </a:rPr>
              <a:t>of potentiometer(instead</a:t>
            </a:r>
            <a:r>
              <a:rPr sz="3200" spc="-8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000000"/>
                </a:solidFill>
                <a:latin typeface="Calibri"/>
                <a:cs typeface="Calibri"/>
              </a:rPr>
              <a:t>of</a:t>
            </a:r>
            <a:r>
              <a:rPr sz="3200" spc="-7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000000"/>
                </a:solidFill>
                <a:latin typeface="Calibri"/>
                <a:cs typeface="Calibri"/>
              </a:rPr>
              <a:t>MQ135</a:t>
            </a:r>
            <a:r>
              <a:rPr sz="3200" spc="-7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000000"/>
                </a:solidFill>
                <a:latin typeface="Calibri"/>
                <a:cs typeface="Calibri"/>
              </a:rPr>
              <a:t>gas</a:t>
            </a:r>
            <a:r>
              <a:rPr sz="3200" spc="-7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rgbClr val="000000"/>
                </a:solidFill>
                <a:latin typeface="Calibri"/>
                <a:cs typeface="Calibri"/>
              </a:rPr>
              <a:t>sensor)</a:t>
            </a:r>
            <a:endParaRPr sz="3200">
              <a:latin typeface="Calibri"/>
              <a:cs typeface="Calibri"/>
            </a:endParaRPr>
          </a:p>
        </p:txBody>
      </p:sp>
      <p:pic>
        <p:nvPicPr>
          <p:cNvPr id="4" name="object 4">
            <a:hlinkClick r:id="rId2"/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67375" y="5091150"/>
            <a:ext cx="5746424" cy="429492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935990">
              <a:lnSpc>
                <a:spcPct val="100000"/>
              </a:lnSpc>
              <a:spcBef>
                <a:spcPts val="120"/>
              </a:spcBef>
            </a:pPr>
            <a:r>
              <a:rPr dirty="0"/>
              <a:t>TEAM</a:t>
            </a:r>
            <a:r>
              <a:rPr spc="-15" dirty="0"/>
              <a:t> </a:t>
            </a:r>
            <a:r>
              <a:rPr spc="-10" dirty="0"/>
              <a:t>DESCRIPTION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1361612" y="1055601"/>
            <a:ext cx="15191740" cy="8383270"/>
            <a:chOff x="1361612" y="1055601"/>
            <a:chExt cx="15191740" cy="8383270"/>
          </a:xfrm>
        </p:grpSpPr>
        <p:sp>
          <p:nvSpPr>
            <p:cNvPr id="5" name="object 5"/>
            <p:cNvSpPr/>
            <p:nvPr/>
          </p:nvSpPr>
          <p:spPr>
            <a:xfrm>
              <a:off x="4476453" y="1055601"/>
              <a:ext cx="9335135" cy="88265"/>
            </a:xfrm>
            <a:custGeom>
              <a:avLst/>
              <a:gdLst/>
              <a:ahLst/>
              <a:cxnLst/>
              <a:rect l="l" t="t" r="r" b="b"/>
              <a:pathLst>
                <a:path w="9335135" h="88265">
                  <a:moveTo>
                    <a:pt x="9335093" y="87679"/>
                  </a:moveTo>
                  <a:lnTo>
                    <a:pt x="0" y="87679"/>
                  </a:lnTo>
                  <a:lnTo>
                    <a:pt x="0" y="0"/>
                  </a:lnTo>
                  <a:lnTo>
                    <a:pt x="9335093" y="0"/>
                  </a:lnTo>
                  <a:lnTo>
                    <a:pt x="9335093" y="87679"/>
                  </a:lnTo>
                  <a:close/>
                </a:path>
              </a:pathLst>
            </a:custGeom>
            <a:solidFill>
              <a:srgbClr val="FF31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366375" y="1947450"/>
              <a:ext cx="15182215" cy="7486650"/>
            </a:xfrm>
            <a:custGeom>
              <a:avLst/>
              <a:gdLst/>
              <a:ahLst/>
              <a:cxnLst/>
              <a:rect l="l" t="t" r="r" b="b"/>
              <a:pathLst>
                <a:path w="15182215" h="7486650">
                  <a:moveTo>
                    <a:pt x="13934074" y="7486199"/>
                  </a:moveTo>
                  <a:lnTo>
                    <a:pt x="1247724" y="7486199"/>
                  </a:lnTo>
                  <a:lnTo>
                    <a:pt x="1199865" y="7485298"/>
                  </a:lnTo>
                  <a:lnTo>
                    <a:pt x="1152461" y="7482617"/>
                  </a:lnTo>
                  <a:lnTo>
                    <a:pt x="1105545" y="7478188"/>
                  </a:lnTo>
                  <a:lnTo>
                    <a:pt x="1059149" y="7472042"/>
                  </a:lnTo>
                  <a:lnTo>
                    <a:pt x="1013306" y="7464213"/>
                  </a:lnTo>
                  <a:lnTo>
                    <a:pt x="968048" y="7454733"/>
                  </a:lnTo>
                  <a:lnTo>
                    <a:pt x="923408" y="7443634"/>
                  </a:lnTo>
                  <a:lnTo>
                    <a:pt x="879416" y="7430949"/>
                  </a:lnTo>
                  <a:lnTo>
                    <a:pt x="836107" y="7416709"/>
                  </a:lnTo>
                  <a:lnTo>
                    <a:pt x="793512" y="7400948"/>
                  </a:lnTo>
                  <a:lnTo>
                    <a:pt x="751663" y="7383696"/>
                  </a:lnTo>
                  <a:lnTo>
                    <a:pt x="710593" y="7364988"/>
                  </a:lnTo>
                  <a:lnTo>
                    <a:pt x="670335" y="7344854"/>
                  </a:lnTo>
                  <a:lnTo>
                    <a:pt x="630919" y="7323328"/>
                  </a:lnTo>
                  <a:lnTo>
                    <a:pt x="592380" y="7300441"/>
                  </a:lnTo>
                  <a:lnTo>
                    <a:pt x="554748" y="7276226"/>
                  </a:lnTo>
                  <a:lnTo>
                    <a:pt x="518057" y="7250716"/>
                  </a:lnTo>
                  <a:lnTo>
                    <a:pt x="482338" y="7223942"/>
                  </a:lnTo>
                  <a:lnTo>
                    <a:pt x="447625" y="7195936"/>
                  </a:lnTo>
                  <a:lnTo>
                    <a:pt x="413949" y="7166732"/>
                  </a:lnTo>
                  <a:lnTo>
                    <a:pt x="381342" y="7136362"/>
                  </a:lnTo>
                  <a:lnTo>
                    <a:pt x="349837" y="7104857"/>
                  </a:lnTo>
                  <a:lnTo>
                    <a:pt x="319467" y="7072250"/>
                  </a:lnTo>
                  <a:lnTo>
                    <a:pt x="290262" y="7038574"/>
                  </a:lnTo>
                  <a:lnTo>
                    <a:pt x="262257" y="7003861"/>
                  </a:lnTo>
                  <a:lnTo>
                    <a:pt x="235483" y="6968142"/>
                  </a:lnTo>
                  <a:lnTo>
                    <a:pt x="209973" y="6931451"/>
                  </a:lnTo>
                  <a:lnTo>
                    <a:pt x="185758" y="6893819"/>
                  </a:lnTo>
                  <a:lnTo>
                    <a:pt x="162871" y="6855280"/>
                  </a:lnTo>
                  <a:lnTo>
                    <a:pt x="141345" y="6815864"/>
                  </a:lnTo>
                  <a:lnTo>
                    <a:pt x="121211" y="6775606"/>
                  </a:lnTo>
                  <a:lnTo>
                    <a:pt x="102503" y="6734536"/>
                  </a:lnTo>
                  <a:lnTo>
                    <a:pt x="85251" y="6692687"/>
                  </a:lnTo>
                  <a:lnTo>
                    <a:pt x="69490" y="6650092"/>
                  </a:lnTo>
                  <a:lnTo>
                    <a:pt x="55250" y="6606782"/>
                  </a:lnTo>
                  <a:lnTo>
                    <a:pt x="42565" y="6562791"/>
                  </a:lnTo>
                  <a:lnTo>
                    <a:pt x="31466" y="6518150"/>
                  </a:lnTo>
                  <a:lnTo>
                    <a:pt x="21986" y="6472892"/>
                  </a:lnTo>
                  <a:lnTo>
                    <a:pt x="14157" y="6427050"/>
                  </a:lnTo>
                  <a:lnTo>
                    <a:pt x="8011" y="6380654"/>
                  </a:lnTo>
                  <a:lnTo>
                    <a:pt x="3582" y="6333738"/>
                  </a:lnTo>
                  <a:lnTo>
                    <a:pt x="900" y="6286334"/>
                  </a:lnTo>
                  <a:lnTo>
                    <a:pt x="0" y="6238474"/>
                  </a:lnTo>
                  <a:lnTo>
                    <a:pt x="0" y="1247724"/>
                  </a:lnTo>
                  <a:lnTo>
                    <a:pt x="900" y="1199865"/>
                  </a:lnTo>
                  <a:lnTo>
                    <a:pt x="3582" y="1152461"/>
                  </a:lnTo>
                  <a:lnTo>
                    <a:pt x="8011" y="1105545"/>
                  </a:lnTo>
                  <a:lnTo>
                    <a:pt x="14157" y="1059149"/>
                  </a:lnTo>
                  <a:lnTo>
                    <a:pt x="21986" y="1013306"/>
                  </a:lnTo>
                  <a:lnTo>
                    <a:pt x="31466" y="968048"/>
                  </a:lnTo>
                  <a:lnTo>
                    <a:pt x="42565" y="923408"/>
                  </a:lnTo>
                  <a:lnTo>
                    <a:pt x="55250" y="879416"/>
                  </a:lnTo>
                  <a:lnTo>
                    <a:pt x="69490" y="836107"/>
                  </a:lnTo>
                  <a:lnTo>
                    <a:pt x="85251" y="793512"/>
                  </a:lnTo>
                  <a:lnTo>
                    <a:pt x="102503" y="751663"/>
                  </a:lnTo>
                  <a:lnTo>
                    <a:pt x="121211" y="710593"/>
                  </a:lnTo>
                  <a:lnTo>
                    <a:pt x="141345" y="670335"/>
                  </a:lnTo>
                  <a:lnTo>
                    <a:pt x="162871" y="630919"/>
                  </a:lnTo>
                  <a:lnTo>
                    <a:pt x="185758" y="592380"/>
                  </a:lnTo>
                  <a:lnTo>
                    <a:pt x="209973" y="554748"/>
                  </a:lnTo>
                  <a:lnTo>
                    <a:pt x="235483" y="518057"/>
                  </a:lnTo>
                  <a:lnTo>
                    <a:pt x="262257" y="482338"/>
                  </a:lnTo>
                  <a:lnTo>
                    <a:pt x="290262" y="447625"/>
                  </a:lnTo>
                  <a:lnTo>
                    <a:pt x="319467" y="413949"/>
                  </a:lnTo>
                  <a:lnTo>
                    <a:pt x="349837" y="381342"/>
                  </a:lnTo>
                  <a:lnTo>
                    <a:pt x="381342" y="349837"/>
                  </a:lnTo>
                  <a:lnTo>
                    <a:pt x="413949" y="319467"/>
                  </a:lnTo>
                  <a:lnTo>
                    <a:pt x="447625" y="290262"/>
                  </a:lnTo>
                  <a:lnTo>
                    <a:pt x="482338" y="262257"/>
                  </a:lnTo>
                  <a:lnTo>
                    <a:pt x="518057" y="235483"/>
                  </a:lnTo>
                  <a:lnTo>
                    <a:pt x="554748" y="209973"/>
                  </a:lnTo>
                  <a:lnTo>
                    <a:pt x="592380" y="185758"/>
                  </a:lnTo>
                  <a:lnTo>
                    <a:pt x="630919" y="162871"/>
                  </a:lnTo>
                  <a:lnTo>
                    <a:pt x="670335" y="141345"/>
                  </a:lnTo>
                  <a:lnTo>
                    <a:pt x="710593" y="121211"/>
                  </a:lnTo>
                  <a:lnTo>
                    <a:pt x="751663" y="102503"/>
                  </a:lnTo>
                  <a:lnTo>
                    <a:pt x="793512" y="85251"/>
                  </a:lnTo>
                  <a:lnTo>
                    <a:pt x="836107" y="69490"/>
                  </a:lnTo>
                  <a:lnTo>
                    <a:pt x="879416" y="55250"/>
                  </a:lnTo>
                  <a:lnTo>
                    <a:pt x="923408" y="42565"/>
                  </a:lnTo>
                  <a:lnTo>
                    <a:pt x="968048" y="31466"/>
                  </a:lnTo>
                  <a:lnTo>
                    <a:pt x="1013306" y="21986"/>
                  </a:lnTo>
                  <a:lnTo>
                    <a:pt x="1059149" y="14157"/>
                  </a:lnTo>
                  <a:lnTo>
                    <a:pt x="1105545" y="8011"/>
                  </a:lnTo>
                  <a:lnTo>
                    <a:pt x="1152461" y="3582"/>
                  </a:lnTo>
                  <a:lnTo>
                    <a:pt x="1199865" y="900"/>
                  </a:lnTo>
                  <a:lnTo>
                    <a:pt x="1247724" y="0"/>
                  </a:lnTo>
                  <a:lnTo>
                    <a:pt x="13934074" y="0"/>
                  </a:lnTo>
                  <a:lnTo>
                    <a:pt x="13983602" y="982"/>
                  </a:lnTo>
                  <a:lnTo>
                    <a:pt x="14032873" y="3914"/>
                  </a:lnTo>
                  <a:lnTo>
                    <a:pt x="14081837" y="8775"/>
                  </a:lnTo>
                  <a:lnTo>
                    <a:pt x="14130440" y="15543"/>
                  </a:lnTo>
                  <a:lnTo>
                    <a:pt x="14178630" y="24196"/>
                  </a:lnTo>
                  <a:lnTo>
                    <a:pt x="14226356" y="34712"/>
                  </a:lnTo>
                  <a:lnTo>
                    <a:pt x="14273563" y="47070"/>
                  </a:lnTo>
                  <a:lnTo>
                    <a:pt x="14320201" y="61248"/>
                  </a:lnTo>
                  <a:lnTo>
                    <a:pt x="14366217" y="77224"/>
                  </a:lnTo>
                  <a:lnTo>
                    <a:pt x="14411558" y="94977"/>
                  </a:lnTo>
                  <a:lnTo>
                    <a:pt x="14456173" y="114485"/>
                  </a:lnTo>
                  <a:lnTo>
                    <a:pt x="14500008" y="135726"/>
                  </a:lnTo>
                  <a:lnTo>
                    <a:pt x="14543011" y="158679"/>
                  </a:lnTo>
                  <a:lnTo>
                    <a:pt x="14585130" y="183321"/>
                  </a:lnTo>
                  <a:lnTo>
                    <a:pt x="14626313" y="209632"/>
                  </a:lnTo>
                  <a:lnTo>
                    <a:pt x="14666507" y="237589"/>
                  </a:lnTo>
                  <a:lnTo>
                    <a:pt x="14705660" y="267171"/>
                  </a:lnTo>
                  <a:lnTo>
                    <a:pt x="14743720" y="298357"/>
                  </a:lnTo>
                  <a:lnTo>
                    <a:pt x="14780634" y="331123"/>
                  </a:lnTo>
                  <a:lnTo>
                    <a:pt x="14816349" y="365450"/>
                  </a:lnTo>
                  <a:lnTo>
                    <a:pt x="14850676" y="401165"/>
                  </a:lnTo>
                  <a:lnTo>
                    <a:pt x="14883443" y="438079"/>
                  </a:lnTo>
                  <a:lnTo>
                    <a:pt x="14914628" y="476139"/>
                  </a:lnTo>
                  <a:lnTo>
                    <a:pt x="14944210" y="515292"/>
                  </a:lnTo>
                  <a:lnTo>
                    <a:pt x="14972167" y="555486"/>
                  </a:lnTo>
                  <a:lnTo>
                    <a:pt x="14998478" y="596669"/>
                  </a:lnTo>
                  <a:lnTo>
                    <a:pt x="15023120" y="638788"/>
                  </a:lnTo>
                  <a:lnTo>
                    <a:pt x="15046073" y="681792"/>
                  </a:lnTo>
                  <a:lnTo>
                    <a:pt x="15067314" y="725627"/>
                  </a:lnTo>
                  <a:lnTo>
                    <a:pt x="15086822" y="770241"/>
                  </a:lnTo>
                  <a:lnTo>
                    <a:pt x="15104575" y="815582"/>
                  </a:lnTo>
                  <a:lnTo>
                    <a:pt x="15120551" y="861598"/>
                  </a:lnTo>
                  <a:lnTo>
                    <a:pt x="15134729" y="908236"/>
                  </a:lnTo>
                  <a:lnTo>
                    <a:pt x="15147087" y="955443"/>
                  </a:lnTo>
                  <a:lnTo>
                    <a:pt x="15157603" y="1003169"/>
                  </a:lnTo>
                  <a:lnTo>
                    <a:pt x="15166256" y="1051359"/>
                  </a:lnTo>
                  <a:lnTo>
                    <a:pt x="15173024" y="1099962"/>
                  </a:lnTo>
                  <a:lnTo>
                    <a:pt x="15177885" y="1148926"/>
                  </a:lnTo>
                  <a:lnTo>
                    <a:pt x="15180817" y="1198197"/>
                  </a:lnTo>
                  <a:lnTo>
                    <a:pt x="15181799" y="1247724"/>
                  </a:lnTo>
                  <a:lnTo>
                    <a:pt x="15181799" y="6238474"/>
                  </a:lnTo>
                  <a:lnTo>
                    <a:pt x="15180898" y="6286334"/>
                  </a:lnTo>
                  <a:lnTo>
                    <a:pt x="15178217" y="6333738"/>
                  </a:lnTo>
                  <a:lnTo>
                    <a:pt x="15173788" y="6380654"/>
                  </a:lnTo>
                  <a:lnTo>
                    <a:pt x="15167642" y="6427050"/>
                  </a:lnTo>
                  <a:lnTo>
                    <a:pt x="15159813" y="6472892"/>
                  </a:lnTo>
                  <a:lnTo>
                    <a:pt x="15150333" y="6518150"/>
                  </a:lnTo>
                  <a:lnTo>
                    <a:pt x="15139234" y="6562791"/>
                  </a:lnTo>
                  <a:lnTo>
                    <a:pt x="15126549" y="6606782"/>
                  </a:lnTo>
                  <a:lnTo>
                    <a:pt x="15112309" y="6650092"/>
                  </a:lnTo>
                  <a:lnTo>
                    <a:pt x="15096548" y="6692687"/>
                  </a:lnTo>
                  <a:lnTo>
                    <a:pt x="15079296" y="6734536"/>
                  </a:lnTo>
                  <a:lnTo>
                    <a:pt x="15060588" y="6775606"/>
                  </a:lnTo>
                  <a:lnTo>
                    <a:pt x="15040454" y="6815864"/>
                  </a:lnTo>
                  <a:lnTo>
                    <a:pt x="15018928" y="6855280"/>
                  </a:lnTo>
                  <a:lnTo>
                    <a:pt x="14996041" y="6893819"/>
                  </a:lnTo>
                  <a:lnTo>
                    <a:pt x="14971826" y="6931451"/>
                  </a:lnTo>
                  <a:lnTo>
                    <a:pt x="14946316" y="6968142"/>
                  </a:lnTo>
                  <a:lnTo>
                    <a:pt x="14919542" y="7003861"/>
                  </a:lnTo>
                  <a:lnTo>
                    <a:pt x="14891537" y="7038574"/>
                  </a:lnTo>
                  <a:lnTo>
                    <a:pt x="14862333" y="7072250"/>
                  </a:lnTo>
                  <a:lnTo>
                    <a:pt x="14831962" y="7104857"/>
                  </a:lnTo>
                  <a:lnTo>
                    <a:pt x="14800457" y="7136362"/>
                  </a:lnTo>
                  <a:lnTo>
                    <a:pt x="14767851" y="7166732"/>
                  </a:lnTo>
                  <a:lnTo>
                    <a:pt x="14734174" y="7195936"/>
                  </a:lnTo>
                  <a:lnTo>
                    <a:pt x="14699461" y="7223942"/>
                  </a:lnTo>
                  <a:lnTo>
                    <a:pt x="14663742" y="7250716"/>
                  </a:lnTo>
                  <a:lnTo>
                    <a:pt x="14627051" y="7276226"/>
                  </a:lnTo>
                  <a:lnTo>
                    <a:pt x="14589420" y="7300441"/>
                  </a:lnTo>
                  <a:lnTo>
                    <a:pt x="14550880" y="7323328"/>
                  </a:lnTo>
                  <a:lnTo>
                    <a:pt x="14511465" y="7344854"/>
                  </a:lnTo>
                  <a:lnTo>
                    <a:pt x="14471206" y="7364988"/>
                  </a:lnTo>
                  <a:lnTo>
                    <a:pt x="14430136" y="7383696"/>
                  </a:lnTo>
                  <a:lnTo>
                    <a:pt x="14388287" y="7400948"/>
                  </a:lnTo>
                  <a:lnTo>
                    <a:pt x="14345692" y="7416709"/>
                  </a:lnTo>
                  <a:lnTo>
                    <a:pt x="14302383" y="7430949"/>
                  </a:lnTo>
                  <a:lnTo>
                    <a:pt x="14258392" y="7443634"/>
                  </a:lnTo>
                  <a:lnTo>
                    <a:pt x="14213751" y="7454733"/>
                  </a:lnTo>
                  <a:lnTo>
                    <a:pt x="14168493" y="7464213"/>
                  </a:lnTo>
                  <a:lnTo>
                    <a:pt x="14122650" y="7472042"/>
                  </a:lnTo>
                  <a:lnTo>
                    <a:pt x="14076254" y="7478188"/>
                  </a:lnTo>
                  <a:lnTo>
                    <a:pt x="14029338" y="7482617"/>
                  </a:lnTo>
                  <a:lnTo>
                    <a:pt x="13981934" y="7485298"/>
                  </a:lnTo>
                  <a:lnTo>
                    <a:pt x="13934074" y="7486199"/>
                  </a:lnTo>
                  <a:close/>
                </a:path>
              </a:pathLst>
            </a:custGeom>
            <a:solidFill>
              <a:srgbClr val="EEEC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366375" y="1947450"/>
              <a:ext cx="15182215" cy="7486650"/>
            </a:xfrm>
            <a:custGeom>
              <a:avLst/>
              <a:gdLst/>
              <a:ahLst/>
              <a:cxnLst/>
              <a:rect l="l" t="t" r="r" b="b"/>
              <a:pathLst>
                <a:path w="15182215" h="7486650">
                  <a:moveTo>
                    <a:pt x="0" y="1247724"/>
                  </a:moveTo>
                  <a:lnTo>
                    <a:pt x="900" y="1199865"/>
                  </a:lnTo>
                  <a:lnTo>
                    <a:pt x="3582" y="1152461"/>
                  </a:lnTo>
                  <a:lnTo>
                    <a:pt x="8011" y="1105545"/>
                  </a:lnTo>
                  <a:lnTo>
                    <a:pt x="14157" y="1059149"/>
                  </a:lnTo>
                  <a:lnTo>
                    <a:pt x="21986" y="1013306"/>
                  </a:lnTo>
                  <a:lnTo>
                    <a:pt x="31466" y="968048"/>
                  </a:lnTo>
                  <a:lnTo>
                    <a:pt x="42565" y="923408"/>
                  </a:lnTo>
                  <a:lnTo>
                    <a:pt x="55250" y="879416"/>
                  </a:lnTo>
                  <a:lnTo>
                    <a:pt x="69490" y="836107"/>
                  </a:lnTo>
                  <a:lnTo>
                    <a:pt x="85251" y="793512"/>
                  </a:lnTo>
                  <a:lnTo>
                    <a:pt x="102503" y="751663"/>
                  </a:lnTo>
                  <a:lnTo>
                    <a:pt x="121211" y="710593"/>
                  </a:lnTo>
                  <a:lnTo>
                    <a:pt x="141345" y="670335"/>
                  </a:lnTo>
                  <a:lnTo>
                    <a:pt x="162871" y="630919"/>
                  </a:lnTo>
                  <a:lnTo>
                    <a:pt x="185758" y="592380"/>
                  </a:lnTo>
                  <a:lnTo>
                    <a:pt x="209973" y="554748"/>
                  </a:lnTo>
                  <a:lnTo>
                    <a:pt x="235483" y="518057"/>
                  </a:lnTo>
                  <a:lnTo>
                    <a:pt x="262257" y="482338"/>
                  </a:lnTo>
                  <a:lnTo>
                    <a:pt x="290262" y="447625"/>
                  </a:lnTo>
                  <a:lnTo>
                    <a:pt x="319467" y="413949"/>
                  </a:lnTo>
                  <a:lnTo>
                    <a:pt x="349837" y="381342"/>
                  </a:lnTo>
                  <a:lnTo>
                    <a:pt x="381342" y="349837"/>
                  </a:lnTo>
                  <a:lnTo>
                    <a:pt x="413949" y="319467"/>
                  </a:lnTo>
                  <a:lnTo>
                    <a:pt x="447625" y="290262"/>
                  </a:lnTo>
                  <a:lnTo>
                    <a:pt x="482338" y="262257"/>
                  </a:lnTo>
                  <a:lnTo>
                    <a:pt x="518057" y="235483"/>
                  </a:lnTo>
                  <a:lnTo>
                    <a:pt x="554748" y="209973"/>
                  </a:lnTo>
                  <a:lnTo>
                    <a:pt x="592380" y="185758"/>
                  </a:lnTo>
                  <a:lnTo>
                    <a:pt x="630919" y="162871"/>
                  </a:lnTo>
                  <a:lnTo>
                    <a:pt x="670335" y="141345"/>
                  </a:lnTo>
                  <a:lnTo>
                    <a:pt x="710593" y="121211"/>
                  </a:lnTo>
                  <a:lnTo>
                    <a:pt x="751663" y="102503"/>
                  </a:lnTo>
                  <a:lnTo>
                    <a:pt x="793512" y="85251"/>
                  </a:lnTo>
                  <a:lnTo>
                    <a:pt x="836107" y="69490"/>
                  </a:lnTo>
                  <a:lnTo>
                    <a:pt x="879416" y="55250"/>
                  </a:lnTo>
                  <a:lnTo>
                    <a:pt x="923408" y="42565"/>
                  </a:lnTo>
                  <a:lnTo>
                    <a:pt x="968048" y="31466"/>
                  </a:lnTo>
                  <a:lnTo>
                    <a:pt x="1013306" y="21986"/>
                  </a:lnTo>
                  <a:lnTo>
                    <a:pt x="1059149" y="14157"/>
                  </a:lnTo>
                  <a:lnTo>
                    <a:pt x="1105545" y="8011"/>
                  </a:lnTo>
                  <a:lnTo>
                    <a:pt x="1152461" y="3582"/>
                  </a:lnTo>
                  <a:lnTo>
                    <a:pt x="1199865" y="900"/>
                  </a:lnTo>
                  <a:lnTo>
                    <a:pt x="1247724" y="0"/>
                  </a:lnTo>
                  <a:lnTo>
                    <a:pt x="13934074" y="0"/>
                  </a:lnTo>
                  <a:lnTo>
                    <a:pt x="13983602" y="982"/>
                  </a:lnTo>
                  <a:lnTo>
                    <a:pt x="14032873" y="3914"/>
                  </a:lnTo>
                  <a:lnTo>
                    <a:pt x="14081837" y="8775"/>
                  </a:lnTo>
                  <a:lnTo>
                    <a:pt x="14130440" y="15543"/>
                  </a:lnTo>
                  <a:lnTo>
                    <a:pt x="14178630" y="24196"/>
                  </a:lnTo>
                  <a:lnTo>
                    <a:pt x="14226356" y="34712"/>
                  </a:lnTo>
                  <a:lnTo>
                    <a:pt x="14273563" y="47070"/>
                  </a:lnTo>
                  <a:lnTo>
                    <a:pt x="14320201" y="61248"/>
                  </a:lnTo>
                  <a:lnTo>
                    <a:pt x="14366217" y="77224"/>
                  </a:lnTo>
                  <a:lnTo>
                    <a:pt x="14411558" y="94977"/>
                  </a:lnTo>
                  <a:lnTo>
                    <a:pt x="14456173" y="114485"/>
                  </a:lnTo>
                  <a:lnTo>
                    <a:pt x="14500008" y="135726"/>
                  </a:lnTo>
                  <a:lnTo>
                    <a:pt x="14543011" y="158679"/>
                  </a:lnTo>
                  <a:lnTo>
                    <a:pt x="14585130" y="183321"/>
                  </a:lnTo>
                  <a:lnTo>
                    <a:pt x="14626313" y="209632"/>
                  </a:lnTo>
                  <a:lnTo>
                    <a:pt x="14666507" y="237589"/>
                  </a:lnTo>
                  <a:lnTo>
                    <a:pt x="14705660" y="267171"/>
                  </a:lnTo>
                  <a:lnTo>
                    <a:pt x="14743720" y="298357"/>
                  </a:lnTo>
                  <a:lnTo>
                    <a:pt x="14780634" y="331123"/>
                  </a:lnTo>
                  <a:lnTo>
                    <a:pt x="14816349" y="365450"/>
                  </a:lnTo>
                  <a:lnTo>
                    <a:pt x="14850676" y="401165"/>
                  </a:lnTo>
                  <a:lnTo>
                    <a:pt x="14883443" y="438079"/>
                  </a:lnTo>
                  <a:lnTo>
                    <a:pt x="14914628" y="476139"/>
                  </a:lnTo>
                  <a:lnTo>
                    <a:pt x="14944210" y="515292"/>
                  </a:lnTo>
                  <a:lnTo>
                    <a:pt x="14972167" y="555486"/>
                  </a:lnTo>
                  <a:lnTo>
                    <a:pt x="14998478" y="596669"/>
                  </a:lnTo>
                  <a:lnTo>
                    <a:pt x="15023120" y="638788"/>
                  </a:lnTo>
                  <a:lnTo>
                    <a:pt x="15046073" y="681792"/>
                  </a:lnTo>
                  <a:lnTo>
                    <a:pt x="15067314" y="725627"/>
                  </a:lnTo>
                  <a:lnTo>
                    <a:pt x="15086822" y="770241"/>
                  </a:lnTo>
                  <a:lnTo>
                    <a:pt x="15104575" y="815582"/>
                  </a:lnTo>
                  <a:lnTo>
                    <a:pt x="15120551" y="861598"/>
                  </a:lnTo>
                  <a:lnTo>
                    <a:pt x="15134729" y="908236"/>
                  </a:lnTo>
                  <a:lnTo>
                    <a:pt x="15147087" y="955443"/>
                  </a:lnTo>
                  <a:lnTo>
                    <a:pt x="15157603" y="1003169"/>
                  </a:lnTo>
                  <a:lnTo>
                    <a:pt x="15166256" y="1051359"/>
                  </a:lnTo>
                  <a:lnTo>
                    <a:pt x="15173024" y="1099962"/>
                  </a:lnTo>
                  <a:lnTo>
                    <a:pt x="15177885" y="1148926"/>
                  </a:lnTo>
                  <a:lnTo>
                    <a:pt x="15180817" y="1198197"/>
                  </a:lnTo>
                  <a:lnTo>
                    <a:pt x="15181799" y="1247724"/>
                  </a:lnTo>
                  <a:lnTo>
                    <a:pt x="15181799" y="6238474"/>
                  </a:lnTo>
                  <a:lnTo>
                    <a:pt x="15180898" y="6286334"/>
                  </a:lnTo>
                  <a:lnTo>
                    <a:pt x="15178217" y="6333738"/>
                  </a:lnTo>
                  <a:lnTo>
                    <a:pt x="15173788" y="6380654"/>
                  </a:lnTo>
                  <a:lnTo>
                    <a:pt x="15167642" y="6427050"/>
                  </a:lnTo>
                  <a:lnTo>
                    <a:pt x="15159813" y="6472892"/>
                  </a:lnTo>
                  <a:lnTo>
                    <a:pt x="15150333" y="6518150"/>
                  </a:lnTo>
                  <a:lnTo>
                    <a:pt x="15139234" y="6562791"/>
                  </a:lnTo>
                  <a:lnTo>
                    <a:pt x="15126549" y="6606782"/>
                  </a:lnTo>
                  <a:lnTo>
                    <a:pt x="15112309" y="6650092"/>
                  </a:lnTo>
                  <a:lnTo>
                    <a:pt x="15096548" y="6692687"/>
                  </a:lnTo>
                  <a:lnTo>
                    <a:pt x="15079296" y="6734536"/>
                  </a:lnTo>
                  <a:lnTo>
                    <a:pt x="15060588" y="6775606"/>
                  </a:lnTo>
                  <a:lnTo>
                    <a:pt x="15040454" y="6815864"/>
                  </a:lnTo>
                  <a:lnTo>
                    <a:pt x="15018928" y="6855280"/>
                  </a:lnTo>
                  <a:lnTo>
                    <a:pt x="14996041" y="6893819"/>
                  </a:lnTo>
                  <a:lnTo>
                    <a:pt x="14971826" y="6931451"/>
                  </a:lnTo>
                  <a:lnTo>
                    <a:pt x="14946316" y="6968142"/>
                  </a:lnTo>
                  <a:lnTo>
                    <a:pt x="14919542" y="7003861"/>
                  </a:lnTo>
                  <a:lnTo>
                    <a:pt x="14891537" y="7038574"/>
                  </a:lnTo>
                  <a:lnTo>
                    <a:pt x="14862333" y="7072250"/>
                  </a:lnTo>
                  <a:lnTo>
                    <a:pt x="14831962" y="7104857"/>
                  </a:lnTo>
                  <a:lnTo>
                    <a:pt x="14800457" y="7136362"/>
                  </a:lnTo>
                  <a:lnTo>
                    <a:pt x="14767851" y="7166732"/>
                  </a:lnTo>
                  <a:lnTo>
                    <a:pt x="14734174" y="7195936"/>
                  </a:lnTo>
                  <a:lnTo>
                    <a:pt x="14699461" y="7223942"/>
                  </a:lnTo>
                  <a:lnTo>
                    <a:pt x="14663742" y="7250716"/>
                  </a:lnTo>
                  <a:lnTo>
                    <a:pt x="14627051" y="7276226"/>
                  </a:lnTo>
                  <a:lnTo>
                    <a:pt x="14589420" y="7300441"/>
                  </a:lnTo>
                  <a:lnTo>
                    <a:pt x="14550880" y="7323328"/>
                  </a:lnTo>
                  <a:lnTo>
                    <a:pt x="14511465" y="7344854"/>
                  </a:lnTo>
                  <a:lnTo>
                    <a:pt x="14471206" y="7364988"/>
                  </a:lnTo>
                  <a:lnTo>
                    <a:pt x="14430136" y="7383696"/>
                  </a:lnTo>
                  <a:lnTo>
                    <a:pt x="14388287" y="7400948"/>
                  </a:lnTo>
                  <a:lnTo>
                    <a:pt x="14345692" y="7416709"/>
                  </a:lnTo>
                  <a:lnTo>
                    <a:pt x="14302383" y="7430949"/>
                  </a:lnTo>
                  <a:lnTo>
                    <a:pt x="14258392" y="7443634"/>
                  </a:lnTo>
                  <a:lnTo>
                    <a:pt x="14213751" y="7454733"/>
                  </a:lnTo>
                  <a:lnTo>
                    <a:pt x="14168493" y="7464213"/>
                  </a:lnTo>
                  <a:lnTo>
                    <a:pt x="14122650" y="7472042"/>
                  </a:lnTo>
                  <a:lnTo>
                    <a:pt x="14076254" y="7478188"/>
                  </a:lnTo>
                  <a:lnTo>
                    <a:pt x="14029338" y="7482617"/>
                  </a:lnTo>
                  <a:lnTo>
                    <a:pt x="13981934" y="7485298"/>
                  </a:lnTo>
                  <a:lnTo>
                    <a:pt x="13934074" y="7486199"/>
                  </a:lnTo>
                  <a:lnTo>
                    <a:pt x="1247724" y="7486199"/>
                  </a:lnTo>
                  <a:lnTo>
                    <a:pt x="1199865" y="7485298"/>
                  </a:lnTo>
                  <a:lnTo>
                    <a:pt x="1152461" y="7482617"/>
                  </a:lnTo>
                  <a:lnTo>
                    <a:pt x="1105545" y="7478188"/>
                  </a:lnTo>
                  <a:lnTo>
                    <a:pt x="1059149" y="7472042"/>
                  </a:lnTo>
                  <a:lnTo>
                    <a:pt x="1013306" y="7464213"/>
                  </a:lnTo>
                  <a:lnTo>
                    <a:pt x="968048" y="7454733"/>
                  </a:lnTo>
                  <a:lnTo>
                    <a:pt x="923408" y="7443634"/>
                  </a:lnTo>
                  <a:lnTo>
                    <a:pt x="879416" y="7430949"/>
                  </a:lnTo>
                  <a:lnTo>
                    <a:pt x="836107" y="7416709"/>
                  </a:lnTo>
                  <a:lnTo>
                    <a:pt x="793512" y="7400948"/>
                  </a:lnTo>
                  <a:lnTo>
                    <a:pt x="751663" y="7383696"/>
                  </a:lnTo>
                  <a:lnTo>
                    <a:pt x="710593" y="7364988"/>
                  </a:lnTo>
                  <a:lnTo>
                    <a:pt x="670335" y="7344854"/>
                  </a:lnTo>
                  <a:lnTo>
                    <a:pt x="630919" y="7323328"/>
                  </a:lnTo>
                  <a:lnTo>
                    <a:pt x="592380" y="7300441"/>
                  </a:lnTo>
                  <a:lnTo>
                    <a:pt x="554748" y="7276226"/>
                  </a:lnTo>
                  <a:lnTo>
                    <a:pt x="518057" y="7250716"/>
                  </a:lnTo>
                  <a:lnTo>
                    <a:pt x="482338" y="7223942"/>
                  </a:lnTo>
                  <a:lnTo>
                    <a:pt x="447625" y="7195936"/>
                  </a:lnTo>
                  <a:lnTo>
                    <a:pt x="413949" y="7166732"/>
                  </a:lnTo>
                  <a:lnTo>
                    <a:pt x="381342" y="7136362"/>
                  </a:lnTo>
                  <a:lnTo>
                    <a:pt x="349837" y="7104857"/>
                  </a:lnTo>
                  <a:lnTo>
                    <a:pt x="319467" y="7072250"/>
                  </a:lnTo>
                  <a:lnTo>
                    <a:pt x="290262" y="7038574"/>
                  </a:lnTo>
                  <a:lnTo>
                    <a:pt x="262257" y="7003861"/>
                  </a:lnTo>
                  <a:lnTo>
                    <a:pt x="235483" y="6968142"/>
                  </a:lnTo>
                  <a:lnTo>
                    <a:pt x="209973" y="6931451"/>
                  </a:lnTo>
                  <a:lnTo>
                    <a:pt x="185758" y="6893819"/>
                  </a:lnTo>
                  <a:lnTo>
                    <a:pt x="162871" y="6855280"/>
                  </a:lnTo>
                  <a:lnTo>
                    <a:pt x="141345" y="6815864"/>
                  </a:lnTo>
                  <a:lnTo>
                    <a:pt x="121211" y="6775606"/>
                  </a:lnTo>
                  <a:lnTo>
                    <a:pt x="102503" y="6734536"/>
                  </a:lnTo>
                  <a:lnTo>
                    <a:pt x="85251" y="6692687"/>
                  </a:lnTo>
                  <a:lnTo>
                    <a:pt x="69490" y="6650092"/>
                  </a:lnTo>
                  <a:lnTo>
                    <a:pt x="55250" y="6606782"/>
                  </a:lnTo>
                  <a:lnTo>
                    <a:pt x="42565" y="6562791"/>
                  </a:lnTo>
                  <a:lnTo>
                    <a:pt x="31466" y="6518150"/>
                  </a:lnTo>
                  <a:lnTo>
                    <a:pt x="21986" y="6472892"/>
                  </a:lnTo>
                  <a:lnTo>
                    <a:pt x="14157" y="6427050"/>
                  </a:lnTo>
                  <a:lnTo>
                    <a:pt x="8011" y="6380654"/>
                  </a:lnTo>
                  <a:lnTo>
                    <a:pt x="3582" y="6333738"/>
                  </a:lnTo>
                  <a:lnTo>
                    <a:pt x="900" y="6286334"/>
                  </a:lnTo>
                  <a:lnTo>
                    <a:pt x="0" y="6238474"/>
                  </a:lnTo>
                  <a:lnTo>
                    <a:pt x="0" y="1247724"/>
                  </a:lnTo>
                  <a:close/>
                </a:path>
              </a:pathLst>
            </a:custGeom>
            <a:ln w="9524">
              <a:solidFill>
                <a:srgbClr val="1F497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5" dirty="0"/>
              <a:t>Team</a:t>
            </a:r>
            <a:r>
              <a:rPr spc="-60" dirty="0"/>
              <a:t> </a:t>
            </a:r>
            <a:r>
              <a:rPr dirty="0"/>
              <a:t>Name:</a:t>
            </a:r>
            <a:r>
              <a:rPr spc="-50" dirty="0"/>
              <a:t> </a:t>
            </a:r>
            <a:r>
              <a:rPr b="0" spc="-25" dirty="0">
                <a:latin typeface="Calibri"/>
                <a:cs typeface="Calibri"/>
              </a:rPr>
              <a:t>6DX</a:t>
            </a:r>
          </a:p>
          <a:p>
            <a:pPr marL="12700">
              <a:lnSpc>
                <a:spcPct val="100000"/>
              </a:lnSpc>
              <a:spcBef>
                <a:spcPts val="3719"/>
              </a:spcBef>
            </a:pPr>
            <a:r>
              <a:rPr dirty="0"/>
              <a:t>College</a:t>
            </a:r>
            <a:r>
              <a:rPr spc="-85" dirty="0"/>
              <a:t> </a:t>
            </a:r>
            <a:r>
              <a:rPr dirty="0"/>
              <a:t>Name:</a:t>
            </a:r>
            <a:r>
              <a:rPr spc="-70" dirty="0"/>
              <a:t> </a:t>
            </a:r>
            <a:r>
              <a:rPr b="0" dirty="0">
                <a:latin typeface="Calibri"/>
                <a:cs typeface="Calibri"/>
              </a:rPr>
              <a:t>St.</a:t>
            </a:r>
            <a:r>
              <a:rPr b="0" spc="-85" dirty="0">
                <a:latin typeface="Calibri"/>
                <a:cs typeface="Calibri"/>
              </a:rPr>
              <a:t> </a:t>
            </a:r>
            <a:r>
              <a:rPr b="0" spc="-20" dirty="0">
                <a:latin typeface="Calibri"/>
                <a:cs typeface="Calibri"/>
              </a:rPr>
              <a:t>Joseph’s</a:t>
            </a:r>
            <a:r>
              <a:rPr b="0" spc="-9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College</a:t>
            </a:r>
            <a:r>
              <a:rPr b="0" spc="-8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of</a:t>
            </a:r>
            <a:r>
              <a:rPr b="0" spc="-85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Engineering</a:t>
            </a:r>
          </a:p>
          <a:p>
            <a:pPr marL="12700">
              <a:lnSpc>
                <a:spcPct val="100000"/>
              </a:lnSpc>
              <a:spcBef>
                <a:spcPts val="3719"/>
              </a:spcBef>
            </a:pPr>
            <a:r>
              <a:rPr spc="-55" dirty="0"/>
              <a:t>Team</a:t>
            </a:r>
            <a:r>
              <a:rPr spc="-30" dirty="0"/>
              <a:t> </a:t>
            </a:r>
            <a:r>
              <a:rPr dirty="0"/>
              <a:t>Leader:</a:t>
            </a:r>
            <a:r>
              <a:rPr spc="-10" dirty="0"/>
              <a:t> </a:t>
            </a:r>
            <a:r>
              <a:rPr b="0" dirty="0">
                <a:latin typeface="Calibri"/>
                <a:cs typeface="Calibri"/>
              </a:rPr>
              <a:t>Saaivishrudh</a:t>
            </a:r>
            <a:r>
              <a:rPr b="0" spc="-3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S</a:t>
            </a:r>
            <a:r>
              <a:rPr b="0" spc="-30" dirty="0">
                <a:latin typeface="Calibri"/>
                <a:cs typeface="Calibri"/>
              </a:rPr>
              <a:t> </a:t>
            </a:r>
            <a:r>
              <a:rPr b="0" spc="-20" dirty="0">
                <a:latin typeface="Calibri"/>
                <a:cs typeface="Calibri"/>
              </a:rPr>
              <a:t>(</a:t>
            </a:r>
            <a:r>
              <a:rPr b="0" u="heavy" spc="-2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/>
              </a:rPr>
              <a:t>saaivishrudh.9626@gmail.com</a:t>
            </a:r>
            <a:r>
              <a:rPr b="0" spc="-20" dirty="0">
                <a:latin typeface="Calibri"/>
                <a:cs typeface="Calibri"/>
              </a:rPr>
              <a:t>,</a:t>
            </a:r>
            <a:r>
              <a:rPr b="0" spc="-3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+91</a:t>
            </a:r>
            <a:r>
              <a:rPr b="0" spc="-30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7550054748)</a:t>
            </a:r>
          </a:p>
          <a:p>
            <a:pPr marL="12700">
              <a:lnSpc>
                <a:spcPct val="100000"/>
              </a:lnSpc>
              <a:spcBef>
                <a:spcPts val="3719"/>
              </a:spcBef>
            </a:pPr>
            <a:r>
              <a:rPr spc="-55" dirty="0"/>
              <a:t>Team</a:t>
            </a:r>
            <a:r>
              <a:rPr spc="-100" dirty="0"/>
              <a:t> </a:t>
            </a:r>
            <a:r>
              <a:rPr spc="-10" dirty="0"/>
              <a:t>Members:</a:t>
            </a:r>
          </a:p>
          <a:p>
            <a:pPr marL="926465" indent="-527050">
              <a:lnSpc>
                <a:spcPct val="100000"/>
              </a:lnSpc>
              <a:spcBef>
                <a:spcPts val="3720"/>
              </a:spcBef>
              <a:buAutoNum type="arabicPeriod"/>
              <a:tabLst>
                <a:tab pos="926465" algn="l"/>
              </a:tabLst>
            </a:pPr>
            <a:r>
              <a:rPr b="0" dirty="0">
                <a:latin typeface="Calibri"/>
                <a:cs typeface="Calibri"/>
              </a:rPr>
              <a:t>Sujitvinu</a:t>
            </a:r>
            <a:r>
              <a:rPr b="0" spc="-4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RR</a:t>
            </a:r>
            <a:r>
              <a:rPr b="0" spc="-45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  <a:hlinkClick r:id="rId4"/>
              </a:rPr>
              <a:t>(sujitvinurr@gmail.com)</a:t>
            </a:r>
          </a:p>
          <a:p>
            <a:pPr marL="926465" indent="-527050">
              <a:lnSpc>
                <a:spcPct val="100000"/>
              </a:lnSpc>
              <a:buAutoNum type="arabicPeriod"/>
              <a:tabLst>
                <a:tab pos="926465" algn="l"/>
              </a:tabLst>
            </a:pPr>
            <a:r>
              <a:rPr b="0" dirty="0">
                <a:latin typeface="Calibri"/>
                <a:cs typeface="Calibri"/>
              </a:rPr>
              <a:t>Pooja</a:t>
            </a:r>
            <a:r>
              <a:rPr b="0" spc="-7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MM</a:t>
            </a:r>
            <a:r>
              <a:rPr b="0" spc="-65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  <a:hlinkClick r:id="rId5"/>
              </a:rPr>
              <a:t>(poojamm0613@gmail.com)</a:t>
            </a:r>
          </a:p>
          <a:p>
            <a:pPr marL="926465" indent="-527050">
              <a:lnSpc>
                <a:spcPct val="100000"/>
              </a:lnSpc>
              <a:buAutoNum type="arabicPeriod"/>
              <a:tabLst>
                <a:tab pos="926465" algn="l"/>
              </a:tabLst>
            </a:pPr>
            <a:r>
              <a:rPr b="0" dirty="0">
                <a:latin typeface="Calibri"/>
                <a:cs typeface="Calibri"/>
              </a:rPr>
              <a:t>Swetha</a:t>
            </a:r>
            <a:r>
              <a:rPr b="0" spc="-6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S</a:t>
            </a:r>
            <a:r>
              <a:rPr b="0" spc="-60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  <a:hlinkClick r:id="rId6"/>
              </a:rPr>
              <a:t>(swetha070222@gmail.com)</a:t>
            </a:r>
          </a:p>
          <a:p>
            <a:pPr marL="926465" indent="-527050">
              <a:lnSpc>
                <a:spcPct val="100000"/>
              </a:lnSpc>
              <a:buAutoNum type="arabicPeriod"/>
              <a:tabLst>
                <a:tab pos="926465" algn="l"/>
              </a:tabLst>
            </a:pPr>
            <a:r>
              <a:rPr b="0" dirty="0">
                <a:latin typeface="Calibri"/>
                <a:cs typeface="Calibri"/>
              </a:rPr>
              <a:t>Rupika</a:t>
            </a:r>
            <a:r>
              <a:rPr b="0" spc="-7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Sri</a:t>
            </a:r>
            <a:r>
              <a:rPr b="0" spc="-6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S</a:t>
            </a:r>
            <a:r>
              <a:rPr b="0" spc="-65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  <a:hlinkClick r:id="rId7"/>
              </a:rPr>
              <a:t>(rupikarupika86@gmail.com)</a:t>
            </a:r>
          </a:p>
          <a:p>
            <a:pPr marL="926465" indent="-527050">
              <a:lnSpc>
                <a:spcPct val="100000"/>
              </a:lnSpc>
              <a:buAutoNum type="arabicPeriod"/>
              <a:tabLst>
                <a:tab pos="926465" algn="l"/>
              </a:tabLst>
            </a:pPr>
            <a:r>
              <a:rPr b="0" spc="-10" dirty="0">
                <a:latin typeface="Calibri"/>
                <a:cs typeface="Calibri"/>
              </a:rPr>
              <a:t>Vedhaswaruban</a:t>
            </a:r>
            <a:r>
              <a:rPr b="0" spc="-8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S</a:t>
            </a:r>
            <a:r>
              <a:rPr b="0" spc="-85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  <a:hlinkClick r:id="rId8"/>
              </a:rPr>
              <a:t>(senthilruban06@gmail.com)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Custom</PresentationFormat>
  <Slides>10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PROBLEM STATEMENT</vt:lpstr>
      <vt:lpstr>PROPOSED SOLUTION</vt:lpstr>
      <vt:lpstr>KEY FEATURES</vt:lpstr>
      <vt:lpstr>ARCHITECTURE</vt:lpstr>
      <vt:lpstr>IMPACTS AND BENIFITS</vt:lpstr>
      <vt:lpstr>FUTURE SCOPE</vt:lpstr>
      <vt:lpstr>MONETIZATION</vt:lpstr>
      <vt:lpstr>. This is a basic simulation for checking the quality of air with the help of potentiometer(instead of MQ135 gas sensor)</vt:lpstr>
      <vt:lpstr>TEAM DESCRIPTION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Copy of Hackelite 26' PPT 6DX</dc:title>
  <cp:lastModifiedBy>rupika sri</cp:lastModifiedBy>
  <cp:revision>2</cp:revision>
  <dcterms:created xsi:type="dcterms:W3CDTF">2026-02-04T16:25:10Z</dcterms:created>
  <dcterms:modified xsi:type="dcterms:W3CDTF">2026-02-04T16:34:46Z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2026-02-04T00:00:00Z</vt:filetime>
  </property>
  <property fmtid="{D5CDD505-2E9C-101B-9397-08002B2CF9AE}" pid="3" name="Creator">
    <vt:lpwstr>Google</vt:lpwstr>
  </property>
  <property fmtid="{D5CDD505-2E9C-101B-9397-08002B2CF9AE}" pid="4" name="LastSaved">
    <vt:filetime>2026-02-04T00:00:00Z</vt:filetime>
  </property>
</Properties>
</file>